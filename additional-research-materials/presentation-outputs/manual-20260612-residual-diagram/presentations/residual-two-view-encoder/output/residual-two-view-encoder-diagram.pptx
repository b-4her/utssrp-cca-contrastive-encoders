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62b3f6c68a47a0" /><Relationship Type="http://schemas.openxmlformats.org/officeDocument/2006/relationships/extended-properties" Target="/docProps/app.xml" Id="R87c378312fe549ed" /><Relationship Type="http://schemas.openxmlformats.org/officeDocument/2006/relationships/officeDocument" Target="/ppt/presentation.xml" Id="R466f6cdabf7b49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4d032b331946b5"/>
  </p:sldMasterIdLst>
  <p:notesMasterIdLst>
    <p:notesMasterId xmlns:r="http://schemas.openxmlformats.org/officeDocument/2006/relationships" r:id="R084097d4a00140c8"/>
  </p:notesMasterIdLst>
  <p:sldIdLst>
    <p:sldId xmlns:r="http://schemas.openxmlformats.org/officeDocument/2006/relationships" id="256" r:id="R3aabdc2468cf421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fb1ed0eb674b5a" /><Relationship Type="http://schemas.openxmlformats.org/officeDocument/2006/relationships/slideMaster" Target="/ppt/slideMasters/slideMaster1.xml" Id="Rc64d032b331946b5" /><Relationship Type="http://schemas.openxmlformats.org/officeDocument/2006/relationships/notesMaster" Target="/ppt/notesMasters/notesMaster1.xml" Id="R084097d4a00140c8" /><Relationship Type="http://schemas.openxmlformats.org/officeDocument/2006/relationships/presProps" Target="/ppt/presProps.xml" Id="R2b5852f726c740ad" /><Relationship Type="http://schemas.openxmlformats.org/officeDocument/2006/relationships/viewProps" Target="/ppt/viewProps.xml" Id="R9b7c89cd401e47a0" /><Relationship Type="http://schemas.openxmlformats.org/officeDocument/2006/relationships/tableStyles" Target="/ppt/tableStyles.xml" Id="R40693a90f7994562" /><Relationship Type="http://schemas.openxmlformats.org/officeDocument/2006/relationships/slide" Target="/ppt/slides/slide1.xml" Id="R3aabdc2468cf42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d4799dbe6646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ef43b06d864356" /><Relationship Type="http://schemas.openxmlformats.org/officeDocument/2006/relationships/notesMaster" Target="/ppt/notesMasters/notesMaster1.xml" Id="Rb2cd0e33c23a46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71cf23469449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ee934808634460" /><Relationship Type="http://schemas.openxmlformats.org/officeDocument/2006/relationships/slideLayout" Target="/ppt/slideLayouts/slideLayout1.xml" Id="Rab1b3677ddbb42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1b3677ddbb42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9550afa940451a" /><Relationship Type="http://schemas.openxmlformats.org/officeDocument/2006/relationships/notesSlide" Target="/ppt/notesSlides/notesSlide1.xml" Id="Rdeddddec63914a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175978-3A41-4794-A94D-1230E5FE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09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F"/>
          </a:solidFill>
          <a:ln xmlns:a="http://schemas.openxmlformats.org/drawingml/2006/main" w="0">
            <a:solidFill>
              <a:srgbClr val="171A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C915D2-76A1-4366-B8B7-EBD6F30B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381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MODEL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3307B0-C814-4A18-965A-DD7DECB7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314450"/>
            <a:ext cx="1504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Residual</a:t>
            </a:r>
          </a:p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Nonlinear</a:t>
            </a:r>
          </a:p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Encoder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3D37A-BA10-4352-B50F-F359B729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86050"/>
            <a:ext cx="1162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A2B"/>
          </a:solidFill>
          <a:ln xmlns:a="http://schemas.openxmlformats.org/drawingml/2006/main" w="0">
            <a:solidFill>
              <a:srgbClr val="C59A2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D4B7FD-6EF3-4001-86EE-6CCE09FA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990850"/>
            <a:ext cx="14668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D3C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D3CA"/>
                </a:solidFill>
                <a:latin typeface="Aptos"/>
                <a:ea typeface="Aptos"/>
                <a:cs typeface="Aptos"/>
              </a:rPr>
              <a:t>TwoViewResidualModel wraps two independent copies, one for X and one for 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8AD2D5-576C-4555-9031-68442530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905375"/>
            <a:ext cx="1562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0ECE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0ECE3"/>
                </a:solidFill>
                <a:latin typeface="Aptos Mono"/>
                <a:ea typeface="Aptos Mono"/>
                <a:cs typeface="Aptos Mono"/>
              </a:rPr>
              <a:t>alpha = 0.1</a:t>
            </a:r>
          </a:p>
          <a:p xmlns:a="http://schemas.openxmlformats.org/drawingml/2006/main">
            <a:pPr algn="l">
              <a:defRPr sz="975" b="0">
                <a:solidFill>
                  <a:srgbClr val="F0ECE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0ECE3"/>
                </a:solidFill>
                <a:latin typeface="Aptos Mono"/>
                <a:ea typeface="Aptos Mono"/>
                <a:cs typeface="Aptos Mono"/>
              </a:rPr>
              <a:t>activation = GELU</a:t>
            </a:r>
          </a:p>
          <a:p xmlns:a="http://schemas.openxmlformats.org/drawingml/2006/main">
            <a:pPr algn="l">
              <a:defRPr sz="975" b="0">
                <a:solidFill>
                  <a:srgbClr val="F0ECE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0ECE3"/>
                </a:solidFill>
                <a:latin typeface="Aptos Mono"/>
                <a:ea typeface="Aptos Mono"/>
                <a:cs typeface="Aptos Mono"/>
              </a:rPr>
              <a:t>init: orthogonal G</a:t>
            </a:r>
          </a:p>
        </p:txBody>
      </p:sp>
      <p:sp>
        <p:nvSpPr>
          <p:cNvPr id="7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791BE9C-571B-4F16-AF8B-CFE74678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1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A2B"/>
          </a:solidFill>
          <a:ln xmlns:a="http://schemas.openxmlformats.org/drawingml/2006/main" w="0">
            <a:solidFill>
              <a:srgbClr val="C59A2B"/>
            </a:solidFill>
            <a:prstDash val="solid"/>
          </a:ln>
        </p:spPr>
      </p:sp>
      <p:sp>
        <p:nvSpPr>
          <p:cNvPr id="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8C03142-885F-4CEB-A6F3-D34177EC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57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6A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D6A62"/>
                </a:solidFill>
                <a:latin typeface="Aptos Mono"/>
                <a:ea typeface="Aptos Mono"/>
                <a:cs typeface="Aptos Mono"/>
              </a:rPr>
              <a:t>RESIDUAL TWO-VIEW ENCODER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C7F81E-8F04-452F-B41D-F1B50180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28650"/>
            <a:ext cx="8343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rPr>
              <a:t>A linear backbone carries the embedding; a scaled residual adds controlled nonlinearity.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C607C2-64A4-4B1D-8860-294A5C2E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466850"/>
            <a:ext cx="481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A1F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71A1F"/>
                </a:solidFill>
                <a:latin typeface="Aptos Mono"/>
                <a:ea typeface="Aptos Mono"/>
                <a:cs typeface="Aptos Mono"/>
              </a:rPr>
              <a:t>g(u) = G u + alpha * A1 sigma(A2 u + b)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043550-3930-4C38-87CC-CC7DE267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94310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A1F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71A1F"/>
                </a:solidFill>
                <a:latin typeface="Aptos Mono"/>
                <a:ea typeface="Aptos Mono"/>
                <a:cs typeface="Aptos Mono"/>
              </a:rPr>
              <a:t>One ResidualNonlinearEncoder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D8156E-293D-483A-BB32-A5F07639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228850"/>
            <a:ext cx="7867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3A7"/>
          </a:solidFill>
          <a:ln xmlns:a="http://schemas.openxmlformats.org/drawingml/2006/main" w="0">
            <a:solidFill>
              <a:srgbClr val="B8B3A7"/>
            </a:solidFill>
            <a:prstDash val="solid"/>
          </a:ln>
        </p:spPr>
      </p:sp>
      <p:sp>
        <p:nvSpPr>
          <p:cNvPr id="13" name="encoder-input-u">
            <a:extLst xmlns:a="http://schemas.openxmlformats.org/drawingml/2006/main">
              <a:ext uri="{FF2B5EF4-FFF2-40B4-BE49-F238E27FC236}">
                <a16:creationId xmlns:a16="http://schemas.microsoft.com/office/drawing/2014/main" id="{FF6DA936-B0BE-423D-8746-F96029DC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43200"/>
            <a:ext cx="685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3A7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A1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171A1F"/>
                </a:solidFill>
                <a:latin typeface="Aptos Mono"/>
                <a:ea typeface="Aptos Mono"/>
                <a:cs typeface="Aptos Mono"/>
              </a:rPr>
              <a:t>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D3E520-FCC1-4A20-966B-BF33F2C3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7660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D6A62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D6A62"/>
                </a:solidFill>
                <a:latin typeface="Aptos Mono"/>
                <a:ea typeface="Aptos Mono"/>
                <a:cs typeface="Aptos Mono"/>
              </a:rPr>
              <a:t>(batch, input_dim)</a:t>
            </a:r>
          </a:p>
        </p:txBody>
      </p:sp>
      <p:sp>
        <p:nvSpPr>
          <p:cNvPr id="15" name="linear-backbone">
            <a:extLst xmlns:a="http://schemas.openxmlformats.org/drawingml/2006/main">
              <a:ext uri="{FF2B5EF4-FFF2-40B4-BE49-F238E27FC236}">
                <a16:creationId xmlns:a16="http://schemas.microsoft.com/office/drawing/2014/main" id="{7A536BAA-1048-4269-9DE3-96F9CB4D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00300"/>
            <a:ext cx="1409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178C7A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8C7A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78C7A"/>
                </a:solidFill>
                <a:latin typeface="Aptos Mono"/>
                <a:ea typeface="Aptos Mono"/>
                <a:cs typeface="Aptos Mono"/>
              </a:rPr>
              <a:t>linear</a:t>
            </a:r>
          </a:p>
          <a:p xmlns:a="http://schemas.openxmlformats.org/drawingml/2006/main">
            <a:pPr algn="ctr">
              <a:defRPr sz="1350" b="1">
                <a:solidFill>
                  <a:srgbClr val="178C7A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78C7A"/>
                </a:solidFill>
                <a:latin typeface="Aptos Mono"/>
                <a:ea typeface="Aptos Mono"/>
                <a:cs typeface="Aptos Mono"/>
              </a:rPr>
              <a:t>G u</a:t>
            </a:r>
          </a:p>
        </p:txBody>
      </p:sp>
      <p:sp>
        <p:nvSpPr>
          <p:cNvPr id="16" name="residual-a2">
            <a:extLst xmlns:a="http://schemas.openxmlformats.org/drawingml/2006/main">
              <a:ext uri="{FF2B5EF4-FFF2-40B4-BE49-F238E27FC236}">
                <a16:creationId xmlns:a16="http://schemas.microsoft.com/office/drawing/2014/main" id="{FF9CCD8D-3D2C-4578-B0BD-568504D6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71850"/>
            <a:ext cx="1409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9E3"/>
          </a:solidFill>
          <a:ln xmlns:a="http://schemas.openxmlformats.org/drawingml/2006/main" w="9525">
            <a:solidFill>
              <a:srgbClr val="D85A3A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85A3A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D85A3A"/>
                </a:solidFill>
                <a:latin typeface="Aptos Mono"/>
                <a:ea typeface="Aptos Mono"/>
                <a:cs typeface="Aptos Mono"/>
              </a:rPr>
              <a:t>A2 u + b</a:t>
            </a:r>
          </a:p>
        </p:txBody>
      </p:sp>
      <p:sp>
        <p:nvSpPr>
          <p:cNvPr id="17" name="residual-activation">
            <a:extLst xmlns:a="http://schemas.openxmlformats.org/drawingml/2006/main">
              <a:ext uri="{FF2B5EF4-FFF2-40B4-BE49-F238E27FC236}">
                <a16:creationId xmlns:a16="http://schemas.microsoft.com/office/drawing/2014/main" id="{09A34C1F-36F0-4753-88B9-0CF3B123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7185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9E3"/>
          </a:solidFill>
          <a:ln xmlns:a="http://schemas.openxmlformats.org/drawingml/2006/main" w="9525">
            <a:solidFill>
              <a:srgbClr val="D85A3A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85A3A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D85A3A"/>
                </a:solidFill>
                <a:latin typeface="Aptos Mono"/>
                <a:ea typeface="Aptos Mono"/>
                <a:cs typeface="Aptos Mono"/>
              </a:rPr>
              <a:t>sigma(.)</a:t>
            </a:r>
          </a:p>
        </p:txBody>
      </p:sp>
      <p:sp>
        <p:nvSpPr>
          <p:cNvPr id="18" name="residual-a1">
            <a:extLst xmlns:a="http://schemas.openxmlformats.org/drawingml/2006/main">
              <a:ext uri="{FF2B5EF4-FFF2-40B4-BE49-F238E27FC236}">
                <a16:creationId xmlns:a16="http://schemas.microsoft.com/office/drawing/2014/main" id="{770C0430-2BF2-4F99-957B-1FB661D8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71850"/>
            <a:ext cx="876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9E3"/>
          </a:solidFill>
          <a:ln xmlns:a="http://schemas.openxmlformats.org/drawingml/2006/main" w="9525">
            <a:solidFill>
              <a:srgbClr val="D85A3A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85A3A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D85A3A"/>
                </a:solidFill>
                <a:latin typeface="Aptos Mono"/>
                <a:ea typeface="Aptos Mono"/>
                <a:cs typeface="Aptos Mono"/>
              </a:rPr>
              <a:t>A1</a:t>
            </a:r>
          </a:p>
        </p:txBody>
      </p:sp>
      <p:sp>
        <p:nvSpPr>
          <p:cNvPr id="19" name="residual-scale">
            <a:extLst xmlns:a="http://schemas.openxmlformats.org/drawingml/2006/main">
              <a:ext uri="{FF2B5EF4-FFF2-40B4-BE49-F238E27FC236}">
                <a16:creationId xmlns:a16="http://schemas.microsoft.com/office/drawing/2014/main" id="{4F9D2E95-5562-4157-9A38-3E5BF0B7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71850"/>
            <a:ext cx="914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1"/>
          </a:solidFill>
          <a:ln xmlns:a="http://schemas.openxmlformats.org/drawingml/2006/main" w="9525">
            <a:solidFill>
              <a:srgbClr val="C59A2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59A2B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C59A2B"/>
                </a:solidFill>
                <a:latin typeface="Aptos Mono"/>
                <a:ea typeface="Aptos Mono"/>
                <a:cs typeface="Aptos Mono"/>
              </a:rPr>
              <a:t>x alpha</a:t>
            </a:r>
          </a:p>
        </p:txBody>
      </p:sp>
      <p:sp>
        <p:nvSpPr>
          <p:cNvPr id="20" name="residual-sum">
            <a:extLst xmlns:a="http://schemas.openxmlformats.org/drawingml/2006/main">
              <a:ext uri="{FF2B5EF4-FFF2-40B4-BE49-F238E27FC236}">
                <a16:creationId xmlns:a16="http://schemas.microsoft.com/office/drawing/2014/main" id="{9C5EF217-C87C-49C7-A20B-C231982F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7655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A1F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1A1F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171A1F"/>
                </a:solidFill>
                <a:latin typeface="Aptos Mono"/>
                <a:ea typeface="Aptos Mono"/>
                <a:cs typeface="Aptos Mono"/>
              </a:rPr>
              <a:t>+</a:t>
            </a:r>
          </a:p>
        </p:txBody>
      </p:sp>
      <p:sp>
        <p:nvSpPr>
          <p:cNvPr id="21" name="encoder-output-gu">
            <a:extLst xmlns:a="http://schemas.openxmlformats.org/drawingml/2006/main">
              <a:ext uri="{FF2B5EF4-FFF2-40B4-BE49-F238E27FC236}">
                <a16:creationId xmlns:a16="http://schemas.microsoft.com/office/drawing/2014/main" id="{9DBD80A7-8361-4E7C-897C-0A662CA6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914650"/>
            <a:ext cx="781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EFF"/>
          </a:solidFill>
          <a:ln xmlns:a="http://schemas.openxmlformats.org/drawingml/2006/main" w="9525">
            <a:solidFill>
              <a:srgbClr val="4257D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257D6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4257D6"/>
                </a:solidFill>
                <a:latin typeface="Aptos Mono"/>
                <a:ea typeface="Aptos Mono"/>
                <a:cs typeface="Aptos Mono"/>
              </a:rPr>
              <a:t>g(u)</a:t>
            </a:r>
          </a:p>
        </p:txBody>
      </p:sp>
      <p:cxnSp>
        <p:nvCxnSpPr>
          <p:cNvPr id="22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3371850" y="2695575"/>
            <a:ext cx="800100" cy="27622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178C7A"/>
            </a:solidFill>
            <a:prstDash val="solid"/>
            <a:headEnd type="none" w="med" len="med"/>
          </a:ln>
        </p:spPr>
      </p:cxnSp>
      <p:cxnSp>
        <p:nvCxnSpPr>
          <p:cNvPr id="23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371850" y="2971800"/>
            <a:ext cx="800100" cy="638175"/>
          </a:xfrm>
          <a:prstGeom xmlns:a="http://schemas.openxmlformats.org/drawingml/2006/main" prst="bentConnector3">
            <a:avLst>
              <a:gd name="adj1" fmla="val 71429"/>
            </a:avLst>
          </a:prstGeom>
          <a:ln xmlns:a="http://schemas.openxmlformats.org/drawingml/2006/main" w="20003">
            <a:solidFill>
              <a:srgbClr val="D85A3A"/>
            </a:solidFill>
            <a:prstDash val="solid"/>
            <a:headEnd type="none" w="med" len="med"/>
          </a:ln>
        </p:spPr>
      </p:cxnSp>
      <p:cxnSp>
        <p:nvCxnSpPr>
          <p:cNvPr id="24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581650" y="36099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D85A3A"/>
            </a:solidFill>
            <a:prstDash val="solid"/>
            <a:headEnd type="none" w="med" len="med"/>
          </a:ln>
        </p:spPr>
      </p:cxnSp>
      <p:cxnSp>
        <p:nvCxnSpPr>
          <p:cNvPr id="25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124700" y="36099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D85A3A"/>
            </a:solidFill>
            <a:prstDash val="solid"/>
            <a:headEnd type="none" w="med" len="med"/>
          </a:ln>
        </p:spPr>
      </p:cxnSp>
      <p:cxnSp>
        <p:nvCxnSpPr>
          <p:cNvPr id="26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401050" y="36099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D85A3A"/>
            </a:solidFill>
            <a:prstDash val="solid"/>
            <a:headEnd type="none" w="med" len="med"/>
          </a:ln>
        </p:spPr>
      </p:cxnSp>
      <p:cxnSp>
        <p:nvCxnSpPr>
          <p:cNvPr id="27" name=""/>
          <p:cNvCxnSpPr>
            <a:stCxn xmlns:a="http://schemas.openxmlformats.org/drawingml/2006/main" id="15" idx="3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5581650" y="2647950"/>
            <a:ext cx="4552950" cy="228600"/>
          </a:xfrm>
          <a:prstGeom xmlns:a="http://schemas.openxmlformats.org/drawingml/2006/main" prst="bentConnector4">
            <a:avLst/>
          </a:prstGeom>
          <a:ln xmlns:a="http://schemas.openxmlformats.org/drawingml/2006/main" w="20003">
            <a:solidFill>
              <a:srgbClr val="178C7A"/>
            </a:solidFill>
            <a:prstDash val="solid"/>
            <a:headEnd type="none" w="med" len="med"/>
          </a:ln>
        </p:spPr>
      </p:cxnSp>
      <p:cxnSp>
        <p:nvCxnSpPr>
          <p:cNvPr id="28" name=""/>
          <p:cNvCxnSpPr>
            <a:stCxn xmlns:a="http://schemas.openxmlformats.org/drawingml/2006/main" id="19" idx="3"/>
            <a:endCxn xmlns:a="http://schemas.openxmlformats.org/drawingml/2006/main" id="20" idx="2"/>
          </p:cNvCxnSpPr>
          <p:nvPr/>
        </p:nvCxnSpPr>
        <p:spPr>
          <a:xfrm xmlns:a="http://schemas.openxmlformats.org/drawingml/2006/main" flipV="1">
            <a:off x="9658350" y="3409950"/>
            <a:ext cx="476250" cy="228600"/>
          </a:xfrm>
          <a:prstGeom xmlns:a="http://schemas.openxmlformats.org/drawingml/2006/main" prst="bentConnector4">
            <a:avLst/>
          </a:prstGeom>
          <a:ln xmlns:a="http://schemas.openxmlformats.org/drawingml/2006/main" w="20003">
            <a:solidFill>
              <a:srgbClr val="D85A3A"/>
            </a:solidFill>
            <a:prstDash val="solid"/>
            <a:headEnd type="none" w="med" len="med"/>
          </a:ln>
        </p:spPr>
      </p:cxnSp>
      <p:cxnSp>
        <p:nvCxnSpPr>
          <p:cNvPr id="29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10401300" y="31432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4257D6"/>
            </a:solidFill>
            <a:prstDash val="solid"/>
            <a:headEnd type="none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EB416F-3FE3-40D8-B7B0-E50B1E2E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4800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8C7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78C7A"/>
                </a:solidFill>
                <a:latin typeface="Aptos Mono"/>
                <a:ea typeface="Aptos Mono"/>
                <a:cs typeface="Aptos Mono"/>
              </a:rPr>
              <a:t>G: d x input_dim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AD6DA0-5EEB-4D74-995D-75500B3F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94335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85A3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85A3A"/>
                </a:solidFill>
                <a:latin typeface="Aptos Mono"/>
                <a:ea typeface="Aptos Mono"/>
                <a:cs typeface="Aptos Mono"/>
              </a:rPr>
              <a:t>A2: h x input_dim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C3F965-39C4-4127-93F9-B9994DAD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9433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85A3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85A3A"/>
                </a:solidFill>
                <a:latin typeface="Aptos Mono"/>
                <a:ea typeface="Aptos Mono"/>
                <a:cs typeface="Aptos Mono"/>
              </a:rPr>
              <a:t>A1: d x 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8E0F2B-BE57-41E4-959A-23FE6332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457575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257D6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4257D6"/>
                </a:solidFill>
                <a:latin typeface="Aptos Mono"/>
                <a:ea typeface="Aptos Mono"/>
                <a:cs typeface="Aptos Mono"/>
              </a:rPr>
              <a:t>(batch, d)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EB34FA-5F79-46FE-B69B-5E453075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57700"/>
            <a:ext cx="92773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3A7"/>
          </a:solidFill>
          <a:ln xmlns:a="http://schemas.openxmlformats.org/drawingml/2006/main" w="0">
            <a:solidFill>
              <a:srgbClr val="B8B3A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531380-B5F4-4A27-B734-5A1DC89B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667250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A1F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71A1F"/>
                </a:solidFill>
                <a:latin typeface="Aptos Mono"/>
                <a:ea typeface="Aptos Mono"/>
                <a:cs typeface="Aptos Mono"/>
              </a:rPr>
              <a:t>TwoViewResidualModel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242204-1E9E-4795-AE7E-EC4636CE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72050"/>
            <a:ext cx="6419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7E1D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8B3F69-5BAF-4D9C-8C3E-110443AD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08635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8C7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78C7A"/>
                </a:solidFill>
                <a:latin typeface="Aptos Mono"/>
                <a:ea typeface="Aptos Mono"/>
                <a:cs typeface="Aptos Mono"/>
              </a:rPr>
              <a:t>encoder_x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4D0527-B432-4672-ADB3-A46F19D0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295900"/>
            <a:ext cx="1333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6A62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6D6A62"/>
                </a:solidFill>
                <a:latin typeface="Aptos Mono"/>
                <a:ea typeface="Aptos Mono"/>
                <a:cs typeface="Aptos Mono"/>
              </a:rPr>
              <a:t>X: (batch, p)</a:t>
            </a:r>
          </a:p>
        </p:txBody>
      </p:sp>
      <p:sp>
        <p:nvSpPr>
          <p:cNvPr id="39" name="encoder_x-input">
            <a:extLst xmlns:a="http://schemas.openxmlformats.org/drawingml/2006/main">
              <a:ext uri="{FF2B5EF4-FFF2-40B4-BE49-F238E27FC236}">
                <a16:creationId xmlns:a16="http://schemas.microsoft.com/office/drawing/2014/main" id="{90E25AE6-4C64-4D55-BBDB-59FF5A5B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143500"/>
            <a:ext cx="87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3A7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A1F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71A1F"/>
                </a:solidFill>
                <a:latin typeface="Aptos Mono"/>
                <a:ea typeface="Aptos Mono"/>
                <a:cs typeface="Aptos Mono"/>
              </a:rPr>
              <a:t>X</a:t>
            </a:r>
          </a:p>
        </p:txBody>
      </p:sp>
      <p:sp>
        <p:nvSpPr>
          <p:cNvPr id="40" name="encoder_x-encoder">
            <a:extLst xmlns:a="http://schemas.openxmlformats.org/drawingml/2006/main">
              <a:ext uri="{FF2B5EF4-FFF2-40B4-BE49-F238E27FC236}">
                <a16:creationId xmlns:a16="http://schemas.microsoft.com/office/drawing/2014/main" id="{DDFDA8EE-A456-4471-8684-55B0B9B4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10540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178C7A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Residual encoder X</a:t>
            </a:r>
          </a:p>
        </p:txBody>
      </p:sp>
      <p:sp>
        <p:nvSpPr>
          <p:cNvPr id="41" name="encoder_x-output">
            <a:extLst xmlns:a="http://schemas.openxmlformats.org/drawingml/2006/main">
              <a:ext uri="{FF2B5EF4-FFF2-40B4-BE49-F238E27FC236}">
                <a16:creationId xmlns:a16="http://schemas.microsoft.com/office/drawing/2014/main" id="{2D7E0D6C-81A0-4A3C-B15D-C8F9D8D8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143500"/>
            <a:ext cx="87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EFF"/>
          </a:solidFill>
          <a:ln xmlns:a="http://schemas.openxmlformats.org/drawingml/2006/main" w="9525">
            <a:solidFill>
              <a:srgbClr val="4257D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257D6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4257D6"/>
                </a:solidFill>
                <a:latin typeface="Aptos Mono"/>
                <a:ea typeface="Aptos Mono"/>
                <a:cs typeface="Aptos Mono"/>
              </a:rPr>
              <a:t>z_x</a:t>
            </a:r>
          </a:p>
        </p:txBody>
      </p:sp>
      <p:cxnSp>
        <p:nvCxnSpPr>
          <p:cNvPr id="42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6096000" y="534352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8B3A7"/>
            </a:solidFill>
            <a:prstDash val="solid"/>
            <a:headEnd type="none" w="med" len="med"/>
          </a:ln>
        </p:spPr>
      </p:cxnSp>
      <p:cxnSp>
        <p:nvCxnSpPr>
          <p:cNvPr id="43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8210550" y="5343525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4257D6"/>
            </a:solidFill>
            <a:prstDash val="solid"/>
            <a:headEnd type="none" w="med" len="me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7691AAD-FB4F-41D8-923F-4C608B50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772150"/>
            <a:ext cx="6419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7E1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D5A5F68-24CD-470F-B16E-E68A2689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88645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5A3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85A3A"/>
                </a:solidFill>
                <a:latin typeface="Aptos Mono"/>
                <a:ea typeface="Aptos Mono"/>
                <a:cs typeface="Aptos Mono"/>
              </a:rPr>
              <a:t>encoder_y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19691A5-877E-414D-A9B0-DFBE660C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6096000"/>
            <a:ext cx="1333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6A62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6D6A62"/>
                </a:solidFill>
                <a:latin typeface="Aptos Mono"/>
                <a:ea typeface="Aptos Mono"/>
                <a:cs typeface="Aptos Mono"/>
              </a:rPr>
              <a:t>Y: (batch, q)</a:t>
            </a:r>
          </a:p>
        </p:txBody>
      </p:sp>
      <p:sp>
        <p:nvSpPr>
          <p:cNvPr id="47" name="encoder_y-input">
            <a:extLst xmlns:a="http://schemas.openxmlformats.org/drawingml/2006/main">
              <a:ext uri="{FF2B5EF4-FFF2-40B4-BE49-F238E27FC236}">
                <a16:creationId xmlns:a16="http://schemas.microsoft.com/office/drawing/2014/main" id="{D2D47B37-8BE5-4E06-A18B-85432C2B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943600"/>
            <a:ext cx="87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3A7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A1F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71A1F"/>
                </a:solidFill>
                <a:latin typeface="Aptos Mono"/>
                <a:ea typeface="Aptos Mono"/>
                <a:cs typeface="Aptos Mono"/>
              </a:rPr>
              <a:t>Y</a:t>
            </a:r>
          </a:p>
        </p:txBody>
      </p:sp>
      <p:sp>
        <p:nvSpPr>
          <p:cNvPr id="48" name="encoder_y-encoder">
            <a:extLst xmlns:a="http://schemas.openxmlformats.org/drawingml/2006/main">
              <a:ext uri="{FF2B5EF4-FFF2-40B4-BE49-F238E27FC236}">
                <a16:creationId xmlns:a16="http://schemas.microsoft.com/office/drawing/2014/main" id="{2655EA1C-1670-4438-8D92-1C285AEA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90550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9E3"/>
          </a:solidFill>
          <a:ln xmlns:a="http://schemas.openxmlformats.org/drawingml/2006/main" w="9525">
            <a:solidFill>
              <a:srgbClr val="D85A3A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Residual encoder Y</a:t>
            </a:r>
          </a:p>
        </p:txBody>
      </p:sp>
      <p:sp>
        <p:nvSpPr>
          <p:cNvPr id="49" name="encoder_y-output">
            <a:extLst xmlns:a="http://schemas.openxmlformats.org/drawingml/2006/main">
              <a:ext uri="{FF2B5EF4-FFF2-40B4-BE49-F238E27FC236}">
                <a16:creationId xmlns:a16="http://schemas.microsoft.com/office/drawing/2014/main" id="{98F24E75-695E-454F-B17B-D5694424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943600"/>
            <a:ext cx="87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EFF"/>
          </a:solidFill>
          <a:ln xmlns:a="http://schemas.openxmlformats.org/drawingml/2006/main" w="9525">
            <a:solidFill>
              <a:srgbClr val="4257D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257D6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4257D6"/>
                </a:solidFill>
                <a:latin typeface="Aptos Mono"/>
                <a:ea typeface="Aptos Mono"/>
                <a:cs typeface="Aptos Mono"/>
              </a:rPr>
              <a:t>z_y</a:t>
            </a:r>
          </a:p>
        </p:txBody>
      </p:sp>
      <p:cxnSp>
        <p:nvCxnSpPr>
          <p:cNvPr id="50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6096000" y="614362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8B3A7"/>
            </a:solidFill>
            <a:prstDash val="solid"/>
            <a:headEnd type="none" w="med" len="med"/>
          </a:ln>
        </p:spPr>
      </p:cxnSp>
      <p:cxnSp>
        <p:nvCxnSpPr>
          <p:cNvPr id="51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8210550" y="6143625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4257D6"/>
            </a:solidFill>
            <a:prstDash val="solid"/>
            <a:headEnd type="none" w="med" len="med"/>
          </a:ln>
        </p:spPr>
      </p:cxnSp>
      <p:sp>
        <p:nvSpPr>
          <p:cNvPr id="52" name="shared-embedding-space">
            <a:extLst xmlns:a="http://schemas.openxmlformats.org/drawingml/2006/main">
              <a:ext uri="{FF2B5EF4-FFF2-40B4-BE49-F238E27FC236}">
                <a16:creationId xmlns:a16="http://schemas.microsoft.com/office/drawing/2014/main" id="{767D08F1-4784-485A-94B0-964A3F4D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305425"/>
            <a:ext cx="1333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7D6"/>
          </a:solidFill>
          <a:ln xmlns:a="http://schemas.openxmlformats.org/drawingml/2006/main" w="9525">
            <a:solidFill>
              <a:srgbClr val="4257D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shared embedding_dim d</a:t>
            </a:r>
          </a:p>
        </p:txBody>
      </p:sp>
      <p:cxnSp>
        <p:nvCxnSpPr>
          <p:cNvPr id="53" name=""/>
          <p:cNvCxnSpPr>
            <a:stCxn xmlns:a="http://schemas.openxmlformats.org/drawingml/2006/main" id="4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9677400" y="5343525"/>
            <a:ext cx="323850" cy="476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4257D6"/>
            </a:solidFill>
            <a:prstDash val="solid"/>
            <a:headEnd type="none" w="med" len="med"/>
          </a:ln>
        </p:spPr>
      </p:cxnSp>
      <p:cxnSp>
        <p:nvCxnSpPr>
          <p:cNvPr id="54" name=""/>
          <p:cNvCxnSpPr>
            <a:stCxn xmlns:a="http://schemas.openxmlformats.org/drawingml/2006/main" id="49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 flipV="1">
            <a:off x="9677400" y="5819775"/>
            <a:ext cx="323850" cy="3238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4257D6"/>
            </a:solidFill>
            <a:prstDash val="solid"/>
            <a:headEnd type="none" w="med" len="med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91DED44-0B66-4667-AC71-15C62AA2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572250"/>
            <a:ext cx="7239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6A6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D6A62"/>
                </a:solidFill>
                <a:latin typeface="Aptos"/>
                <a:ea typeface="Aptos"/>
                <a:cs typeface="Aptos"/>
              </a:rPr>
              <a:t>Source: user-provided PyTorch classes. Output tensors z_x and z_y both have shape (batch, embedding_dim).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B8762B2-7141-4A05-B615-EC56755C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5320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D6A6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D6A62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663297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2026-06-12T18:56:54.0990000Z</dcterms:created>
  <dcterms:modified xsi:type="dcterms:W3CDTF">2026-06-12T18:56:54.0990000Z</dcterms:modified>
</coreProperties>
</file>