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e13f71e1ad4557" /><Relationship Type="http://schemas.openxmlformats.org/officeDocument/2006/relationships/extended-properties" Target="/docProps/app.xml" Id="Rdbd5eeda55464a50" /><Relationship Type="http://schemas.openxmlformats.org/officeDocument/2006/relationships/officeDocument" Target="/ppt/presentation.xml" Id="R91487b713c264d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73ca23b812496a"/>
  </p:sldMasterIdLst>
  <p:notesMasterIdLst>
    <p:notesMasterId xmlns:r="http://schemas.openxmlformats.org/officeDocument/2006/relationships" r:id="R79cd73a81a9b46fe"/>
  </p:notesMasterIdLst>
  <p:sldIdLst>
    <p:sldId xmlns:r="http://schemas.openxmlformats.org/officeDocument/2006/relationships" id="256" r:id="Rf426528c287241ed"/>
    <p:sldId xmlns:r="http://schemas.openxmlformats.org/officeDocument/2006/relationships" id="257" r:id="R42458a992a734f04"/>
    <p:sldId xmlns:r="http://schemas.openxmlformats.org/officeDocument/2006/relationships" id="258" r:id="Reeb7741268bd4dce"/>
    <p:sldId xmlns:r="http://schemas.openxmlformats.org/officeDocument/2006/relationships" id="259" r:id="R38daaba334374e4c"/>
    <p:sldId xmlns:r="http://schemas.openxmlformats.org/officeDocument/2006/relationships" id="260" r:id="R73f125b96ad4463b"/>
    <p:sldId xmlns:r="http://schemas.openxmlformats.org/officeDocument/2006/relationships" id="261" r:id="R9d770968a4fe4d84"/>
    <p:sldId xmlns:r="http://schemas.openxmlformats.org/officeDocument/2006/relationships" id="262" r:id="Ra8dec7355349413a"/>
    <p:sldId xmlns:r="http://schemas.openxmlformats.org/officeDocument/2006/relationships" id="263" r:id="R90214be2ae4944d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bff78cfc1a4d3c" /><Relationship Type="http://schemas.openxmlformats.org/officeDocument/2006/relationships/slideMaster" Target="/ppt/slideMasters/slideMaster1.xml" Id="Rfb73ca23b812496a" /><Relationship Type="http://schemas.openxmlformats.org/officeDocument/2006/relationships/notesMaster" Target="/ppt/notesMasters/notesMaster1.xml" Id="R79cd73a81a9b46fe" /><Relationship Type="http://schemas.openxmlformats.org/officeDocument/2006/relationships/presProps" Target="/ppt/presProps.xml" Id="R273339aa44dd4bb7" /><Relationship Type="http://schemas.openxmlformats.org/officeDocument/2006/relationships/tableStyles" Target="/ppt/tableStyles.xml" Id="R336ddf96c5904832" /><Relationship Type="http://schemas.openxmlformats.org/officeDocument/2006/relationships/slide" Target="/ppt/slides/slide1.xml" Id="Rf426528c287241ed" /><Relationship Type="http://schemas.openxmlformats.org/officeDocument/2006/relationships/slide" Target="/ppt/slides/slide2.xml" Id="R42458a992a734f04" /><Relationship Type="http://schemas.openxmlformats.org/officeDocument/2006/relationships/slide" Target="/ppt/slides/slide3.xml" Id="Reeb7741268bd4dce" /><Relationship Type="http://schemas.openxmlformats.org/officeDocument/2006/relationships/slide" Target="/ppt/slides/slide4.xml" Id="R38daaba334374e4c" /><Relationship Type="http://schemas.openxmlformats.org/officeDocument/2006/relationships/slide" Target="/ppt/slides/slide5.xml" Id="R73f125b96ad4463b" /><Relationship Type="http://schemas.openxmlformats.org/officeDocument/2006/relationships/slide" Target="/ppt/slides/slide6.xml" Id="R9d770968a4fe4d84" /><Relationship Type="http://schemas.openxmlformats.org/officeDocument/2006/relationships/slide" Target="/ppt/slides/slide7.xml" Id="Ra8dec7355349413a" /><Relationship Type="http://schemas.openxmlformats.org/officeDocument/2006/relationships/slide" Target="/ppt/slides/slide8.xml" Id="R90214be2ae4944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c6ab52546743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2ed27b105a4475" /><Relationship Type="http://schemas.openxmlformats.org/officeDocument/2006/relationships/notesMaster" Target="/ppt/notesMasters/notesMaster1.xml" Id="R6e91089f99354e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e072ef8bfa4345" /><Relationship Type="http://schemas.openxmlformats.org/officeDocument/2006/relationships/notesMaster" Target="/ppt/notesMasters/notesMaster1.xml" Id="R6a2df6686d3549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7ab4f448e540b5" /><Relationship Type="http://schemas.openxmlformats.org/officeDocument/2006/relationships/notesMaster" Target="/ppt/notesMasters/notesMaster1.xml" Id="R1e7c6ffc4f604c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99b21478ea4edc" /><Relationship Type="http://schemas.openxmlformats.org/officeDocument/2006/relationships/notesMaster" Target="/ppt/notesMasters/notesMaster1.xml" Id="Re8f621fa0d4c45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6cd8567d15478d" /><Relationship Type="http://schemas.openxmlformats.org/officeDocument/2006/relationships/notesMaster" Target="/ppt/notesMasters/notesMaster1.xml" Id="R5f7ff591c4f24a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011bd252464a2e" /><Relationship Type="http://schemas.openxmlformats.org/officeDocument/2006/relationships/notesMaster" Target="/ppt/notesMasters/notesMaster1.xml" Id="Rddaa6f5f461740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5e99f6b6034e0a" /><Relationship Type="http://schemas.openxmlformats.org/officeDocument/2006/relationships/notesMaster" Target="/ppt/notesMasters/notesMaster1.xml" Id="Rc18af311511649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0d53470b144f50" /><Relationship Type="http://schemas.openxmlformats.org/officeDocument/2006/relationships/notesMaster" Target="/ppt/notesMasters/notesMaster1.xml" Id="Rd0a1c2332fc347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7e9727882b49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f6a77811a740ef" /><Relationship Type="http://schemas.openxmlformats.org/officeDocument/2006/relationships/slideLayout" Target="/ppt/slideLayouts/slideLayout1.xml" Id="R1eb19059350940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b19059350940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44aa4ec034906" /><Relationship Type="http://schemas.openxmlformats.org/officeDocument/2006/relationships/notesSlide" Target="/ppt/notesSlides/notesSlide1.xml" Id="R568d77689a1d46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0a14001854f5d" /><Relationship Type="http://schemas.openxmlformats.org/officeDocument/2006/relationships/notesSlide" Target="/ppt/notesSlides/notesSlide2.xml" Id="R83dc2c3a82624b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01be7c5094043" /><Relationship Type="http://schemas.openxmlformats.org/officeDocument/2006/relationships/notesSlide" Target="/ppt/notesSlides/notesSlide3.xml" Id="R60645242d9e74f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3b677f51f4da5" /><Relationship Type="http://schemas.openxmlformats.org/officeDocument/2006/relationships/notesSlide" Target="/ppt/notesSlides/notesSlide4.xml" Id="Rc573dfae723341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dddbe898f4361" /><Relationship Type="http://schemas.openxmlformats.org/officeDocument/2006/relationships/notesSlide" Target="/ppt/notesSlides/notesSlide5.xml" Id="R63a6375b598e4d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406491b544178" /><Relationship Type="http://schemas.openxmlformats.org/officeDocument/2006/relationships/notesSlide" Target="/ppt/notesSlides/notesSlide6.xml" Id="R65ccb51c10264e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364ff2ad34b1d" /><Relationship Type="http://schemas.openxmlformats.org/officeDocument/2006/relationships/notesSlide" Target="/ppt/notesSlides/notesSlide7.xml" Id="Rfe9f5e913acf40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36cbc3b994843" /><Relationship Type="http://schemas.openxmlformats.org/officeDocument/2006/relationships/notesSlide" Target="/ppt/notesSlides/notesSlide8.xml" Id="Re119f4c2787140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D3EDAD-8066-4DDD-8FEF-34F2D42B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UPDATED STUDY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08530-ABFA-4C02-87F0-B82501DC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Normalized contrastive encoders for paired random views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ED033-29F1-4CF3-854D-FF1E0D9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Same paper loss for every model; architecture, alpha, and regularization are the controlled differences.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F38E6-9D93-465A-A2FB-9F4E68C7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47625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1BA21-E122-4137-A3A0-2C023E3E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Core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1314E-3C44-48CC-B3A4-68C8C973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00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Does the nonlinear correction recover real paired signal, or does it mostly add capacity to fit noise?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8AE67-BAB2-4FE5-96CA-72B3AD94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The current architecture normalizes branch outputs before alpha is applied, so alpha has a measurable meaning.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34E7E-7B12-46C5-95CD-ED79AAE4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C4BAC7-92E6-4185-8BAE-9C798F4A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9582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Raw-dot-product paper loss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70B769-B38B-4C62-8DC1-5A5F124B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00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Experiment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F164C7-B3B8-45A5-8B1A-673AA617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621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2"/>
          </a:solidFill>
          <a:ln xmlns:a="http://schemas.openxmlformats.org/drawingml/2006/main" w="10478">
            <a:solidFill>
              <a:srgbClr val="0F8B8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71E49-2689-4DF5-AC49-EF5DF786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5740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Synthetic paired data</a:t>
            </a:r>
          </a:p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X view + Y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14FCE6-B183-4886-9CEB-FB8FB52F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21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F"/>
          </a:solidFill>
          <a:ln xmlns:a="http://schemas.openxmlformats.org/drawingml/2006/main" w="10478">
            <a:solidFill>
              <a:srgbClr val="2F6F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258CAE-F94D-4BD3-A97C-2CA15B33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5740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Train encoders</a:t>
            </a:r>
          </a:p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with paper loss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12EE40-6589-4A66-8BA1-A90A7123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621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EA"/>
          </a:solidFill>
          <a:ln xmlns:a="http://schemas.openxmlformats.org/drawingml/2006/main" w="10478">
            <a:solidFill>
              <a:srgbClr val="2E8B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3205FC-B3F6-4B30-8315-58890377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5740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Evaluate held-out</a:t>
            </a:r>
          </a:p>
          <a:p xmlns:a="http://schemas.openxmlformats.org/drawingml/2006/main">
            <a:pPr algn="ctr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alignment + signal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7E4CA8-8EB4-4ACE-96AF-A60ACD0F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03145"/>
            <a:ext cx="76200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9E930-6ED1-45CC-AB9C-365DE628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03145"/>
            <a:ext cx="76200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124EA6-FBD9-4285-A594-7E7DA4D0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907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AD3D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AD3D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C3B847-8A7B-45A8-AFCB-D64CE588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907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AD3D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AD3D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159DB1-AE1B-4FE6-BD0E-BF31B40B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1638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7"/>
          </a:solidFill>
          <a:ln xmlns:a="http://schemas.openxmlformats.org/drawingml/2006/main" w="10478">
            <a:solidFill>
              <a:srgbClr val="B8424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B0ABDF-3384-4406-BEF5-F5764EC8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290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424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4242"/>
                </a:solidFill>
                <a:latin typeface="Aptos"/>
                <a:ea typeface="Aptos"/>
                <a:cs typeface="Aptos"/>
              </a:rPr>
              <a:t>Noise only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812922-3D5A-44CF-B20E-35900572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909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X and Y independent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716E07-704A-4247-AFEE-390EF614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76600"/>
            <a:ext cx="1638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10478">
            <a:solidFill>
              <a:srgbClr val="C777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264F4F-AEA8-42E4-93DD-BD35DBA5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290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77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77700"/>
                </a:solidFill>
                <a:latin typeface="Aptos"/>
                <a:ea typeface="Aptos"/>
                <a:cs typeface="Aptos"/>
              </a:rPr>
              <a:t>Linear signal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4AB3B2-E879-4B99-B231-018CD3A8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909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Z_y = Z_x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9D9ED0-5DD5-44C8-A4FA-25A2626F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76600"/>
            <a:ext cx="1638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BFF"/>
          </a:solidFill>
          <a:ln xmlns:a="http://schemas.openxmlformats.org/drawingml/2006/main" w="10478">
            <a:solidFill>
              <a:srgbClr val="6D5B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9480E8-9D94-4B2A-9E6E-C2CF97AA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290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Quadratic signal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D88765-5341-469C-9E2E-1008DCCE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909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Z_y = std(Z_x^2)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76AD67-A8FC-4264-96E8-1943DDE7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657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795"/>
                </a:solidFill>
                <a:latin typeface="Aptos"/>
                <a:ea typeface="Aptos"/>
                <a:cs typeface="Aptos"/>
              </a:rPr>
              <a:t>contrastive_encoders / encoder-comparison.ipynb</a:t>
            </a:r>
          </a:p>
        </p:txBody>
      </p:sp>
    </p:spTree>
    <p:extLst>
      <p:ext uri="{BB962C8B-B14F-4D97-AF65-F5344CB8AC3E}">
        <p14:creationId xmlns:p14="http://schemas.microsoft.com/office/powerpoint/2010/main" val="16950244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10ACBA-ABF9-4A9E-AE28-A0E22B99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CURRENT NETWORK SIZE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3C784-00E6-4EE1-9565-F6F8829B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Current nonlinear branch: 128 -&gt; 16 -&gt;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422AE-C6B4-4135-828C-9A71EDB9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The hidden layer is now fixed at 16 for all nonlinear models, so alpha is easier to interpret.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2CA87-BD23-45D4-8D33-5D3347C9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1112520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B498D-369A-40DE-A503-0D4042D0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One view encoder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7ABE4-0F29-470E-94DD-02333454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Input u has 128 features. The encoder returns a 4-dimensional embedding.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A9985-7113-474D-B9E0-8D7CDD73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1104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37D39-1B42-4F42-9475-55BC9682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914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input</a:t>
            </a:r>
          </a:p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u</a:t>
            </a:r>
          </a:p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128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AA711-3BE9-4F24-961D-53D4304D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86100"/>
            <a:ext cx="142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10478">
            <a:solidFill>
              <a:srgbClr val="C777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A16C9-0E81-4495-97FE-B263DFDF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81350"/>
            <a:ext cx="123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A2</a:t>
            </a:r>
          </a:p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128 -&gt; 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D67A3-1DF2-46A8-9C92-DF56C0FB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86100"/>
            <a:ext cx="142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2"/>
          </a:solidFill>
          <a:ln xmlns:a="http://schemas.openxmlformats.org/drawingml/2006/main" w="10478">
            <a:solidFill>
              <a:srgbClr val="0F8B8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AFB9A-03C3-497A-A41F-8F360BC8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81350"/>
            <a:ext cx="123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GELU</a:t>
            </a:r>
          </a:p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activation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0FF00C-1683-4B55-86B9-8B1C7BBE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86100"/>
            <a:ext cx="142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10478">
            <a:solidFill>
              <a:srgbClr val="C777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CB9C5B-B904-440C-89DC-5196280D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81350"/>
            <a:ext cx="123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A1</a:t>
            </a:r>
          </a:p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16 -&gt; 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0F971-F0BB-4FBF-A71A-95A8310D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86100"/>
            <a:ext cx="1257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BFF"/>
          </a:solidFill>
          <a:ln xmlns:a="http://schemas.openxmlformats.org/drawingml/2006/main" w="10478">
            <a:solidFill>
              <a:srgbClr val="6D5B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F698DB-4C9E-495B-836E-590C54A9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81350"/>
            <a:ext cx="1066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correction</a:t>
            </a:r>
          </a:p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FC251-EA71-489E-8B34-DFBD4370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22345"/>
            <a:ext cx="5905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96A09C-6CFF-40C9-AA90-D6B5CE01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22345"/>
            <a:ext cx="8191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E65EDE-0264-4A0E-9153-9697D81A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22345"/>
            <a:ext cx="8191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DF43DC-A520-4ABB-AE65-B841E5DF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22345"/>
            <a:ext cx="8191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5BF2B5-0156-44FD-8693-A18C7411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099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AD3D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AD3D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0B7E65-259D-4DEC-9223-5FE278FE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099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AD3D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AD3D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A4F638-242B-491F-BD92-7F1589D3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099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AD3D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AD3D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B8AEA4-9E95-4335-B213-48693293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099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AD3D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AD3D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AE5C20-5D14-4163-9DF8-93C8947A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95800"/>
            <a:ext cx="676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2D1DF9-97A1-43A5-87D9-436FAC11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57725"/>
            <a:ext cx="641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nonlinear branch = A1 GELU(A2 u + b)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B9DE00-F40D-4191-8527-379A1CAF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5780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Then this 4-dimensional correction is normalized, scaled by alpha, and added to the normalized linear branch.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E0FCE6-0636-4F3C-A04C-4E7787EF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3181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F"/>
          </a:solidFill>
          <a:ln xmlns:a="http://schemas.openxmlformats.org/drawingml/2006/main" w="10478">
            <a:solidFill>
              <a:srgbClr val="2F6F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E2F966-B179-42D5-8041-2D25DDBA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1980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Linear branch: G maps 128 -&gt; 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AF96CC-4536-4C42-AB68-CAE52377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055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2"/>
          </a:solidFill>
          <a:ln xmlns:a="http://schemas.openxmlformats.org/drawingml/2006/main" w="10478">
            <a:solidFill>
              <a:srgbClr val="0F8B8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91792A-4568-4818-8F13-ADE2CCB7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019800"/>
            <a:ext cx="3771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B8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F8B8D"/>
                </a:solidFill>
                <a:latin typeface="Aptos Mono"/>
                <a:ea typeface="Aptos Mono"/>
                <a:cs typeface="Aptos Mono"/>
              </a:rPr>
              <a:t>Normalization: BatchNorm1d(4, affine=False)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68189E-B03C-4CD6-82DC-083917BC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90550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BFF"/>
          </a:solidFill>
          <a:ln xmlns:a="http://schemas.openxmlformats.org/drawingml/2006/main" w="10478">
            <a:solidFill>
              <a:srgbClr val="6D5B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6DB187-0419-4BCB-8FA6-5BE99596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019800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Final embedding dimension: 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0A4FBB-AD9E-475E-8C55-0BB7C234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657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795"/>
                </a:solidFill>
                <a:latin typeface="Aptos"/>
                <a:ea typeface="Aptos"/>
                <a:cs typeface="Aptos"/>
              </a:rPr>
              <a:t>contrastive_encoders / encoder-comparison.ipynb</a:t>
            </a:r>
          </a:p>
        </p:txBody>
      </p:sp>
    </p:spTree>
    <p:extLst>
      <p:ext uri="{BB962C8B-B14F-4D97-AF65-F5344CB8AC3E}">
        <p14:creationId xmlns:p14="http://schemas.microsoft.com/office/powerpoint/2010/main" val="18036540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74A415-A9FD-45B1-B01D-733BF720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ARCHITECTURE FORMULAS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F4F8B-C711-4E63-AB3B-D0B6CE19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Pure linear versus residual nonlinear encoder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EB9E1-8E17-444E-8E0F-8F2D17AE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Normalization is applied to branch outputs, not to the learned weights.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C6FB4-162F-4638-B43F-216A1B0C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49339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079EB-7ED9-46CC-B253-A2C52DCE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467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561E8-1335-405A-B29A-4E8AC3B7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B1494-A175-4E92-BD27-C6784268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76425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Pure linear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EF36A-6A19-4E48-AC82-FAE40A4C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4476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93206-98DF-4BF9-ADFD-E2604EE7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28875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g(u) = Norm(G u)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3DEDF-BE2F-4051-8B38-67002CE6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052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9870A-D149-4469-9D2C-22621BF5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004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u</a:t>
            </a:r>
          </a:p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128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4AC26A-D7F0-42D3-8352-F0387F39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505200"/>
            <a:ext cx="99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F"/>
          </a:solidFill>
          <a:ln xmlns:a="http://schemas.openxmlformats.org/drawingml/2006/main" w="10478">
            <a:solidFill>
              <a:srgbClr val="2F6F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0E36AE-D050-4C9B-BB5A-65907CB6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0045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G u</a:t>
            </a:r>
          </a:p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E945D-4C26-4A9C-AED6-23FE32F4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05200"/>
            <a:ext cx="99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2"/>
          </a:solidFill>
          <a:ln xmlns:a="http://schemas.openxmlformats.org/drawingml/2006/main" w="10478">
            <a:solidFill>
              <a:srgbClr val="0F8B8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8A1428-1440-45AE-BBFA-858FD1A8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00450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183D62-2503-40BD-8CA3-239A3BEA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50945"/>
            <a:ext cx="53340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AC77BA-5762-49F5-930E-A5797361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50945"/>
            <a:ext cx="5143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CDB1D0-3560-46C2-9C6E-5D33E164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Output scale is controlled before the raw dot product loss sees 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49AFD-E551-47DA-9F4B-0650AED4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342510-03B8-403A-9110-D02F87DC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7642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MLP nonlinear residual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8BFF96-02C8-4D66-9A8B-4FA5165F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66950"/>
            <a:ext cx="5010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919900-57C3-49DA-B11B-AE1AFB2B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28875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g(u) = Norm(G u) + alpha * Norm(A1 GELU(A2 u + b))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22FB3A-2F6A-46AE-AC89-6C233A30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685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15C7C5-3691-47BE-A7AC-39D31217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u</a:t>
            </a:r>
          </a:p>
          <a:p xmlns:a="http://schemas.openxmlformats.org/drawingml/2006/main">
            <a:pPr algn="ctr">
              <a:defRPr sz="90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128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860894-FFCD-4F76-BCCF-BB257482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76600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F"/>
          </a:solidFill>
          <a:ln xmlns:a="http://schemas.openxmlformats.org/drawingml/2006/main" w="10478">
            <a:solidFill>
              <a:srgbClr val="2F6F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086DB1-0064-40E5-B4B4-641DB1A6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718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G u</a:t>
            </a:r>
          </a:p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0A1D89-63D9-4AC4-B271-FAC603C3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7660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2"/>
          </a:solidFill>
          <a:ln xmlns:a="http://schemas.openxmlformats.org/drawingml/2006/main" w="10478">
            <a:solidFill>
              <a:srgbClr val="0F8B8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284142-67B3-4F64-A93B-B9453748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718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Norm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80A650-6B5F-4752-AE40-02D53A66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2481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10478">
            <a:solidFill>
              <a:srgbClr val="C777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510460-41B0-4B3F-AE9B-4E68F2B0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3434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A2 -&gt; GELU -&gt; A1</a:t>
            </a:r>
          </a:p>
          <a:p xmlns:a="http://schemas.openxmlformats.org/drawingml/2006/main">
            <a:pPr algn="ctr">
              <a:defRPr sz="90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128 -&gt; 16 -&gt; 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D2FC8D-7641-4090-9569-566A889B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248150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2"/>
          </a:solidFill>
          <a:ln xmlns:a="http://schemas.openxmlformats.org/drawingml/2006/main" w="10478">
            <a:solidFill>
              <a:srgbClr val="0F8B8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5C4B89-0684-4AC5-9A96-1C9A689D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434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Norm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C1FC6A-F573-4277-BE08-824077DC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248150"/>
            <a:ext cx="742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BFF"/>
          </a:solidFill>
          <a:ln xmlns:a="http://schemas.openxmlformats.org/drawingml/2006/main" w="10478">
            <a:solidFill>
              <a:srgbClr val="6D5B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931291-649C-4073-BFAD-14358F66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3434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alpha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17AB46-CB18-45ED-BB64-9908553D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5814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1B3877-12EA-4055-A925-21C7A44D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55720"/>
            <a:ext cx="2095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DEFD1B-0783-4310-A248-CA680A12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514725"/>
            <a:ext cx="2286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417B1C-17DA-4C5C-BB49-9651B0A6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3295"/>
            <a:ext cx="2095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76A445-42B2-4763-8575-B3925F5B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03295"/>
            <a:ext cx="4000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B686D4-C0CF-4D25-A0BE-C41AD5E1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55720"/>
            <a:ext cx="11430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2A7CA7-4CA8-4690-96AA-2FD82BE6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3867150"/>
            <a:ext cx="2286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E563BB-5BD9-48EB-9FC0-4E9E54F9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93895"/>
            <a:ext cx="11430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C54719-ACF6-4449-B1F5-DAAAFE94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93895"/>
            <a:ext cx="34290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1A578E-46D7-4A71-848E-5DDB663B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493895"/>
            <a:ext cx="3619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6CFD0F-D976-4EF2-9CCF-8021E364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03295"/>
            <a:ext cx="21907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F8CC69-63FC-4412-9D89-E289B3B0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245" y="3514725"/>
            <a:ext cx="2286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224679-4F7E-4919-9D3C-43959E32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722370"/>
            <a:ext cx="21907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1F033C2-D5C8-46B8-9BAB-54ECF67C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4493895"/>
            <a:ext cx="39052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AC6A8C3-E8A9-4884-A19B-75875DAD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0895" y="3790950"/>
            <a:ext cx="2286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33BBD10-3FB5-4C4F-A7F5-B6F427B7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779520"/>
            <a:ext cx="39052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F9E7C19-4349-4F7D-8603-416821B5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9585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B8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0F8B8D"/>
                </a:solidFill>
                <a:latin typeface="Aptos Mono"/>
                <a:ea typeface="Aptos Mono"/>
                <a:cs typeface="Aptos Mono"/>
              </a:rPr>
              <a:t>BatchNorm1d(4, affine=False)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02DBD2-29DF-4423-B625-FD6736B2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3870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No trainable scale inside normalization, so alpha is harder to secretly undo.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4F18BD0-3DE8-47A9-9331-DD45DE29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657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795"/>
                </a:solidFill>
                <a:latin typeface="Aptos"/>
                <a:ea typeface="Aptos"/>
                <a:cs typeface="Aptos"/>
              </a:rPr>
              <a:t>contrastive_encoders / encoder-comparison.ipynb</a:t>
            </a:r>
          </a:p>
        </p:txBody>
      </p:sp>
    </p:spTree>
    <p:extLst>
      <p:ext uri="{BB962C8B-B14F-4D97-AF65-F5344CB8AC3E}">
        <p14:creationId xmlns:p14="http://schemas.microsoft.com/office/powerpoint/2010/main" val="6037479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98B407-153C-433F-BD0F-B04788CB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REGULARIZATION OPTIONS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2DC3E-F97B-47D3-9764-26EBC1CF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Three ways to control the nonlinear branch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8ADBA-607E-4AEF-8D78-34BC1C8D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Weight penalties control parameters; the output penalty controls the actual correction added to the embedding.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C55B9-A6A1-4709-916C-6C19D2E0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16AB2-3B1A-4D11-95B2-623C5D66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Training objective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0EA8E-43C8-49BF-8F24-6C9C9E96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764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paper_loss(z_x, z_y) + L1 + L2 + nonlinear_output_penalty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3241D-089C-465D-8DD3-2BAF2E0E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1125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A8897-7AE1-4339-BE14-5F7C09C7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14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F1A5E2-BFA5-4288-97D1-FC0B73FA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L1 penalty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72917-579F-4E94-86EF-6756BB03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432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lambda * sum(abs(weights))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0FA86-5082-445A-B9A0-D9B4405F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95575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Encourages sparsity. In the current nonlinear model grid, L1 is mainly applied to A2, the input-facing layer.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EC955-3DD9-4CE3-8077-9CDDC2C9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0450"/>
            <a:ext cx="11125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F15C0-8195-48EE-A6FA-3FC42C7A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0450"/>
            <a:ext cx="114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0672F8-483F-4C4F-A6D3-54414469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77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77700"/>
                </a:solidFill>
                <a:latin typeface="Aptos"/>
                <a:ea typeface="Aptos"/>
                <a:cs typeface="Aptos"/>
              </a:rPr>
              <a:t>L2 penalty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271F5C-72E0-4501-9BBB-263FEE0E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71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lambda * sum(weights^2)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4CBCE2-2E8D-4C9F-9AE8-70A94CC2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24275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Encourages smaller weights smoothly. The new L2-regularized nonlinear model shrinks A1 and A2.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DE0338-8890-4123-A08A-AE1B5E7A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11125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D55020-CEDD-451A-BE56-11C16232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114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4A884B-B725-4496-9014-51BB9150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Output penalty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308E4F-D7F8-4067-B692-8A8E0CC1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006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lambda * mean(||correction||^2)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6AB582-06A6-4380-B42D-12BAE1B6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52975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Directly limits the actual nonlinear correction output. This keeps the nonlinear branch small unless it is really needed by the loss.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377164-E131-40BC-95EE-E1242C46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BFF"/>
          </a:solidFill>
          <a:ln xmlns:a="http://schemas.openxmlformats.org/drawingml/2006/main" w="10478">
            <a:solidFill>
              <a:srgbClr val="6D5B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F9E842-FC0F-4757-A1DB-587A4271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Key idea: with normalized branches, shrinking weights alone may not perfectly control branch output. The output penalty acts on the correction itself.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1BDF3A-D0CA-4291-B2B4-D7FBCDBA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657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795"/>
                </a:solidFill>
                <a:latin typeface="Aptos"/>
                <a:ea typeface="Aptos"/>
                <a:cs typeface="Aptos"/>
              </a:rPr>
              <a:t>contrastive_encoders / encoder-comparison.ipynb</a:t>
            </a:r>
          </a:p>
        </p:txBody>
      </p:sp>
    </p:spTree>
    <p:extLst>
      <p:ext uri="{BB962C8B-B14F-4D97-AF65-F5344CB8AC3E}">
        <p14:creationId xmlns:p14="http://schemas.microsoft.com/office/powerpoint/2010/main" val="9985318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E4F5B7-D826-416D-9C10-FFAE55E0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EXPERIMENT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5DD67-BC9C-4F92-ABFA-710BE9C8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Three settings: noise, linear signal, quadratic signal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655D8-8E2F-4C36-A2C2-88F0DBEF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X and Y are different views with their own latent variables, closer to the caption/image intuition.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FF29B-D3E1-492E-8059-E4A2F60F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33528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8A155-7D4D-4248-95CB-1AEE35BE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3352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0B618-8ADD-4BB8-877C-FACE887D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424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4242"/>
                </a:solidFill>
                <a:latin typeface="Aptos"/>
                <a:ea typeface="Aptos"/>
                <a:cs typeface="Aptos"/>
              </a:rPr>
              <a:t>Noise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5CB3A-3137-41F7-9293-FFDE6D63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990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7"/>
          </a:solidFill>
          <a:ln xmlns:a="http://schemas.openxmlformats.org/drawingml/2006/main" w="10478">
            <a:solidFill>
              <a:srgbClr val="B842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0EA89-68BF-44DA-BF3A-CAE7639D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622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Z_x: none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2CDA9-E8D0-4169-86F7-069F4BD8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67000"/>
            <a:ext cx="990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7"/>
          </a:solidFill>
          <a:ln xmlns:a="http://schemas.openxmlformats.org/drawingml/2006/main" w="10478">
            <a:solidFill>
              <a:srgbClr val="B842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48DF3-10A7-4F8D-BA62-97D501AC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622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Z_y: none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0E68E-8377-4AD4-96A0-3BA2E3C2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22270"/>
            <a:ext cx="4762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CCE78-DCE7-4B2B-9D80-B6008A73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33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latent relation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CC500-D6FC-4DEB-8148-7A49E072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C6B0BF-9CB0-46BF-A4EF-06A89B9F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X = signal(Z_x)</a:t>
            </a:r>
          </a:p>
          <a:p xmlns:a="http://schemas.openxmlformats.org/drawingml/2006/main">
            <a:pPr algn="ctr">
              <a:def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+ noise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F1CD15-EC18-4739-8AA5-3E0DC654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9095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59D8B1-FA1D-4825-8E56-E75815D8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8620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Y = signal(Z_y)</a:t>
            </a:r>
          </a:p>
          <a:p xmlns:a="http://schemas.openxmlformats.org/drawingml/2006/main">
            <a:pPr algn="ctr">
              <a:def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+ noise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DFB90F-2FDE-4904-9AFD-2C5A7547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No true pair structure should generalize.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DCD081-3074-4CC3-960F-AE8F26CB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52600"/>
            <a:ext cx="33528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A3D6FD-DC48-4F88-B708-87EA89F5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52600"/>
            <a:ext cx="3352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0F7060-8208-458A-B2A5-AFA0D4E2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812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77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7700"/>
                </a:solidFill>
                <a:latin typeface="Aptos"/>
                <a:ea typeface="Aptos"/>
                <a:cs typeface="Aptos"/>
              </a:rPr>
              <a:t>Linear signal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8EB4EB-6179-4874-910D-73EBC7F3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67000"/>
            <a:ext cx="990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10478">
            <a:solidFill>
              <a:srgbClr val="C777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BA65BE-D441-4B2F-ACD8-FD34DF4A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Z_x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7779D7-C2CB-4674-B1FE-12E6738B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67000"/>
            <a:ext cx="990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10478">
            <a:solidFill>
              <a:srgbClr val="C777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917663-B1D8-45CA-B744-52469DF3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622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Z_y = Z_x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32549E-4DAF-442B-B3E2-4175CCE3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22270"/>
            <a:ext cx="4762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3DFB65-6F25-4EC4-9237-695C4183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33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latent relation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A60F17-8B5F-4F86-9ABE-ABE959D8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9095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C64B73-339F-44A0-A756-13A2090E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8620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X = signal(Z_x)</a:t>
            </a:r>
          </a:p>
          <a:p xmlns:a="http://schemas.openxmlformats.org/drawingml/2006/main">
            <a:pPr algn="ctr">
              <a:def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+ noise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CF06DC-E99E-4851-A9EE-8D18B9AE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A2F7E8-A810-4A0E-BF5C-FA096F3F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Y = signal(Z_y)</a:t>
            </a:r>
          </a:p>
          <a:p xmlns:a="http://schemas.openxmlformats.org/drawingml/2006/main">
            <a:pPr algn="ctr">
              <a:def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+ noise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09A26C-0154-41D5-9D69-0527F542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5148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Linear encoders should have a fair path to recover the signal.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E80818-E730-4831-A357-3A53D4FA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52600"/>
            <a:ext cx="33528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2CF34C-FB11-48DD-A923-31E052DE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52600"/>
            <a:ext cx="3352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02C93E-A679-4D91-B616-1BD723FE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812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Quadratic signal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BBE2A2-D847-48E6-88A9-41CC1DF3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990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BFF"/>
          </a:solidFill>
          <a:ln xmlns:a="http://schemas.openxmlformats.org/drawingml/2006/main" w="10478">
            <a:solidFill>
              <a:srgbClr val="6D5BD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2DAC75-74DE-4931-B6ED-CB210D47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Z_x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0A8C6A-C73E-498D-AE14-B4029E60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67000"/>
            <a:ext cx="990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BFF"/>
          </a:solidFill>
          <a:ln xmlns:a="http://schemas.openxmlformats.org/drawingml/2006/main" w="10478">
            <a:solidFill>
              <a:srgbClr val="6D5BD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B83AF6-A4FB-4D59-8A8E-DDE3A08F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7622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Z_y = std(Z_x^2)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0D36B4-C11C-44C9-AB13-8E78C35F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22270"/>
            <a:ext cx="4762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66C7C2-8407-4A5F-AFAF-831D03BC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33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latent relation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A5D8D9-A07B-47CF-821E-A89814B8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9095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374862-2CE3-4D1E-A95A-590F3725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8620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X = signal(Z_x)</a:t>
            </a:r>
          </a:p>
          <a:p xmlns:a="http://schemas.openxmlformats.org/drawingml/2006/main">
            <a:pPr algn="ctr">
              <a:def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+ noise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C3C719-B53C-4697-82B6-BC2E5364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790950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829765-4970-40A7-8E11-81D14811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88620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Y = signal(Z_y)</a:t>
            </a:r>
          </a:p>
          <a:p xmlns:a="http://schemas.openxmlformats.org/drawingml/2006/main">
            <a:pPr algn="ctr">
              <a:def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+ noise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7E5C4C-DEDF-4808-A1D2-01DC65D1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148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 nonlinear branch may help when the paired relation is curved.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7D39B4-73E7-44C3-BF95-D80355A7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864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Each model is trained on the same paper contrastive objective in each setting.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AFEDC0A-5B0F-4813-ACCC-5DAC686A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The held-out metrics decide whether a learned alignment survives beyond the training pairs.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2FBAFF-7300-4D9E-A9CC-1C75D200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657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795"/>
                </a:solidFill>
                <a:latin typeface="Aptos"/>
                <a:ea typeface="Aptos"/>
                <a:cs typeface="Aptos"/>
              </a:rPr>
              <a:t>contrastive_encoders / encoder-comparison.ipynb</a:t>
            </a:r>
          </a:p>
        </p:txBody>
      </p:sp>
    </p:spTree>
    <p:extLst>
      <p:ext uri="{BB962C8B-B14F-4D97-AF65-F5344CB8AC3E}">
        <p14:creationId xmlns:p14="http://schemas.microsoft.com/office/powerpoint/2010/main" val="21397882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468239-09B5-424C-8CF6-8E06B52F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MODEL GRID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516FB-B94A-4CF3-B581-D084296F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nonlinear models now share the same hidden width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5E575-DBD8-4285-8F79-628DFC8B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All nonlinear rows use 128 -&gt; 16 -&gt; 4; alpha and regularization are the controlled differences.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006CB-CBBA-4F39-9E9A-FE77C0B4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1125200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E5F75-76EA-48FB-B93A-C267293F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2686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72F41-2DA9-4267-8A6A-2E2509E6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28775"/>
            <a:ext cx="249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65430-D908-4E91-B011-4E2FFC70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485900"/>
            <a:ext cx="95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978FB6-DDFF-49AA-97AF-67B36DC5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287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Alpha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EC367-1457-424C-A041-57D4551B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85900"/>
            <a:ext cx="1066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4CD94-E353-4CE4-86D1-606E9583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2877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Hidden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41825-354C-4A80-8FE1-0C664C24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48590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316DAE-BE5D-486B-BA77-FF9C2A20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2877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Encoder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1A832-07F6-4F3A-BAEF-96347E7F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859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300EE-C212-4D04-A8A9-10B50151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6287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Regularization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6B14D8-81DF-4720-A00F-626B811F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4859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B3F85C-8D58-4503-B041-76334B85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287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083"/>
                </a:solidFill>
                <a:latin typeface="Aptos"/>
                <a:ea typeface="Aptos"/>
                <a:cs typeface="Aptos"/>
              </a:rPr>
              <a:t>Question it asks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4BE344-4800-46F5-A418-D4CC2420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2686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76B7F7-0F73-4591-88CD-A8E8D863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Linear encoder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61D47D-FA02-4933-B338-3032B673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62150"/>
            <a:ext cx="95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E9D133-6D45-40E2-A119-7C74AE78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955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5BD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D5BD0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1D72C5-D001-4D2D-A8C7-CC29E480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62150"/>
            <a:ext cx="1066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F69F8F-BB4E-4A21-9547-2D1B6B50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none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500D2-A0A0-4F96-B9B7-02663608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62150"/>
            <a:ext cx="1657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757C61-A5E8-43BC-AD2A-7249D33D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Norm(G u)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C4412F-2BFD-468B-B9F0-CB2E883F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621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6B472B-8C14-4FE5-9EC8-34FF9BF8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955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none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618967-54B9-4E27-976A-9095B79F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621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AACD6D-7B83-4B53-BC5C-9FE2D505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955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linear baseline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1C4DD2-764B-4BDF-A719-F0F5B6FD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52700"/>
            <a:ext cx="2686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8650E9-8124-431C-9727-402E8444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MLP nonlinear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865463-D94C-453F-9038-09AC9A6C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52700"/>
            <a:ext cx="95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2FAFBF-B34B-4ACF-B3C0-8BEF170B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86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5BD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D5BD0"/>
                </a:solidFill>
                <a:latin typeface="Aptos Mono"/>
                <a:ea typeface="Aptos Mono"/>
                <a:cs typeface="Aptos Mono"/>
              </a:rPr>
              <a:t>0.01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06DC01-56AC-4A60-9BF6-5E3432AE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52700"/>
            <a:ext cx="1066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ABE049-05DC-4B92-9664-FA73F3B5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860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504928-1711-479E-95A9-792A0C71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52700"/>
            <a:ext cx="1657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39559B-6D0D-4AB8-8F89-D0726DC3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860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128 -&gt; 16 -&gt; 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31C8BE-9CCB-4137-82C9-DBB49212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527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A58644-59BD-43AF-9B59-B561E0D4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860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none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DA7FBB-A043-42AE-AB01-C6319845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527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051636-E174-4949-BD01-66A8B642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860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tiny correction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F6D2B7-B835-4F1C-976E-03F0F34D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2686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BF0D75-5823-4F9C-A393-F405D22B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MLP nonlinear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895D3B-A395-4119-8329-88322AC6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43250"/>
            <a:ext cx="95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9A7AD1-02F0-4188-9A7C-BA431923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766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5BD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D5BD0"/>
                </a:solidFill>
                <a:latin typeface="Aptos Mono"/>
                <a:ea typeface="Aptos Mono"/>
                <a:cs typeface="Aptos Mono"/>
              </a:rPr>
              <a:t>0.10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5BFB96-8AF2-4272-9CA3-44825EAD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43250"/>
            <a:ext cx="1066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2C28B7-1544-4275-B76C-66212C56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7660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E42739-94B7-4AE1-BFEC-6DEB9CE5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1657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06ECE3-5A1C-4BB9-A56C-C5EA17AF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766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128 -&gt; 16 -&gt; 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2FBA26-8CBD-4B0F-B436-D1A66D10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432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570CD2-1687-45BE-B4FC-ABCE9EB5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766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none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5F6CC6A-5784-48E0-AB1A-B7196A5E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432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FBE61A-4BAA-445A-BF09-088A7FC4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766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moderate correction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FC824E5-35F5-4152-A495-0C8DCD1F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2686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3E7E14E-995C-4418-BC07-AE3BCA45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MLP nonlinear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E621C1-969F-4C7F-A143-D53BD9A8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33800"/>
            <a:ext cx="95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B67E0DE-CE2C-446B-9F22-80D7CF89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671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5BD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D5BD0"/>
                </a:solidFill>
                <a:latin typeface="Aptos Mono"/>
                <a:ea typeface="Aptos Mono"/>
                <a:cs typeface="Aptos Mono"/>
              </a:rPr>
              <a:t>1.00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DEFD25-C016-4EBF-A019-2A173DE7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33800"/>
            <a:ext cx="1066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8FFC0B1-F910-413B-B784-501A2F86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671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A20801D-18BD-4683-A32B-7A2959F1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33800"/>
            <a:ext cx="1657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8BDB7A2-9B81-4A74-BD61-B40A86A0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671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128 -&gt; 16 -&gt; 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938532-4245-46EA-BBA1-F8932655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338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1900F9E-047E-4381-921D-E1D3F09C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67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none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201511D-FDBC-408E-973D-7ADF380E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338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E8BAD07-89EE-49DC-8293-DF5D2CD5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67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large correction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6E5302F-A18A-4C9F-9C60-CB0F26D5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2686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E1F3DA5-83C3-4940-A9B0-B39B5E48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L1-regularized nonlinear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BB754E9-F72D-4D62-9BE6-E8BB97B0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24350"/>
            <a:ext cx="95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99D3881-6E1A-4FC3-A580-E61D6B7C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577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5BD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D5BD0"/>
                </a:solidFill>
                <a:latin typeface="Aptos Mono"/>
                <a:ea typeface="Aptos Mono"/>
                <a:cs typeface="Aptos Mono"/>
              </a:rPr>
              <a:t>0.10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9C2BC50-F7E1-4354-B654-6A5E4010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24350"/>
            <a:ext cx="1066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B15C8D5-A0CC-4B87-847A-210B8B13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5770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9039F5B-4222-46AC-8018-B2DECE56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24350"/>
            <a:ext cx="1657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9CBF842-76D5-4FA0-9B17-E1608D26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577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128 -&gt; 16 -&gt; 4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98ABBE3-5727-4A60-BEE7-1D2B00AB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243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759172D-7C16-43CD-B9C9-62100052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577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A2 lasso, 1e-4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4F04C35-0CE6-464A-8AE4-798FF276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3243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E878A2B-9DDF-4CB0-80E9-4B9E80EF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577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feature selection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AF87914-993C-4DC8-91DE-6C1C6C0A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686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19CB03C-F892-4AF4-A7B8-AE8285DD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L2-regularized nonlinear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305F566-C320-4D21-A153-F2C8F2A4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14900"/>
            <a:ext cx="95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C482E95-1728-42B0-88E3-BDAC55AA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482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5BD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D5BD0"/>
                </a:solidFill>
                <a:latin typeface="Aptos Mono"/>
                <a:ea typeface="Aptos Mono"/>
                <a:cs typeface="Aptos Mono"/>
              </a:rPr>
              <a:t>0.10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E57538F-6B61-4030-BCA3-69D1232B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14900"/>
            <a:ext cx="1066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AE0A747-758E-4A9F-A12C-D1DED7F8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482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E8B0DDF-DD7D-40E8-AE64-F0A158FD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14900"/>
            <a:ext cx="1657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9C5BEE1-8DA2-48AE-91E0-3395D935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482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128 -&gt; 16 -&gt; 4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72F3B78-5520-4A0E-9173-B8E0027F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E70ECD3-6457-4A7F-B4AD-552A8F02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48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A1/A2 ridge, 1e-4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C650D0F-D9C0-4714-97CB-B8FFBE2B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9149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E824758-3F97-4364-8A70-34645DFD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048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smooth shrinkage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2547149-1C7C-4620-ADA9-172C1580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112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2"/>
          </a:solidFill>
          <a:ln xmlns:a="http://schemas.openxmlformats.org/drawingml/2006/main" w="10478">
            <a:solidFill>
              <a:srgbClr val="0F8B8D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0D8941F-4878-4A85-AA25-1084C148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7695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Because hidden_dim is fixed at 16, alpha comparisons are no longer mixed with changing MLP capacity.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71698EB-FC8C-4C44-8DF1-A292EB99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657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795"/>
                </a:solidFill>
                <a:latin typeface="Aptos"/>
                <a:ea typeface="Aptos"/>
                <a:cs typeface="Aptos"/>
              </a:rPr>
              <a:t>contrastive_encoders / encoder-comparison.ipynb</a:t>
            </a:r>
          </a:p>
        </p:txBody>
      </p:sp>
    </p:spTree>
    <p:extLst>
      <p:ext uri="{BB962C8B-B14F-4D97-AF65-F5344CB8AC3E}">
        <p14:creationId xmlns:p14="http://schemas.microsoft.com/office/powerpoint/2010/main" val="19967849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F5F38E-666D-4106-B2D7-6A2B95F1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HOW TO READ THE PLOTS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42C32-5F32-44C3-A53C-47B159AC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Metrics separate memorization, pairing, and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C6F93-EC7C-454E-8A11-DF184186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A good nonlinear model should improve held-out signal metrics without creating fake alignment in noise-only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9E681-103A-45EC-9F7D-A572BF5E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342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EEEC9-9A5B-41A5-943F-136D2F59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BDF5D-465D-45F6-B795-93EB4071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Train pair separation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F15473-DDE7-4ADF-A515-E0E4570C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matched minus mismatched similarity on training pairs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24750-EC2D-4601-B78E-9FA029BF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High train but low test can mean memorization.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2BEBC-E04C-4EF7-A37F-42C14909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81150"/>
            <a:ext cx="342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D05A1B-D879-441F-9FAF-0C641FAE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8115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D4E9B-239E-4151-B70D-FE2AAD7E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907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8B5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8B57"/>
                </a:solidFill>
                <a:latin typeface="Aptos"/>
                <a:ea typeface="Aptos"/>
                <a:cs typeface="Aptos"/>
              </a:rPr>
              <a:t>Test pair separation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8BA50E-E123-43AE-908D-CB786C35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same separation on held-out pairs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9C89D-01DD-4C80-A89F-7CCBEC92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146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Main alignment generalization check.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BB1F5-F0F5-4E2F-A09A-3E93166A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81150"/>
            <a:ext cx="342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25411C-148F-4100-AD9E-834BB763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8115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FF7FBB-3383-40D4-8478-1168B319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907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424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4242"/>
                </a:solidFill>
                <a:latin typeface="Aptos"/>
                <a:ea typeface="Aptos"/>
                <a:cs typeface="Aptos"/>
              </a:rPr>
              <a:t>Shuffled pair separation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64E6E2-71A0-4BB9-8267-36245169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955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test separation after breaking X/Y pairing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0630AA-F429-49F1-BD32-E4E2AA5F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146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Should stay near zero.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2172CD-4C35-4254-8352-45AE6EA1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342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32CD5A-DD25-43AA-9861-B6694273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07533B-05C5-454B-A381-8702C1FF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Pair match accuracy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8292BF-3052-4D48-84AD-C3422184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retrieve closest Y for each 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C1F1CF-45B6-48E6-A452-0022E2A7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Higher means paired partner is identifiable.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CE28B3-A618-48CA-8924-C0932B79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81350"/>
            <a:ext cx="342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BE3301-1B3E-4C77-A7E5-74BCDC1C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8135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4D5BD7-7751-4134-BA0A-F365185C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909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77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77700"/>
                </a:solidFill>
                <a:latin typeface="Aptos"/>
                <a:ea typeface="Aptos"/>
                <a:cs typeface="Aptos"/>
              </a:rPr>
              <a:t>X/Y signal recovery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3FE325-2C36-4CB8-A4AB-F0369D04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95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best absolute Pearson correlation with true Z_x or Z_y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49573E-95F7-49E6-B19C-6E5D591E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148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Higher means the embedding contains the latent signal.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56540C-5B5A-42E7-860E-9552FFEB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81350"/>
            <a:ext cx="342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74E6E4-6E85-4E3A-9FA1-7F8BB306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8135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6350A6-32A7-46C4-9243-533C87DD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909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Nonlinear/linear ratio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546DF2-AFC7-4AE6-B0CB-2D6EC601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95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scaled nonlinear norm divided by linear norm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A77495-A643-44F8-9401-E9F2EDDC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148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Checks whether alpha controls branch size.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145C69-F0D2-43F3-97B3-13F92BDD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1125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8F0A3B-C326-430C-BECD-2AEED5E6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Decision rule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197B7E-DA66-4F65-9642-B4BACF23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2925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Useful nonlinear correction: low noise-only test separation, stronger quadratic-signal recovery, and branch ratio that tracks alpha.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92EC64-13A0-4DA0-8A1C-6B8A0994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7150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Noise-fitting warning: train separation rises while test separation, shuffled checks, or signal recovery do not improve.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4EBD63-B300-48B6-B0E0-828D70AB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657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795"/>
                </a:solidFill>
                <a:latin typeface="Aptos"/>
                <a:ea typeface="Aptos"/>
                <a:cs typeface="Aptos"/>
              </a:rPr>
              <a:t>contrastive_encoders / encoder-comparison.ipynb</a:t>
            </a:r>
          </a:p>
        </p:txBody>
      </p:sp>
    </p:spTree>
    <p:extLst>
      <p:ext uri="{BB962C8B-B14F-4D97-AF65-F5344CB8AC3E}">
        <p14:creationId xmlns:p14="http://schemas.microsoft.com/office/powerpoint/2010/main" val="12585132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E7CD02-486F-47F3-95CB-B61EDA00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NEXT PLOT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2A1A0-2FFF-4590-9C5C-6E2E0210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Use plots to answer one question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BE810-9D86-4921-8F35-5BA4D0A6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The next notebook update can use clearer plots that separate signal recovery, overfitting, and alpha behavior.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08094-0685-4D6C-BAE9-28F761EC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12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9156C-745E-4551-9B6A-83529935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4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3AE5B-BCB2-4841-8756-1A9D4F72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424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8424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2F3EA-8617-4EFB-8480-EB1F4AE2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47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424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4242"/>
                </a:solidFill>
                <a:latin typeface="Aptos"/>
                <a:ea typeface="Aptos"/>
                <a:cs typeface="Aptos"/>
              </a:rPr>
              <a:t>Noise-only train vs test separation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BA2CC-22BC-419C-A253-B9E69137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669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Shows whether a model memorizes random pairs.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81C27-4BF4-4018-9B42-D88E7BE9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1112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A6ACF-D945-4FFE-B7B7-671D7A43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114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2D576-35B2-45BB-AAE1-BE21E7D1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7770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C7770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6C959-9C5B-42FA-B269-B8192782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19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77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7700"/>
                </a:solidFill>
                <a:latin typeface="Aptos"/>
                <a:ea typeface="Aptos"/>
                <a:cs typeface="Aptos"/>
              </a:rPr>
              <a:t>Linear and quadratic signal recovery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C2C65-C8A7-4C05-8B25-47462EBB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384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Shows whether embeddings recover the true latent variables.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B1A8C-631E-4A5D-86EF-CE14E6E4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112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8BDF75-05F2-423C-9138-1760C1BF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14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1A926E-5B9D-46B7-BD45-A0D21CF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F0C1C3-75E5-4798-AE5F-84B08F91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90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Alpha 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0BDCF-A5F9-49A8-A269-316AD045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100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Plots alpha against nonlinear/linear branch ratio.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AA8C75-7B8F-46B3-A37D-C732C34B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0100"/>
            <a:ext cx="1112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AD3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1BD7BF-A3E7-49C4-950C-4BF2D924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0100"/>
            <a:ext cx="114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5CCDA6-6A07-484C-A750-D59E4E41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79FB12-6EAE-4F42-BADB-8D830B00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Similarity matrix heatmaps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B6380C-748B-419F-A938-D4176220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781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083"/>
                </a:solidFill>
                <a:latin typeface="Aptos"/>
                <a:ea typeface="Aptos"/>
                <a:cs typeface="Aptos"/>
              </a:rPr>
              <a:t>Shows whether true pairs appear as a diagonal pattern.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DDE6F8-1B9F-4F76-ABE4-3AFC3B50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F"/>
          </a:solidFill>
          <a:ln xmlns:a="http://schemas.openxmlformats.org/drawingml/2006/main" w="10478">
            <a:solidFill>
              <a:srgbClr val="2F6F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B959D2-5201-454F-80AA-666B2FB2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Because the architecture is now fixed-size, plot changes should be easier to attribute to alpha or regularization.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32642B-9A99-4AAF-A09A-E534295D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657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795"/>
                </a:solidFill>
                <a:latin typeface="Aptos"/>
                <a:ea typeface="Aptos"/>
                <a:cs typeface="Aptos"/>
              </a:rPr>
              <a:t>contrastive_encoders / encoder-comparison.ipynb</a:t>
            </a:r>
          </a:p>
        </p:txBody>
      </p:sp>
    </p:spTree>
    <p:extLst>
      <p:ext uri="{BB962C8B-B14F-4D97-AF65-F5344CB8AC3E}">
        <p14:creationId xmlns:p14="http://schemas.microsoft.com/office/powerpoint/2010/main" val="18019491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2026-06-15T04:05:05.0920000Z</dcterms:created>
  <dcterms:modified xsi:type="dcterms:W3CDTF">2026-06-15T04:05:05.0920000Z</dcterms:modified>
</coreProperties>
</file>