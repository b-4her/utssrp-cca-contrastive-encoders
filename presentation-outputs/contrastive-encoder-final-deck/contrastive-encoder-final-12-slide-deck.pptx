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d3b6d1c40b4c19" /><Relationship Type="http://schemas.openxmlformats.org/officeDocument/2006/relationships/extended-properties" Target="/docProps/app.xml" Id="Rb66f9244b0ab4660" /><Relationship Type="http://schemas.openxmlformats.org/officeDocument/2006/relationships/officeDocument" Target="/ppt/presentation.xml" Id="R509f4090c2a646f7" /></Relationships>
</file>

<file path=ppt/presentation.xml><?xml version="1.0" encoding="utf-8"?>
<p:presentation xmlns:p="http://schemas.openxmlformats.org/presentationml/2006/main">
  <p:sldMasterIdLst>
    <p:sldMasterId xmlns:r="http://schemas.openxmlformats.org/officeDocument/2006/relationships" id="2147483648" r:id="Rf09056b6c1764905"/>
  </p:sldMasterIdLst>
  <p:notesMasterIdLst>
    <p:notesMasterId xmlns:r="http://schemas.openxmlformats.org/officeDocument/2006/relationships" r:id="Rb777ff8ea09047af"/>
  </p:notesMasterIdLst>
  <p:sldIdLst>
    <p:sldId xmlns:r="http://schemas.openxmlformats.org/officeDocument/2006/relationships" id="256" r:id="Rf49d9966bbf94901"/>
    <p:sldId xmlns:r="http://schemas.openxmlformats.org/officeDocument/2006/relationships" id="257" r:id="Rbd45cdf352bb4413"/>
    <p:sldId xmlns:r="http://schemas.openxmlformats.org/officeDocument/2006/relationships" id="258" r:id="R7ad71d596f234714"/>
    <p:sldId xmlns:r="http://schemas.openxmlformats.org/officeDocument/2006/relationships" id="259" r:id="R06c2d66129b04a3c"/>
    <p:sldId xmlns:r="http://schemas.openxmlformats.org/officeDocument/2006/relationships" id="260" r:id="R48d502b9c2e24db5"/>
    <p:sldId xmlns:r="http://schemas.openxmlformats.org/officeDocument/2006/relationships" id="261" r:id="R96ff499f2dc34ad7"/>
    <p:sldId xmlns:r="http://schemas.openxmlformats.org/officeDocument/2006/relationships" id="262" r:id="R0f43afc4f6d04c5c"/>
    <p:sldId xmlns:r="http://schemas.openxmlformats.org/officeDocument/2006/relationships" id="263" r:id="Rc2f96e616d60438f"/>
    <p:sldId xmlns:r="http://schemas.openxmlformats.org/officeDocument/2006/relationships" id="264" r:id="Rcc44e6e3eb8f4883"/>
    <p:sldId xmlns:r="http://schemas.openxmlformats.org/officeDocument/2006/relationships" id="265" r:id="R7001607c78be4dc0"/>
    <p:sldId xmlns:r="http://schemas.openxmlformats.org/officeDocument/2006/relationships" id="266" r:id="R86de6b17e2cf4985"/>
    <p:sldId xmlns:r="http://schemas.openxmlformats.org/officeDocument/2006/relationships" id="267" r:id="R4b7d8e49cb2d406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e2171e296e4c78" /><Relationship Type="http://schemas.openxmlformats.org/officeDocument/2006/relationships/slideMaster" Target="/ppt/slideMasters/slideMaster1.xml" Id="Rf09056b6c1764905" /><Relationship Type="http://schemas.openxmlformats.org/officeDocument/2006/relationships/notesMaster" Target="/ppt/notesMasters/notesMaster1.xml" Id="Rb777ff8ea09047af" /><Relationship Type="http://schemas.openxmlformats.org/officeDocument/2006/relationships/presProps" Target="/ppt/presProps.xml" Id="R93f5f853ce734e0c" /><Relationship Type="http://schemas.openxmlformats.org/officeDocument/2006/relationships/tableStyles" Target="/ppt/tableStyles.xml" Id="Reae38cb9174a496f" /><Relationship Type="http://schemas.openxmlformats.org/officeDocument/2006/relationships/slide" Target="/ppt/slides/slide1.xml" Id="Rf49d9966bbf94901" /><Relationship Type="http://schemas.openxmlformats.org/officeDocument/2006/relationships/slide" Target="/ppt/slides/slide2.xml" Id="Rbd45cdf352bb4413" /><Relationship Type="http://schemas.openxmlformats.org/officeDocument/2006/relationships/slide" Target="/ppt/slides/slide3.xml" Id="R7ad71d596f234714" /><Relationship Type="http://schemas.openxmlformats.org/officeDocument/2006/relationships/slide" Target="/ppt/slides/slide4.xml" Id="R06c2d66129b04a3c" /><Relationship Type="http://schemas.openxmlformats.org/officeDocument/2006/relationships/slide" Target="/ppt/slides/slide5.xml" Id="R48d502b9c2e24db5" /><Relationship Type="http://schemas.openxmlformats.org/officeDocument/2006/relationships/slide" Target="/ppt/slides/slide6.xml" Id="R96ff499f2dc34ad7" /><Relationship Type="http://schemas.openxmlformats.org/officeDocument/2006/relationships/slide" Target="/ppt/slides/slide7.xml" Id="R0f43afc4f6d04c5c" /><Relationship Type="http://schemas.openxmlformats.org/officeDocument/2006/relationships/slide" Target="/ppt/slides/slide8.xml" Id="Rc2f96e616d60438f" /><Relationship Type="http://schemas.openxmlformats.org/officeDocument/2006/relationships/slide" Target="/ppt/slides/slide9.xml" Id="Rcc44e6e3eb8f4883" /><Relationship Type="http://schemas.openxmlformats.org/officeDocument/2006/relationships/slide" Target="/ppt/slides/slide10.xml" Id="R7001607c78be4dc0" /><Relationship Type="http://schemas.openxmlformats.org/officeDocument/2006/relationships/slide" Target="/ppt/slides/slide11.xml" Id="R86de6b17e2cf4985" /><Relationship Type="http://schemas.openxmlformats.org/officeDocument/2006/relationships/slide" Target="/ppt/slides/slide12.xml" Id="R4b7d8e49cb2d40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b9128f70a74e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cf9f205f9146e2" /><Relationship Type="http://schemas.openxmlformats.org/officeDocument/2006/relationships/notesMaster" Target="/ppt/notesMasters/notesMaster1.xml" Id="Re8b8e5dc9e5b46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6cdc5e3339463c" /><Relationship Type="http://schemas.openxmlformats.org/officeDocument/2006/relationships/notesMaster" Target="/ppt/notesMasters/notesMaster1.xml" Id="R22d8bd30b3be4b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ccfd6b158d4e2e" /><Relationship Type="http://schemas.openxmlformats.org/officeDocument/2006/relationships/notesMaster" Target="/ppt/notesMasters/notesMaster1.xml" Id="R0fc94de5c8f749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7fe954b2e341c9" /><Relationship Type="http://schemas.openxmlformats.org/officeDocument/2006/relationships/notesMaster" Target="/ppt/notesMasters/notesMaster1.xml" Id="R45fa30cf8c8e49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b7dffeada04331" /><Relationship Type="http://schemas.openxmlformats.org/officeDocument/2006/relationships/notesMaster" Target="/ppt/notesMasters/notesMaster1.xml" Id="R7f747f6a06da44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ffe64471f640b8" /><Relationship Type="http://schemas.openxmlformats.org/officeDocument/2006/relationships/notesMaster" Target="/ppt/notesMasters/notesMaster1.xml" Id="Rc9f9b76015d041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cd6f08f6fb47b2" /><Relationship Type="http://schemas.openxmlformats.org/officeDocument/2006/relationships/notesMaster" Target="/ppt/notesMasters/notesMaster1.xml" Id="Rbc5489292ed543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2c749f861e49f3" /><Relationship Type="http://schemas.openxmlformats.org/officeDocument/2006/relationships/notesMaster" Target="/ppt/notesMasters/notesMaster1.xml" Id="Rb7d80ca3271741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764d25d6784cf8" /><Relationship Type="http://schemas.openxmlformats.org/officeDocument/2006/relationships/notesMaster" Target="/ppt/notesMasters/notesMaster1.xml" Id="R9f237c12be9545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3d2a1f84154e51" /><Relationship Type="http://schemas.openxmlformats.org/officeDocument/2006/relationships/notesMaster" Target="/ppt/notesMasters/notesMaster1.xml" Id="R8e36f1ceb74f46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6c1a8c9eae4944" /><Relationship Type="http://schemas.openxmlformats.org/officeDocument/2006/relationships/notesMaster" Target="/ppt/notesMasters/notesMaster1.xml" Id="Re195b0060af94a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456e23a14e4317" /><Relationship Type="http://schemas.openxmlformats.org/officeDocument/2006/relationships/notesMaster" Target="/ppt/notesMasters/notesMaster1.xml" Id="R856a4b2f056549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3a71ed067441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e32134be2d4478" /><Relationship Type="http://schemas.openxmlformats.org/officeDocument/2006/relationships/slideLayout" Target="/ppt/slideLayouts/slideLayout1.xml" Id="R942df5cb23a84e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2df5cb23a84e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c9449b1a3441ed" /><Relationship Type="http://schemas.openxmlformats.org/officeDocument/2006/relationships/notesSlide" Target="/ppt/notesSlides/notesSlide1.xml" Id="R1acb230e7c4440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19208775ab4c96" /><Relationship Type="http://schemas.openxmlformats.org/officeDocument/2006/relationships/notesSlide" Target="/ppt/notesSlides/notesSlide2.xml" Id="R40bfd56e73514f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eb835970a14315" /><Relationship Type="http://schemas.openxmlformats.org/officeDocument/2006/relationships/notesSlide" Target="/ppt/notesSlides/notesSlide3.xml" Id="R03e01fd2197b48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a409c9528b4a01" /><Relationship Type="http://schemas.openxmlformats.org/officeDocument/2006/relationships/notesSlide" Target="/ppt/notesSlides/notesSlide4.xml" Id="R5f2007aef05844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c24718fbcb4252" /><Relationship Type="http://schemas.openxmlformats.org/officeDocument/2006/relationships/image" Target="/ppt/media/image.png" Id="R7f5c358291be4223" /><Relationship Type="http://schemas.openxmlformats.org/officeDocument/2006/relationships/notesSlide" Target="/ppt/notesSlides/notesSlide5.xml" Id="R364847c902f946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cc203bd6f4464d" /><Relationship Type="http://schemas.openxmlformats.org/officeDocument/2006/relationships/image" Target="/ppt/media/image2.png" Id="R96c57a3862dd4fe4" /><Relationship Type="http://schemas.openxmlformats.org/officeDocument/2006/relationships/notesSlide" Target="/ppt/notesSlides/notesSlide6.xml" Id="R9ef52eff88b348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f908514d59410e" /><Relationship Type="http://schemas.openxmlformats.org/officeDocument/2006/relationships/image" Target="/ppt/media/image3.png" Id="Rf7957a59535348b4" /><Relationship Type="http://schemas.openxmlformats.org/officeDocument/2006/relationships/notesSlide" Target="/ppt/notesSlides/notesSlide7.xml" Id="R5bf95cf2346847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f4eed369a24012" /><Relationship Type="http://schemas.openxmlformats.org/officeDocument/2006/relationships/image" Target="/ppt/media/image4.png" Id="R903469384a424b3d" /><Relationship Type="http://schemas.openxmlformats.org/officeDocument/2006/relationships/notesSlide" Target="/ppt/notesSlides/notesSlide8.xml" Id="R4f55748d78f846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c14d0f71754d3f" /><Relationship Type="http://schemas.openxmlformats.org/officeDocument/2006/relationships/image" Target="/ppt/media/image5.png" Id="Re1f5645cdf514f65" /><Relationship Type="http://schemas.openxmlformats.org/officeDocument/2006/relationships/notesSlide" Target="/ppt/notesSlides/notesSlide9.xml" Id="R4c88f0000f184a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746987ecb54633" /><Relationship Type="http://schemas.openxmlformats.org/officeDocument/2006/relationships/image" Target="/ppt/media/image6.png" Id="R54a30e3ad6d445ea" /><Relationship Type="http://schemas.openxmlformats.org/officeDocument/2006/relationships/notesSlide" Target="/ppt/notesSlides/notesSlide10.xml" Id="R2c4bf00acffb42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da9e7cf9294c0e" /><Relationship Type="http://schemas.openxmlformats.org/officeDocument/2006/relationships/image" Target="/ppt/media/image7.png" Id="R807a65d2e5854e36" /><Relationship Type="http://schemas.openxmlformats.org/officeDocument/2006/relationships/notesSlide" Target="/ppt/notesSlides/notesSlide11.xml" Id="Rf1dfc2fb44ce45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79d17ac952d41ea" /><Relationship Type="http://schemas.openxmlformats.org/officeDocument/2006/relationships/notesSlide" Target="/ppt/notesSlides/notesSlide12.xml" Id="R2ef866b0fa714c04"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879734-05CE-4559-86F1-6DBF14EAFC97}"/>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MOTIVATION</a:t>
            </a:r>
          </a:p>
        </p:txBody>
      </p:sp>
      <p:sp>
        <p:nvSpPr>
          <p:cNvPr id="2" name="">
            <a:extLst xmlns:a="http://schemas.openxmlformats.org/drawingml/2006/main">
              <a:ext uri="{FF2B5EF4-FFF2-40B4-BE49-F238E27FC236}">
                <a16:creationId xmlns:a16="http://schemas.microsoft.com/office/drawing/2014/main" id="{22A4C9F4-41E2-426A-B5A0-5515F535479C}"/>
              </a:ext>
            </a:extLst>
          </p:cNvPr>
          <p:cNvSpPr>
            <a:spLocks xmlns:a="http://schemas.openxmlformats.org/drawingml/2006/main" noGrp="1"/>
          </p:cNvSpPr>
          <p:nvPr/>
        </p:nvSpPr>
        <p:spPr>
          <a:xfrm xmlns:a="http://schemas.openxmlformats.org/drawingml/2006/main">
            <a:off x="628650" y="1066800"/>
            <a:ext cx="8572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3600" b="1">
                <a:solidFill>
                  <a:srgbClr val="17212B"/>
                </a:solidFill>
                <a:latin typeface="Aptos Display"/>
                <a:ea typeface="Aptos Display"/>
                <a:cs typeface="Aptos Display"/>
              </a:defRPr>
            </a:pPr>
            <a:r>
              <a:rPr sz="3600" b="1">
                <a:solidFill>
                  <a:srgbClr val="17212B"/>
                </a:solidFill>
                <a:latin typeface="Aptos Display"/>
                <a:ea typeface="Aptos Display"/>
                <a:cs typeface="Aptos Display"/>
              </a:rPr>
              <a:t>Linear vs Nonlinear Contrastive Encoders</a:t>
            </a:r>
          </a:p>
        </p:txBody>
      </p:sp>
      <p:sp>
        <p:nvSpPr>
          <p:cNvPr id="3" name="">
            <a:extLst xmlns:a="http://schemas.openxmlformats.org/drawingml/2006/main">
              <a:ext uri="{FF2B5EF4-FFF2-40B4-BE49-F238E27FC236}">
                <a16:creationId xmlns:a16="http://schemas.microsoft.com/office/drawing/2014/main" id="{DD8C4D30-6145-4ED5-8E76-DBFDB6858A17}"/>
              </a:ext>
            </a:extLst>
          </p:cNvPr>
          <p:cNvSpPr>
            <a:spLocks xmlns:a="http://schemas.openxmlformats.org/drawingml/2006/main" noGrp="1"/>
          </p:cNvSpPr>
          <p:nvPr/>
        </p:nvSpPr>
        <p:spPr>
          <a:xfrm xmlns:a="http://schemas.openxmlformats.org/drawingml/2006/main">
            <a:off x="628650" y="2609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2F6B9A"/>
                </a:solidFill>
                <a:latin typeface="Aptos"/>
                <a:ea typeface="Aptos"/>
                <a:cs typeface="Aptos"/>
              </a:defRPr>
            </a:pPr>
            <a:r>
              <a:rPr sz="1350" b="1">
                <a:solidFill>
                  <a:srgbClr val="2F6B9A"/>
                </a:solidFill>
                <a:latin typeface="Aptos"/>
                <a:ea typeface="Aptos"/>
                <a:cs typeface="Aptos"/>
              </a:rPr>
              <a:t>Main question</a:t>
            </a:r>
          </a:p>
        </p:txBody>
      </p:sp>
      <p:sp>
        <p:nvSpPr>
          <p:cNvPr id="4" name="">
            <a:extLst xmlns:a="http://schemas.openxmlformats.org/drawingml/2006/main">
              <a:ext uri="{FF2B5EF4-FFF2-40B4-BE49-F238E27FC236}">
                <a16:creationId xmlns:a16="http://schemas.microsoft.com/office/drawing/2014/main" id="{8E63EC1B-2239-4079-84CD-24E5BD0E021C}"/>
              </a:ext>
            </a:extLst>
          </p:cNvPr>
          <p:cNvSpPr>
            <a:spLocks xmlns:a="http://schemas.openxmlformats.org/drawingml/2006/main" noGrp="1"/>
          </p:cNvSpPr>
          <p:nvPr/>
        </p:nvSpPr>
        <p:spPr>
          <a:xfrm xmlns:a="http://schemas.openxmlformats.org/drawingml/2006/main">
            <a:off x="628650" y="2952750"/>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875" b="1">
                <a:solidFill>
                  <a:srgbClr val="17212B"/>
                </a:solidFill>
                <a:latin typeface="Aptos"/>
                <a:ea typeface="Aptos"/>
                <a:cs typeface="Aptos"/>
              </a:defRPr>
            </a:pPr>
            <a:r>
              <a:rPr sz="1875" b="1">
                <a:solidFill>
                  <a:srgbClr val="17212B"/>
                </a:solidFill>
                <a:latin typeface="Aptos"/>
                <a:ea typeface="Aptos"/>
                <a:cs typeface="Aptos"/>
              </a:rPr>
              <a:t>Does adding a controlled nonlinear correction recover real shared signal, or mostly increase noise fitting?</a:t>
            </a:r>
          </a:p>
        </p:txBody>
      </p:sp>
      <p:sp>
        <p:nvSpPr>
          <p:cNvPr id="5" name="">
            <a:extLst xmlns:a="http://schemas.openxmlformats.org/drawingml/2006/main">
              <a:ext uri="{FF2B5EF4-FFF2-40B4-BE49-F238E27FC236}">
                <a16:creationId xmlns:a16="http://schemas.microsoft.com/office/drawing/2014/main" id="{081DBF0C-6BCB-4EAB-9F8F-4BA3BD488870}"/>
              </a:ext>
            </a:extLst>
          </p:cNvPr>
          <p:cNvSpPr>
            <a:spLocks xmlns:a="http://schemas.openxmlformats.org/drawingml/2006/main" noGrp="1"/>
          </p:cNvSpPr>
          <p:nvPr/>
        </p:nvSpPr>
        <p:spPr>
          <a:xfrm xmlns:a="http://schemas.openxmlformats.org/drawingml/2006/main">
            <a:off x="628650" y="42862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2F8F5B"/>
                </a:solidFill>
                <a:latin typeface="Aptos"/>
                <a:ea typeface="Aptos"/>
                <a:cs typeface="Aptos"/>
              </a:defRPr>
            </a:pPr>
            <a:r>
              <a:rPr sz="1350" b="1">
                <a:solidFill>
                  <a:srgbClr val="2F8F5B"/>
                </a:solidFill>
                <a:latin typeface="Aptos"/>
                <a:ea typeface="Aptos"/>
                <a:cs typeface="Aptos"/>
              </a:rPr>
              <a:t>One-line setup</a:t>
            </a:r>
          </a:p>
        </p:txBody>
      </p:sp>
      <p:sp>
        <p:nvSpPr>
          <p:cNvPr id="6" name="">
            <a:extLst xmlns:a="http://schemas.openxmlformats.org/drawingml/2006/main">
              <a:ext uri="{FF2B5EF4-FFF2-40B4-BE49-F238E27FC236}">
                <a16:creationId xmlns:a16="http://schemas.microsoft.com/office/drawing/2014/main" id="{C9EE2E16-45FC-4AB8-AEE9-44CED6F59DAD}"/>
              </a:ext>
            </a:extLst>
          </p:cNvPr>
          <p:cNvSpPr>
            <a:spLocks xmlns:a="http://schemas.openxmlformats.org/drawingml/2006/main" noGrp="1"/>
          </p:cNvSpPr>
          <p:nvPr/>
        </p:nvSpPr>
        <p:spPr>
          <a:xfrm xmlns:a="http://schemas.openxmlformats.org/drawingml/2006/main">
            <a:off x="628650" y="462915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650" b="0">
                <a:solidFill>
                  <a:srgbClr val="5A6875"/>
                </a:solidFill>
                <a:latin typeface="Aptos"/>
                <a:ea typeface="Aptos"/>
                <a:cs typeface="Aptos"/>
              </a:defRPr>
            </a:pPr>
            <a:r>
              <a:rPr sz="1650" b="0">
                <a:solidFill>
                  <a:srgbClr val="5A6875"/>
                </a:solidFill>
                <a:latin typeface="Aptos"/>
                <a:ea typeface="Aptos"/>
                <a:cs typeface="Aptos"/>
              </a:rPr>
              <a:t>We compare linear and residual nonlinear encoders on noise-only, linear-signal, and cubic-signal synthetic data.</a:t>
            </a:r>
          </a:p>
        </p:txBody>
      </p:sp>
      <p:sp>
        <p:nvSpPr>
          <p:cNvPr id="7" name="">
            <a:extLst xmlns:a="http://schemas.openxmlformats.org/drawingml/2006/main">
              <a:ext uri="{FF2B5EF4-FFF2-40B4-BE49-F238E27FC236}">
                <a16:creationId xmlns:a16="http://schemas.microsoft.com/office/drawing/2014/main" id="{4587C152-16E8-4696-8798-A43E04E86A20}"/>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1/12</a:t>
            </a:r>
          </a:p>
        </p:txBody>
      </p:sp>
    </p:spTree>
    <p:extLst>
      <p:ext uri="{BB962C8B-B14F-4D97-AF65-F5344CB8AC3E}">
        <p14:creationId xmlns:p14="http://schemas.microsoft.com/office/powerpoint/2010/main" val="98048676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CEC73D-621A-4D56-9F68-8DEACC433C29}"/>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EXPERIMENTAL SETUP</a:t>
            </a:r>
          </a:p>
        </p:txBody>
      </p:sp>
      <p:sp>
        <p:nvSpPr>
          <p:cNvPr id="2" name="">
            <a:extLst xmlns:a="http://schemas.openxmlformats.org/drawingml/2006/main">
              <a:ext uri="{FF2B5EF4-FFF2-40B4-BE49-F238E27FC236}">
                <a16:creationId xmlns:a16="http://schemas.microsoft.com/office/drawing/2014/main" id="{9D7CE3F7-9705-4341-AC08-3FEE1960AF2B}"/>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Synthetic data conditions</a:t>
            </a:r>
          </a:p>
        </p:txBody>
      </p:sp>
      <p:sp>
        <p:nvSpPr>
          <p:cNvPr id="3" name="">
            <a:extLst xmlns:a="http://schemas.openxmlformats.org/drawingml/2006/main">
              <a:ext uri="{FF2B5EF4-FFF2-40B4-BE49-F238E27FC236}">
                <a16:creationId xmlns:a16="http://schemas.microsoft.com/office/drawing/2014/main" id="{417C2AB8-271A-416D-8E6D-1B1B704BA7D4}"/>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Each condition tests a different kind of X/Y relationship while keeping the training protocol fixed.</a:t>
            </a:r>
          </a:p>
        </p:txBody>
      </p:sp>
      <p:sp>
        <p:nvSpPr>
          <p:cNvPr id="4" name="">
            <a:extLst xmlns:a="http://schemas.openxmlformats.org/drawingml/2006/main">
              <a:ext uri="{FF2B5EF4-FFF2-40B4-BE49-F238E27FC236}">
                <a16:creationId xmlns:a16="http://schemas.microsoft.com/office/drawing/2014/main" id="{325B9886-2BFF-4014-BB98-B64DD59991E0}"/>
              </a:ext>
            </a:extLst>
          </p:cNvPr>
          <p:cNvSpPr>
            <a:spLocks xmlns:a="http://schemas.openxmlformats.org/drawingml/2006/main" noGrp="1"/>
          </p:cNvSpPr>
          <p:nvPr/>
        </p:nvSpPr>
        <p:spPr>
          <a:xfrm xmlns:a="http://schemas.openxmlformats.org/drawingml/2006/main">
            <a:off x="742950" y="2095500"/>
            <a:ext cx="3143250" cy="16002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7CC30DA-6F36-40CE-AA22-523161B24509}"/>
              </a:ext>
            </a:extLst>
          </p:cNvPr>
          <p:cNvSpPr>
            <a:spLocks xmlns:a="http://schemas.openxmlformats.org/drawingml/2006/main" noGrp="1"/>
          </p:cNvSpPr>
          <p:nvPr/>
        </p:nvSpPr>
        <p:spPr>
          <a:xfrm xmlns:a="http://schemas.openxmlformats.org/drawingml/2006/main">
            <a:off x="742950" y="2095500"/>
            <a:ext cx="76200" cy="1600200"/>
          </a:xfrm>
          <a:prstGeom xmlns:a="http://schemas.openxmlformats.org/drawingml/2006/main" prst="rect">
            <a:avLst/>
          </a:prstGeom>
          <a:solidFill xmlns:a="http://schemas.openxmlformats.org/drawingml/2006/main">
            <a:srgbClr val="C84C5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E4F2705-BF2A-46F0-8418-51207A283FD4}"/>
              </a:ext>
            </a:extLst>
          </p:cNvPr>
          <p:cNvSpPr>
            <a:spLocks xmlns:a="http://schemas.openxmlformats.org/drawingml/2006/main" noGrp="1"/>
          </p:cNvSpPr>
          <p:nvPr/>
        </p:nvSpPr>
        <p:spPr>
          <a:xfrm xmlns:a="http://schemas.openxmlformats.org/drawingml/2006/main">
            <a:off x="952500" y="22669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Noise only</a:t>
            </a:r>
          </a:p>
        </p:txBody>
      </p:sp>
      <p:sp>
        <p:nvSpPr>
          <p:cNvPr id="7" name="">
            <a:extLst xmlns:a="http://schemas.openxmlformats.org/drawingml/2006/main">
              <a:ext uri="{FF2B5EF4-FFF2-40B4-BE49-F238E27FC236}">
                <a16:creationId xmlns:a16="http://schemas.microsoft.com/office/drawing/2014/main" id="{E9E8EECF-09E2-4E37-84CB-EA064A9E77CB}"/>
              </a:ext>
            </a:extLst>
          </p:cNvPr>
          <p:cNvSpPr>
            <a:spLocks xmlns:a="http://schemas.openxmlformats.org/drawingml/2006/main" noGrp="1"/>
          </p:cNvSpPr>
          <p:nvPr/>
        </p:nvSpPr>
        <p:spPr>
          <a:xfrm xmlns:a="http://schemas.openxmlformats.org/drawingml/2006/main">
            <a:off x="952500" y="2609850"/>
            <a:ext cx="2743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X and Y are independent Gaussian noise. Any training alignment here is memorization.</a:t>
            </a:r>
          </a:p>
        </p:txBody>
      </p:sp>
      <p:sp>
        <p:nvSpPr>
          <p:cNvPr id="8" name="">
            <a:extLst xmlns:a="http://schemas.openxmlformats.org/drawingml/2006/main">
              <a:ext uri="{FF2B5EF4-FFF2-40B4-BE49-F238E27FC236}">
                <a16:creationId xmlns:a16="http://schemas.microsoft.com/office/drawing/2014/main" id="{37ED6D78-D4FE-4388-B337-89CBA2F89512}"/>
              </a:ext>
            </a:extLst>
          </p:cNvPr>
          <p:cNvSpPr>
            <a:spLocks xmlns:a="http://schemas.openxmlformats.org/drawingml/2006/main" noGrp="1"/>
          </p:cNvSpPr>
          <p:nvPr/>
        </p:nvSpPr>
        <p:spPr>
          <a:xfrm xmlns:a="http://schemas.openxmlformats.org/drawingml/2006/main">
            <a:off x="4514850" y="2095500"/>
            <a:ext cx="3143250" cy="16002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DF22F0E-B97D-4585-B220-DBF55364C729}"/>
              </a:ext>
            </a:extLst>
          </p:cNvPr>
          <p:cNvSpPr>
            <a:spLocks xmlns:a="http://schemas.openxmlformats.org/drawingml/2006/main" noGrp="1"/>
          </p:cNvSpPr>
          <p:nvPr/>
        </p:nvSpPr>
        <p:spPr>
          <a:xfrm xmlns:a="http://schemas.openxmlformats.org/drawingml/2006/main">
            <a:off x="4514850" y="2095500"/>
            <a:ext cx="76200" cy="1600200"/>
          </a:xfrm>
          <a:prstGeom xmlns:a="http://schemas.openxmlformats.org/drawingml/2006/main" prst="rect">
            <a:avLst/>
          </a:prstGeom>
          <a:solidFill xmlns:a="http://schemas.openxmlformats.org/drawingml/2006/main">
            <a:srgbClr val="2F6B9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61AC9F-282D-4FF2-B71B-A4F6E6CC86AC}"/>
              </a:ext>
            </a:extLst>
          </p:cNvPr>
          <p:cNvSpPr>
            <a:spLocks xmlns:a="http://schemas.openxmlformats.org/drawingml/2006/main" noGrp="1"/>
          </p:cNvSpPr>
          <p:nvPr/>
        </p:nvSpPr>
        <p:spPr>
          <a:xfrm xmlns:a="http://schemas.openxmlformats.org/drawingml/2006/main">
            <a:off x="4724400" y="22669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Linear signal</a:t>
            </a:r>
          </a:p>
        </p:txBody>
      </p:sp>
      <p:sp>
        <p:nvSpPr>
          <p:cNvPr id="11" name="">
            <a:extLst xmlns:a="http://schemas.openxmlformats.org/drawingml/2006/main">
              <a:ext uri="{FF2B5EF4-FFF2-40B4-BE49-F238E27FC236}">
                <a16:creationId xmlns:a16="http://schemas.microsoft.com/office/drawing/2014/main" id="{BA7694C3-8820-4169-B3D2-286C5F37B18E}"/>
              </a:ext>
            </a:extLst>
          </p:cNvPr>
          <p:cNvSpPr>
            <a:spLocks xmlns:a="http://schemas.openxmlformats.org/drawingml/2006/main" noGrp="1"/>
          </p:cNvSpPr>
          <p:nvPr/>
        </p:nvSpPr>
        <p:spPr>
          <a:xfrm xmlns:a="http://schemas.openxmlformats.org/drawingml/2006/main">
            <a:off x="4724400" y="2609850"/>
            <a:ext cx="2743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X has latent Z_x, Y has latent Z_y, with Z_y = Z_x.</a:t>
            </a:r>
          </a:p>
        </p:txBody>
      </p:sp>
      <p:sp>
        <p:nvSpPr>
          <p:cNvPr id="12" name="">
            <a:extLst xmlns:a="http://schemas.openxmlformats.org/drawingml/2006/main">
              <a:ext uri="{FF2B5EF4-FFF2-40B4-BE49-F238E27FC236}">
                <a16:creationId xmlns:a16="http://schemas.microsoft.com/office/drawing/2014/main" id="{4EB2E926-7F11-4B46-BCE4-3BEBC491333D}"/>
              </a:ext>
            </a:extLst>
          </p:cNvPr>
          <p:cNvSpPr>
            <a:spLocks xmlns:a="http://schemas.openxmlformats.org/drawingml/2006/main" noGrp="1"/>
          </p:cNvSpPr>
          <p:nvPr/>
        </p:nvSpPr>
        <p:spPr>
          <a:xfrm xmlns:a="http://schemas.openxmlformats.org/drawingml/2006/main">
            <a:off x="8286750" y="2095500"/>
            <a:ext cx="3143250" cy="16002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14A484BF-5E4A-417C-8C3F-8FBE3791AD45}"/>
              </a:ext>
            </a:extLst>
          </p:cNvPr>
          <p:cNvSpPr>
            <a:spLocks xmlns:a="http://schemas.openxmlformats.org/drawingml/2006/main" noGrp="1"/>
          </p:cNvSpPr>
          <p:nvPr/>
        </p:nvSpPr>
        <p:spPr>
          <a:xfrm xmlns:a="http://schemas.openxmlformats.org/drawingml/2006/main">
            <a:off x="8286750" y="2095500"/>
            <a:ext cx="76200" cy="1600200"/>
          </a:xfrm>
          <a:prstGeom xmlns:a="http://schemas.openxmlformats.org/drawingml/2006/main" prst="rect">
            <a:avLst/>
          </a:prstGeom>
          <a:solidFill xmlns:a="http://schemas.openxmlformats.org/drawingml/2006/main">
            <a:srgbClr val="8E5EA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74958A-B8BD-4F89-8D28-2C01049FEA8F}"/>
              </a:ext>
            </a:extLst>
          </p:cNvPr>
          <p:cNvSpPr>
            <a:spLocks xmlns:a="http://schemas.openxmlformats.org/drawingml/2006/main" noGrp="1"/>
          </p:cNvSpPr>
          <p:nvPr/>
        </p:nvSpPr>
        <p:spPr>
          <a:xfrm xmlns:a="http://schemas.openxmlformats.org/drawingml/2006/main">
            <a:off x="8496300" y="22669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Cubic signal</a:t>
            </a:r>
          </a:p>
        </p:txBody>
      </p:sp>
      <p:sp>
        <p:nvSpPr>
          <p:cNvPr id="15" name="">
            <a:extLst xmlns:a="http://schemas.openxmlformats.org/drawingml/2006/main">
              <a:ext uri="{FF2B5EF4-FFF2-40B4-BE49-F238E27FC236}">
                <a16:creationId xmlns:a16="http://schemas.microsoft.com/office/drawing/2014/main" id="{DF44DE6B-40F4-48AB-9E44-E091C89D7FAF}"/>
              </a:ext>
            </a:extLst>
          </p:cNvPr>
          <p:cNvSpPr>
            <a:spLocks xmlns:a="http://schemas.openxmlformats.org/drawingml/2006/main" noGrp="1"/>
          </p:cNvSpPr>
          <p:nvPr/>
        </p:nvSpPr>
        <p:spPr>
          <a:xfrm xmlns:a="http://schemas.openxmlformats.org/drawingml/2006/main">
            <a:off x="8496300" y="2609850"/>
            <a:ext cx="2743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X has latent Z_x, Y has latent Z_y, with Z_y = standardized(Z_x^3).</a:t>
            </a:r>
          </a:p>
        </p:txBody>
      </p:sp>
      <p:sp>
        <p:nvSpPr>
          <p:cNvPr id="16" name="">
            <a:extLst xmlns:a="http://schemas.openxmlformats.org/drawingml/2006/main">
              <a:ext uri="{FF2B5EF4-FFF2-40B4-BE49-F238E27FC236}">
                <a16:creationId xmlns:a16="http://schemas.microsoft.com/office/drawing/2014/main" id="{0768666F-0129-4E06-9766-A733D861A006}"/>
              </a:ext>
            </a:extLst>
          </p:cNvPr>
          <p:cNvSpPr>
            <a:spLocks xmlns:a="http://schemas.openxmlformats.org/drawingml/2006/main" noGrp="1"/>
          </p:cNvSpPr>
          <p:nvPr/>
        </p:nvSpPr>
        <p:spPr>
          <a:xfrm xmlns:a="http://schemas.openxmlformats.org/drawingml/2006/main">
            <a:off x="742950" y="4286250"/>
            <a:ext cx="48196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CB331E0D-25C9-411F-AA86-3FF065056F28}"/>
              </a:ext>
            </a:extLst>
          </p:cNvPr>
          <p:cNvSpPr>
            <a:spLocks xmlns:a="http://schemas.openxmlformats.org/drawingml/2006/main" noGrp="1"/>
          </p:cNvSpPr>
          <p:nvPr/>
        </p:nvSpPr>
        <p:spPr>
          <a:xfrm xmlns:a="http://schemas.openxmlformats.org/drawingml/2006/main">
            <a:off x="742950" y="4286250"/>
            <a:ext cx="76200" cy="120015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E09F2EE-D622-467B-B64B-7E9AD9065877}"/>
              </a:ext>
            </a:extLst>
          </p:cNvPr>
          <p:cNvSpPr>
            <a:spLocks xmlns:a="http://schemas.openxmlformats.org/drawingml/2006/main" noGrp="1"/>
          </p:cNvSpPr>
          <p:nvPr/>
        </p:nvSpPr>
        <p:spPr>
          <a:xfrm xmlns:a="http://schemas.openxmlformats.org/drawingml/2006/main">
            <a:off x="952500" y="4457700"/>
            <a:ext cx="443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Data scale</a:t>
            </a:r>
          </a:p>
        </p:txBody>
      </p:sp>
      <p:sp>
        <p:nvSpPr>
          <p:cNvPr id="19" name="">
            <a:extLst xmlns:a="http://schemas.openxmlformats.org/drawingml/2006/main">
              <a:ext uri="{FF2B5EF4-FFF2-40B4-BE49-F238E27FC236}">
                <a16:creationId xmlns:a16="http://schemas.microsoft.com/office/drawing/2014/main" id="{3BCFA5ED-D596-4660-A223-225CD03C9E5E}"/>
              </a:ext>
            </a:extLst>
          </p:cNvPr>
          <p:cNvSpPr>
            <a:spLocks xmlns:a="http://schemas.openxmlformats.org/drawingml/2006/main" noGrp="1"/>
          </p:cNvSpPr>
          <p:nvPr/>
        </p:nvSpPr>
        <p:spPr>
          <a:xfrm xmlns:a="http://schemas.openxmlformats.org/drawingml/2006/main">
            <a:off x="952500" y="4800600"/>
            <a:ext cx="4419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Input dimensions: X=128, Y=128</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Train pairs: 160</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Held-out pairs: 800</a:t>
            </a:r>
          </a:p>
        </p:txBody>
      </p:sp>
      <p:sp>
        <p:nvSpPr>
          <p:cNvPr id="20" name="">
            <a:extLst xmlns:a="http://schemas.openxmlformats.org/drawingml/2006/main">
              <a:ext uri="{FF2B5EF4-FFF2-40B4-BE49-F238E27FC236}">
                <a16:creationId xmlns:a16="http://schemas.microsoft.com/office/drawing/2014/main" id="{C30BA59B-65B3-4CD6-BA16-B192CF43204E}"/>
              </a:ext>
            </a:extLst>
          </p:cNvPr>
          <p:cNvSpPr>
            <a:spLocks xmlns:a="http://schemas.openxmlformats.org/drawingml/2006/main" noGrp="1"/>
          </p:cNvSpPr>
          <p:nvPr/>
        </p:nvSpPr>
        <p:spPr>
          <a:xfrm xmlns:a="http://schemas.openxmlformats.org/drawingml/2006/main">
            <a:off x="6172200" y="4286250"/>
            <a:ext cx="48196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F979E41C-C721-45A8-893B-5B0479978B00}"/>
              </a:ext>
            </a:extLst>
          </p:cNvPr>
          <p:cNvSpPr>
            <a:spLocks xmlns:a="http://schemas.openxmlformats.org/drawingml/2006/main" noGrp="1"/>
          </p:cNvSpPr>
          <p:nvPr/>
        </p:nvSpPr>
        <p:spPr>
          <a:xfrm xmlns:a="http://schemas.openxmlformats.org/drawingml/2006/main">
            <a:off x="6172200" y="4286250"/>
            <a:ext cx="76200" cy="1200150"/>
          </a:xfrm>
          <a:prstGeom xmlns:a="http://schemas.openxmlformats.org/drawingml/2006/main" prst="rect">
            <a:avLst/>
          </a:prstGeom>
          <a:solidFill xmlns:a="http://schemas.openxmlformats.org/drawingml/2006/main">
            <a:srgbClr val="2F8F5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CA24F7F-4FA6-4107-9CC6-BE5AB3209B03}"/>
              </a:ext>
            </a:extLst>
          </p:cNvPr>
          <p:cNvSpPr>
            <a:spLocks xmlns:a="http://schemas.openxmlformats.org/drawingml/2006/main" noGrp="1"/>
          </p:cNvSpPr>
          <p:nvPr/>
        </p:nvSpPr>
        <p:spPr>
          <a:xfrm xmlns:a="http://schemas.openxmlformats.org/drawingml/2006/main">
            <a:off x="6381750" y="4457700"/>
            <a:ext cx="443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Signal/noise setting</a:t>
            </a:r>
          </a:p>
        </p:txBody>
      </p:sp>
      <p:sp>
        <p:nvSpPr>
          <p:cNvPr id="23" name="">
            <a:extLst xmlns:a="http://schemas.openxmlformats.org/drawingml/2006/main">
              <a:ext uri="{FF2B5EF4-FFF2-40B4-BE49-F238E27FC236}">
                <a16:creationId xmlns:a16="http://schemas.microsoft.com/office/drawing/2014/main" id="{B549AD6F-3E29-41AA-8742-CCAE7DADD696}"/>
              </a:ext>
            </a:extLst>
          </p:cNvPr>
          <p:cNvSpPr>
            <a:spLocks xmlns:a="http://schemas.openxmlformats.org/drawingml/2006/main" noGrp="1"/>
          </p:cNvSpPr>
          <p:nvPr/>
        </p:nvSpPr>
        <p:spPr>
          <a:xfrm xmlns:a="http://schemas.openxmlformats.org/drawingml/2006/main">
            <a:off x="6381750" y="4800600"/>
            <a:ext cx="4419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Latent dimension: 1</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Signal strength: 2.0</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Noise std: 1.0</a:t>
            </a:r>
          </a:p>
        </p:txBody>
      </p:sp>
      <p:sp>
        <p:nvSpPr>
          <p:cNvPr id="24" name="">
            <a:extLst xmlns:a="http://schemas.openxmlformats.org/drawingml/2006/main">
              <a:ext uri="{FF2B5EF4-FFF2-40B4-BE49-F238E27FC236}">
                <a16:creationId xmlns:a16="http://schemas.microsoft.com/office/drawing/2014/main" id="{8AE36383-5737-4834-9901-54B75C079CE2}"/>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2/12</a:t>
            </a:r>
          </a:p>
        </p:txBody>
      </p:sp>
    </p:spTree>
    <p:extLst>
      <p:ext uri="{BB962C8B-B14F-4D97-AF65-F5344CB8AC3E}">
        <p14:creationId xmlns:p14="http://schemas.microsoft.com/office/powerpoint/2010/main" val="41228127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CCB78E-A33C-4042-B2EF-43975C3DF2D9}"/>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MODEL ARCHITECTURE</a:t>
            </a:r>
          </a:p>
        </p:txBody>
      </p:sp>
      <p:sp>
        <p:nvSpPr>
          <p:cNvPr id="2" name="">
            <a:extLst xmlns:a="http://schemas.openxmlformats.org/drawingml/2006/main">
              <a:ext uri="{FF2B5EF4-FFF2-40B4-BE49-F238E27FC236}">
                <a16:creationId xmlns:a16="http://schemas.microsoft.com/office/drawing/2014/main" id="{4EF7228B-B2B6-42A3-82E5-AB23F0F6216E}"/>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Linear backbone plus controlled nonlinear correction</a:t>
            </a:r>
          </a:p>
        </p:txBody>
      </p:sp>
      <p:sp>
        <p:nvSpPr>
          <p:cNvPr id="3" name="">
            <a:extLst xmlns:a="http://schemas.openxmlformats.org/drawingml/2006/main">
              <a:ext uri="{FF2B5EF4-FFF2-40B4-BE49-F238E27FC236}">
                <a16:creationId xmlns:a16="http://schemas.microsoft.com/office/drawing/2014/main" id="{6BD283B9-7AD4-4469-AB56-91147C1F4DE9}"/>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Both views use matched encoder families; residual models use normalized branches so alpha has a meaningful scale.</a:t>
            </a:r>
          </a:p>
        </p:txBody>
      </p:sp>
      <p:sp>
        <p:nvSpPr>
          <p:cNvPr id="4" name="">
            <a:extLst xmlns:a="http://schemas.openxmlformats.org/drawingml/2006/main">
              <a:ext uri="{FF2B5EF4-FFF2-40B4-BE49-F238E27FC236}">
                <a16:creationId xmlns:a16="http://schemas.microsoft.com/office/drawing/2014/main" id="{640C1BB8-E205-4F98-8400-990B62C65415}"/>
              </a:ext>
            </a:extLst>
          </p:cNvPr>
          <p:cNvSpPr>
            <a:spLocks xmlns:a="http://schemas.openxmlformats.org/drawingml/2006/main" noGrp="1"/>
          </p:cNvSpPr>
          <p:nvPr/>
        </p:nvSpPr>
        <p:spPr>
          <a:xfrm xmlns:a="http://schemas.openxmlformats.org/drawingml/2006/main">
            <a:off x="742950" y="20764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650" b="1">
                <a:solidFill>
                  <a:srgbClr val="17212B"/>
                </a:solidFill>
                <a:latin typeface="Aptos"/>
                <a:ea typeface="Aptos"/>
                <a:cs typeface="Aptos"/>
              </a:defRPr>
            </a:pPr>
            <a:r>
              <a:rPr sz="1650" b="1">
                <a:solidFill>
                  <a:srgbClr val="17212B"/>
                </a:solidFill>
                <a:latin typeface="Aptos"/>
                <a:ea typeface="Aptos"/>
                <a:cs typeface="Aptos"/>
              </a:rPr>
              <a:t>Pure linear encoder</a:t>
            </a:r>
          </a:p>
        </p:txBody>
      </p:sp>
      <p:sp>
        <p:nvSpPr>
          <p:cNvPr id="5" name="">
            <a:extLst xmlns:a="http://schemas.openxmlformats.org/drawingml/2006/main">
              <a:ext uri="{FF2B5EF4-FFF2-40B4-BE49-F238E27FC236}">
                <a16:creationId xmlns:a16="http://schemas.microsoft.com/office/drawing/2014/main" id="{464B6858-ED39-4A46-8642-390A42D28A89}"/>
              </a:ext>
            </a:extLst>
          </p:cNvPr>
          <p:cNvSpPr>
            <a:spLocks xmlns:a="http://schemas.openxmlformats.org/drawingml/2006/main" noGrp="1"/>
          </p:cNvSpPr>
          <p:nvPr/>
        </p:nvSpPr>
        <p:spPr>
          <a:xfrm xmlns:a="http://schemas.openxmlformats.org/drawingml/2006/main">
            <a:off x="762000" y="2724150"/>
            <a:ext cx="1200150" cy="552450"/>
          </a:xfrm>
          <a:prstGeom xmlns:a="http://schemas.openxmlformats.org/drawingml/2006/main" prst="roundRect">
            <a:avLst>
              <a:gd name="adj" fmla="val 24138"/>
            </a:avLst>
          </a:prstGeom>
          <a:solidFill xmlns:a="http://schemas.openxmlformats.org/drawingml/2006/main">
            <a:srgbClr val="2F6B9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input 128</a:t>
            </a:r>
          </a:p>
        </p:txBody>
      </p:sp>
      <p:sp>
        <p:nvSpPr>
          <p:cNvPr id="6" name="">
            <a:extLst xmlns:a="http://schemas.openxmlformats.org/drawingml/2006/main">
              <a:ext uri="{FF2B5EF4-FFF2-40B4-BE49-F238E27FC236}">
                <a16:creationId xmlns:a16="http://schemas.microsoft.com/office/drawing/2014/main" id="{B128D873-5794-4197-9E4A-280BCB0FD579}"/>
              </a:ext>
            </a:extLst>
          </p:cNvPr>
          <p:cNvSpPr>
            <a:spLocks xmlns:a="http://schemas.openxmlformats.org/drawingml/2006/main" noGrp="1"/>
          </p:cNvSpPr>
          <p:nvPr/>
        </p:nvSpPr>
        <p:spPr>
          <a:xfrm xmlns:a="http://schemas.openxmlformats.org/drawingml/2006/main">
            <a:off x="2533650" y="2724150"/>
            <a:ext cx="838200" cy="552450"/>
          </a:xfrm>
          <a:prstGeom xmlns:a="http://schemas.openxmlformats.org/drawingml/2006/main" prst="roundRect">
            <a:avLst>
              <a:gd name="adj" fmla="val 24138"/>
            </a:avLst>
          </a:prstGeom>
          <a:solidFill xmlns:a="http://schemas.openxmlformats.org/drawingml/2006/main">
            <a:srgbClr val="4C9DA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G</a:t>
            </a:r>
          </a:p>
        </p:txBody>
      </p:sp>
      <p:sp>
        <p:nvSpPr>
          <p:cNvPr id="7" name="">
            <a:extLst xmlns:a="http://schemas.openxmlformats.org/drawingml/2006/main">
              <a:ext uri="{FF2B5EF4-FFF2-40B4-BE49-F238E27FC236}">
                <a16:creationId xmlns:a16="http://schemas.microsoft.com/office/drawing/2014/main" id="{12B295AA-7C89-4448-A4EC-DD5CADDA6F96}"/>
              </a:ext>
            </a:extLst>
          </p:cNvPr>
          <p:cNvSpPr>
            <a:spLocks xmlns:a="http://schemas.openxmlformats.org/drawingml/2006/main" noGrp="1"/>
          </p:cNvSpPr>
          <p:nvPr/>
        </p:nvSpPr>
        <p:spPr>
          <a:xfrm xmlns:a="http://schemas.openxmlformats.org/drawingml/2006/main">
            <a:off x="3943350" y="2724150"/>
            <a:ext cx="1352550" cy="552450"/>
          </a:xfrm>
          <a:prstGeom xmlns:a="http://schemas.openxmlformats.org/drawingml/2006/main" prst="roundRect">
            <a:avLst>
              <a:gd name="adj" fmla="val 24138"/>
            </a:avLst>
          </a:prstGeom>
          <a:solidFill xmlns:a="http://schemas.openxmlformats.org/drawingml/2006/main">
            <a:srgbClr val="2F8F5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embedding 4</a:t>
            </a:r>
          </a:p>
        </p:txBody>
      </p:sp>
      <p:sp>
        <p:nvSpPr>
          <p:cNvPr id="8" name="">
            <a:extLst xmlns:a="http://schemas.openxmlformats.org/drawingml/2006/main">
              <a:ext uri="{FF2B5EF4-FFF2-40B4-BE49-F238E27FC236}">
                <a16:creationId xmlns:a16="http://schemas.microsoft.com/office/drawing/2014/main" id="{19F6893C-2261-4D98-8D55-5DF221E8C780}"/>
              </a:ext>
            </a:extLst>
          </p:cNvPr>
          <p:cNvSpPr>
            <a:spLocks xmlns:a="http://schemas.openxmlformats.org/drawingml/2006/main" noGrp="1"/>
          </p:cNvSpPr>
          <p:nvPr/>
        </p:nvSpPr>
        <p:spPr>
          <a:xfrm xmlns:a="http://schemas.openxmlformats.org/drawingml/2006/main">
            <a:off x="1962150" y="3000375"/>
            <a:ext cx="571500" cy="0"/>
          </a:xfrm>
          <a:prstGeom xmlns:a="http://schemas.openxmlformats.org/drawingml/2006/main" prst="line">
            <a:avLst/>
          </a:prstGeom>
          <a:noFill xmlns:a="http://schemas.openxmlformats.org/drawingml/2006/main"/>
          <a:ln xmlns:a="http://schemas.openxmlformats.org/drawingml/2006/main" w="19050">
            <a:solidFill>
              <a:srgbClr val="5A6875"/>
            </a:solidFill>
            <a:prstDash val="solid"/>
          </a:ln>
        </p:spPr>
      </p:sp>
      <p:sp>
        <p:nvSpPr>
          <p:cNvPr id="9" name="">
            <a:extLst xmlns:a="http://schemas.openxmlformats.org/drawingml/2006/main">
              <a:ext uri="{FF2B5EF4-FFF2-40B4-BE49-F238E27FC236}">
                <a16:creationId xmlns:a16="http://schemas.microsoft.com/office/drawing/2014/main" id="{EA525974-6FDC-4923-98F0-ED6792AC003F}"/>
              </a:ext>
            </a:extLst>
          </p:cNvPr>
          <p:cNvSpPr>
            <a:spLocks xmlns:a="http://schemas.openxmlformats.org/drawingml/2006/main" noGrp="1"/>
          </p:cNvSpPr>
          <p:nvPr/>
        </p:nvSpPr>
        <p:spPr>
          <a:xfrm xmlns:a="http://schemas.openxmlformats.org/drawingml/2006/main">
            <a:off x="3371850" y="3000375"/>
            <a:ext cx="571500" cy="0"/>
          </a:xfrm>
          <a:prstGeom xmlns:a="http://schemas.openxmlformats.org/drawingml/2006/main" prst="line">
            <a:avLst/>
          </a:prstGeom>
          <a:noFill xmlns:a="http://schemas.openxmlformats.org/drawingml/2006/main"/>
          <a:ln xmlns:a="http://schemas.openxmlformats.org/drawingml/2006/main" w="19050">
            <a:solidFill>
              <a:srgbClr val="5A6875"/>
            </a:solidFill>
            <a:prstDash val="solid"/>
          </a:ln>
        </p:spPr>
      </p:sp>
      <p:sp>
        <p:nvSpPr>
          <p:cNvPr id="10" name="">
            <a:extLst xmlns:a="http://schemas.openxmlformats.org/drawingml/2006/main">
              <a:ext uri="{FF2B5EF4-FFF2-40B4-BE49-F238E27FC236}">
                <a16:creationId xmlns:a16="http://schemas.microsoft.com/office/drawing/2014/main" id="{26ED3596-CD7C-4BA8-B6FE-8A61F7E86026}"/>
              </a:ext>
            </a:extLst>
          </p:cNvPr>
          <p:cNvSpPr>
            <a:spLocks xmlns:a="http://schemas.openxmlformats.org/drawingml/2006/main" noGrp="1"/>
          </p:cNvSpPr>
          <p:nvPr/>
        </p:nvSpPr>
        <p:spPr>
          <a:xfrm xmlns:a="http://schemas.openxmlformats.org/drawingml/2006/main">
            <a:off x="819150" y="3581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500" b="1">
                <a:solidFill>
                  <a:srgbClr val="2F6B9A"/>
                </a:solidFill>
                <a:latin typeface="Aptos"/>
                <a:ea typeface="Aptos"/>
                <a:cs typeface="Aptos"/>
              </a:defRPr>
            </a:pPr>
            <a:r>
              <a:rPr sz="1500" b="1">
                <a:solidFill>
                  <a:srgbClr val="2F6B9A"/>
                </a:solidFill>
                <a:latin typeface="Aptos"/>
                <a:ea typeface="Aptos"/>
                <a:cs typeface="Aptos"/>
              </a:rPr>
              <a:t>g(u) = Normalize(G u)</a:t>
            </a:r>
          </a:p>
        </p:txBody>
      </p:sp>
      <p:sp>
        <p:nvSpPr>
          <p:cNvPr id="11" name="">
            <a:extLst xmlns:a="http://schemas.openxmlformats.org/drawingml/2006/main">
              <a:ext uri="{FF2B5EF4-FFF2-40B4-BE49-F238E27FC236}">
                <a16:creationId xmlns:a16="http://schemas.microsoft.com/office/drawing/2014/main" id="{C403628B-970D-41C9-883A-B162010A6CEB}"/>
              </a:ext>
            </a:extLst>
          </p:cNvPr>
          <p:cNvSpPr>
            <a:spLocks xmlns:a="http://schemas.openxmlformats.org/drawingml/2006/main" noGrp="1"/>
          </p:cNvSpPr>
          <p:nvPr/>
        </p:nvSpPr>
        <p:spPr>
          <a:xfrm xmlns:a="http://schemas.openxmlformats.org/drawingml/2006/main">
            <a:off x="6172200" y="2076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650" b="1">
                <a:solidFill>
                  <a:srgbClr val="17212B"/>
                </a:solidFill>
                <a:latin typeface="Aptos"/>
                <a:ea typeface="Aptos"/>
                <a:cs typeface="Aptos"/>
              </a:defRPr>
            </a:pPr>
            <a:r>
              <a:rPr sz="1650" b="1">
                <a:solidFill>
                  <a:srgbClr val="17212B"/>
                </a:solidFill>
                <a:latin typeface="Aptos"/>
                <a:ea typeface="Aptos"/>
                <a:cs typeface="Aptos"/>
              </a:rPr>
              <a:t>Residual nonlinear encoder</a:t>
            </a:r>
          </a:p>
        </p:txBody>
      </p:sp>
      <p:sp>
        <p:nvSpPr>
          <p:cNvPr id="12" name="">
            <a:extLst xmlns:a="http://schemas.openxmlformats.org/drawingml/2006/main">
              <a:ext uri="{FF2B5EF4-FFF2-40B4-BE49-F238E27FC236}">
                <a16:creationId xmlns:a16="http://schemas.microsoft.com/office/drawing/2014/main" id="{DF36E67A-6710-4E8F-A703-A83BB059E807}"/>
              </a:ext>
            </a:extLst>
          </p:cNvPr>
          <p:cNvSpPr>
            <a:spLocks xmlns:a="http://schemas.openxmlformats.org/drawingml/2006/main" noGrp="1"/>
          </p:cNvSpPr>
          <p:nvPr/>
        </p:nvSpPr>
        <p:spPr>
          <a:xfrm xmlns:a="http://schemas.openxmlformats.org/drawingml/2006/main">
            <a:off x="6191250" y="2724150"/>
            <a:ext cx="1200150" cy="552450"/>
          </a:xfrm>
          <a:prstGeom xmlns:a="http://schemas.openxmlformats.org/drawingml/2006/main" prst="roundRect">
            <a:avLst>
              <a:gd name="adj" fmla="val 24138"/>
            </a:avLst>
          </a:prstGeom>
          <a:solidFill xmlns:a="http://schemas.openxmlformats.org/drawingml/2006/main">
            <a:srgbClr val="2F6B9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input 128</a:t>
            </a:r>
          </a:p>
        </p:txBody>
      </p:sp>
      <p:sp>
        <p:nvSpPr>
          <p:cNvPr id="13" name="">
            <a:extLst xmlns:a="http://schemas.openxmlformats.org/drawingml/2006/main">
              <a:ext uri="{FF2B5EF4-FFF2-40B4-BE49-F238E27FC236}">
                <a16:creationId xmlns:a16="http://schemas.microsoft.com/office/drawing/2014/main" id="{B31EBBD5-DD4F-4A0F-8016-F04F5BAB705B}"/>
              </a:ext>
            </a:extLst>
          </p:cNvPr>
          <p:cNvSpPr>
            <a:spLocks xmlns:a="http://schemas.openxmlformats.org/drawingml/2006/main" noGrp="1"/>
          </p:cNvSpPr>
          <p:nvPr/>
        </p:nvSpPr>
        <p:spPr>
          <a:xfrm xmlns:a="http://schemas.openxmlformats.org/drawingml/2006/main">
            <a:off x="7867650" y="2419350"/>
            <a:ext cx="1581150" cy="552450"/>
          </a:xfrm>
          <a:prstGeom xmlns:a="http://schemas.openxmlformats.org/drawingml/2006/main" prst="roundRect">
            <a:avLst>
              <a:gd name="adj" fmla="val 24138"/>
            </a:avLst>
          </a:prstGeom>
          <a:solidFill xmlns:a="http://schemas.openxmlformats.org/drawingml/2006/main">
            <a:srgbClr val="8E5EA2"/>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A2: 128 -&gt; 16</a:t>
            </a:r>
          </a:p>
        </p:txBody>
      </p:sp>
      <p:sp>
        <p:nvSpPr>
          <p:cNvPr id="14" name="">
            <a:extLst xmlns:a="http://schemas.openxmlformats.org/drawingml/2006/main">
              <a:ext uri="{FF2B5EF4-FFF2-40B4-BE49-F238E27FC236}">
                <a16:creationId xmlns:a16="http://schemas.microsoft.com/office/drawing/2014/main" id="{6A8CE0F6-867C-49EF-A83D-7296DFAF9864}"/>
              </a:ext>
            </a:extLst>
          </p:cNvPr>
          <p:cNvSpPr>
            <a:spLocks xmlns:a="http://schemas.openxmlformats.org/drawingml/2006/main" noGrp="1"/>
          </p:cNvSpPr>
          <p:nvPr/>
        </p:nvSpPr>
        <p:spPr>
          <a:xfrm xmlns:a="http://schemas.openxmlformats.org/drawingml/2006/main">
            <a:off x="7867650" y="3333750"/>
            <a:ext cx="742950" cy="552450"/>
          </a:xfrm>
          <a:prstGeom xmlns:a="http://schemas.openxmlformats.org/drawingml/2006/main" prst="roundRect">
            <a:avLst>
              <a:gd name="adj" fmla="val 24138"/>
            </a:avLst>
          </a:prstGeom>
          <a:solidFill xmlns:a="http://schemas.openxmlformats.org/drawingml/2006/main">
            <a:srgbClr val="4C9DA8"/>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G</a:t>
            </a:r>
          </a:p>
        </p:txBody>
      </p:sp>
      <p:sp>
        <p:nvSpPr>
          <p:cNvPr id="15" name="">
            <a:extLst xmlns:a="http://schemas.openxmlformats.org/drawingml/2006/main">
              <a:ext uri="{FF2B5EF4-FFF2-40B4-BE49-F238E27FC236}">
                <a16:creationId xmlns:a16="http://schemas.microsoft.com/office/drawing/2014/main" id="{7B9B41FA-145A-4EEB-A770-8185F733325B}"/>
              </a:ext>
            </a:extLst>
          </p:cNvPr>
          <p:cNvSpPr>
            <a:spLocks xmlns:a="http://schemas.openxmlformats.org/drawingml/2006/main" noGrp="1"/>
          </p:cNvSpPr>
          <p:nvPr/>
        </p:nvSpPr>
        <p:spPr>
          <a:xfrm xmlns:a="http://schemas.openxmlformats.org/drawingml/2006/main">
            <a:off x="9925050" y="2419350"/>
            <a:ext cx="876300" cy="552450"/>
          </a:xfrm>
          <a:prstGeom xmlns:a="http://schemas.openxmlformats.org/drawingml/2006/main" prst="roundRect">
            <a:avLst>
              <a:gd name="adj" fmla="val 24138"/>
            </a:avLst>
          </a:prstGeom>
          <a:solidFill xmlns:a="http://schemas.openxmlformats.org/drawingml/2006/main">
            <a:srgbClr val="D66B2A"/>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GELU</a:t>
            </a:r>
          </a:p>
        </p:txBody>
      </p:sp>
      <p:sp>
        <p:nvSpPr>
          <p:cNvPr id="16" name="">
            <a:extLst xmlns:a="http://schemas.openxmlformats.org/drawingml/2006/main">
              <a:ext uri="{FF2B5EF4-FFF2-40B4-BE49-F238E27FC236}">
                <a16:creationId xmlns:a16="http://schemas.microsoft.com/office/drawing/2014/main" id="{D4BDD014-0D6F-4D6E-B0B5-ACA296534919}"/>
              </a:ext>
            </a:extLst>
          </p:cNvPr>
          <p:cNvSpPr>
            <a:spLocks xmlns:a="http://schemas.openxmlformats.org/drawingml/2006/main" noGrp="1"/>
          </p:cNvSpPr>
          <p:nvPr/>
        </p:nvSpPr>
        <p:spPr>
          <a:xfrm xmlns:a="http://schemas.openxmlformats.org/drawingml/2006/main">
            <a:off x="9925050" y="3333750"/>
            <a:ext cx="1390650" cy="552450"/>
          </a:xfrm>
          <a:prstGeom xmlns:a="http://schemas.openxmlformats.org/drawingml/2006/main" prst="roundRect">
            <a:avLst>
              <a:gd name="adj" fmla="val 24138"/>
            </a:avLst>
          </a:prstGeom>
          <a:solidFill xmlns:a="http://schemas.openxmlformats.org/drawingml/2006/main">
            <a:srgbClr val="2F8F5B"/>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A1: 16 -&gt; 4</a:t>
            </a:r>
          </a:p>
        </p:txBody>
      </p:sp>
      <p:sp>
        <p:nvSpPr>
          <p:cNvPr id="17" name="">
            <a:extLst xmlns:a="http://schemas.openxmlformats.org/drawingml/2006/main">
              <a:ext uri="{FF2B5EF4-FFF2-40B4-BE49-F238E27FC236}">
                <a16:creationId xmlns:a16="http://schemas.microsoft.com/office/drawing/2014/main" id="{324814AC-EA96-44D3-8BD8-9EB2CBA279F7}"/>
              </a:ext>
            </a:extLst>
          </p:cNvPr>
          <p:cNvSpPr>
            <a:spLocks xmlns:a="http://schemas.openxmlformats.org/drawingml/2006/main" noGrp="1"/>
          </p:cNvSpPr>
          <p:nvPr/>
        </p:nvSpPr>
        <p:spPr>
          <a:xfrm xmlns:a="http://schemas.openxmlformats.org/drawingml/2006/main">
            <a:off x="7391400" y="3000375"/>
            <a:ext cx="476250" cy="-304800"/>
          </a:xfrm>
          <a:prstGeom xmlns:a="http://schemas.openxmlformats.org/drawingml/2006/main" prst="line">
            <a:avLst/>
          </a:prstGeom>
          <a:noFill xmlns:a="http://schemas.openxmlformats.org/drawingml/2006/main"/>
          <a:ln xmlns:a="http://schemas.openxmlformats.org/drawingml/2006/main" w="19050">
            <a:solidFill>
              <a:srgbClr val="5A6875"/>
            </a:solidFill>
            <a:prstDash val="solid"/>
          </a:ln>
        </p:spPr>
      </p:sp>
      <p:sp>
        <p:nvSpPr>
          <p:cNvPr id="18" name="">
            <a:extLst xmlns:a="http://schemas.openxmlformats.org/drawingml/2006/main">
              <a:ext uri="{FF2B5EF4-FFF2-40B4-BE49-F238E27FC236}">
                <a16:creationId xmlns:a16="http://schemas.microsoft.com/office/drawing/2014/main" id="{BFA2ACF2-3CDC-4F5A-BEA1-A7746292DD42}"/>
              </a:ext>
            </a:extLst>
          </p:cNvPr>
          <p:cNvSpPr>
            <a:spLocks xmlns:a="http://schemas.openxmlformats.org/drawingml/2006/main" noGrp="1"/>
          </p:cNvSpPr>
          <p:nvPr/>
        </p:nvSpPr>
        <p:spPr>
          <a:xfrm xmlns:a="http://schemas.openxmlformats.org/drawingml/2006/main">
            <a:off x="7391400" y="3000375"/>
            <a:ext cx="476250" cy="609600"/>
          </a:xfrm>
          <a:prstGeom xmlns:a="http://schemas.openxmlformats.org/drawingml/2006/main" prst="line">
            <a:avLst/>
          </a:prstGeom>
          <a:noFill xmlns:a="http://schemas.openxmlformats.org/drawingml/2006/main"/>
          <a:ln xmlns:a="http://schemas.openxmlformats.org/drawingml/2006/main" w="19050">
            <a:solidFill>
              <a:srgbClr val="5A6875"/>
            </a:solidFill>
            <a:prstDash val="solid"/>
          </a:ln>
        </p:spPr>
      </p:sp>
      <p:sp>
        <p:nvSpPr>
          <p:cNvPr id="19" name="">
            <a:extLst xmlns:a="http://schemas.openxmlformats.org/drawingml/2006/main">
              <a:ext uri="{FF2B5EF4-FFF2-40B4-BE49-F238E27FC236}">
                <a16:creationId xmlns:a16="http://schemas.microsoft.com/office/drawing/2014/main" id="{C0101D5C-DBF6-4A28-8A72-4DE30E5A5C13}"/>
              </a:ext>
            </a:extLst>
          </p:cNvPr>
          <p:cNvSpPr>
            <a:spLocks xmlns:a="http://schemas.openxmlformats.org/drawingml/2006/main" noGrp="1"/>
          </p:cNvSpPr>
          <p:nvPr/>
        </p:nvSpPr>
        <p:spPr>
          <a:xfrm xmlns:a="http://schemas.openxmlformats.org/drawingml/2006/main">
            <a:off x="9448800" y="2695575"/>
            <a:ext cx="476250" cy="0"/>
          </a:xfrm>
          <a:prstGeom xmlns:a="http://schemas.openxmlformats.org/drawingml/2006/main" prst="line">
            <a:avLst/>
          </a:prstGeom>
          <a:noFill xmlns:a="http://schemas.openxmlformats.org/drawingml/2006/main"/>
          <a:ln xmlns:a="http://schemas.openxmlformats.org/drawingml/2006/main" w="19050">
            <a:solidFill>
              <a:srgbClr val="5A6875"/>
            </a:solidFill>
            <a:prstDash val="solid"/>
          </a:ln>
        </p:spPr>
      </p:sp>
      <p:sp>
        <p:nvSpPr>
          <p:cNvPr id="20" name="">
            <a:extLst xmlns:a="http://schemas.openxmlformats.org/drawingml/2006/main">
              <a:ext uri="{FF2B5EF4-FFF2-40B4-BE49-F238E27FC236}">
                <a16:creationId xmlns:a16="http://schemas.microsoft.com/office/drawing/2014/main" id="{81C327DB-62A7-417B-A0B9-752E6A5DFFAD}"/>
              </a:ext>
            </a:extLst>
          </p:cNvPr>
          <p:cNvSpPr>
            <a:spLocks xmlns:a="http://schemas.openxmlformats.org/drawingml/2006/main" noGrp="1"/>
          </p:cNvSpPr>
          <p:nvPr/>
        </p:nvSpPr>
        <p:spPr>
          <a:xfrm xmlns:a="http://schemas.openxmlformats.org/drawingml/2006/main">
            <a:off x="10801350" y="2695575"/>
            <a:ext cx="-180975" cy="638175"/>
          </a:xfrm>
          <a:prstGeom xmlns:a="http://schemas.openxmlformats.org/drawingml/2006/main" prst="line">
            <a:avLst/>
          </a:prstGeom>
          <a:noFill xmlns:a="http://schemas.openxmlformats.org/drawingml/2006/main"/>
          <a:ln xmlns:a="http://schemas.openxmlformats.org/drawingml/2006/main" w="19050">
            <a:solidFill>
              <a:srgbClr val="5A6875"/>
            </a:solidFill>
            <a:prstDash val="solid"/>
          </a:ln>
        </p:spPr>
      </p:sp>
      <p:sp>
        <p:nvSpPr>
          <p:cNvPr id="21" name="">
            <a:extLst xmlns:a="http://schemas.openxmlformats.org/drawingml/2006/main">
              <a:ext uri="{FF2B5EF4-FFF2-40B4-BE49-F238E27FC236}">
                <a16:creationId xmlns:a16="http://schemas.microsoft.com/office/drawing/2014/main" id="{CE7B4232-BF19-414B-BDCE-BC94355D31D9}"/>
              </a:ext>
            </a:extLst>
          </p:cNvPr>
          <p:cNvSpPr>
            <a:spLocks xmlns:a="http://schemas.openxmlformats.org/drawingml/2006/main" noGrp="1"/>
          </p:cNvSpPr>
          <p:nvPr/>
        </p:nvSpPr>
        <p:spPr>
          <a:xfrm xmlns:a="http://schemas.openxmlformats.org/drawingml/2006/main">
            <a:off x="6191250" y="4267200"/>
            <a:ext cx="5334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1">
                <a:solidFill>
                  <a:srgbClr val="8E5EA2"/>
                </a:solidFill>
                <a:latin typeface="Aptos"/>
                <a:ea typeface="Aptos"/>
                <a:cs typeface="Aptos"/>
              </a:defRPr>
            </a:pPr>
            <a:r>
              <a:rPr sz="1275" b="1">
                <a:solidFill>
                  <a:srgbClr val="8E5EA2"/>
                </a:solidFill>
                <a:latin typeface="Aptos"/>
                <a:ea typeface="Aptos"/>
                <a:cs typeface="Aptos"/>
              </a:rPr>
              <a:t>g(u) = Normalize(G u) + alpha * Normalize(A1 GELU(A2 u + b))</a:t>
            </a:r>
          </a:p>
        </p:txBody>
      </p:sp>
      <p:sp>
        <p:nvSpPr>
          <p:cNvPr id="22" name="">
            <a:extLst xmlns:a="http://schemas.openxmlformats.org/drawingml/2006/main">
              <a:ext uri="{FF2B5EF4-FFF2-40B4-BE49-F238E27FC236}">
                <a16:creationId xmlns:a16="http://schemas.microsoft.com/office/drawing/2014/main" id="{340A2093-E6C0-45D8-8FE8-36D3413FB9E0}"/>
              </a:ext>
            </a:extLst>
          </p:cNvPr>
          <p:cNvSpPr>
            <a:spLocks xmlns:a="http://schemas.openxmlformats.org/drawingml/2006/main" noGrp="1"/>
          </p:cNvSpPr>
          <p:nvPr/>
        </p:nvSpPr>
        <p:spPr>
          <a:xfrm xmlns:a="http://schemas.openxmlformats.org/drawingml/2006/main">
            <a:off x="742950" y="5105400"/>
            <a:ext cx="10191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61CF0D5C-6C92-4339-B6F2-8079E5BF5137}"/>
              </a:ext>
            </a:extLst>
          </p:cNvPr>
          <p:cNvSpPr>
            <a:spLocks xmlns:a="http://schemas.openxmlformats.org/drawingml/2006/main" noGrp="1"/>
          </p:cNvSpPr>
          <p:nvPr/>
        </p:nvSpPr>
        <p:spPr>
          <a:xfrm xmlns:a="http://schemas.openxmlformats.org/drawingml/2006/main">
            <a:off x="742950" y="5105400"/>
            <a:ext cx="76200" cy="72390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D73C662-D531-434D-90F1-8C98489BFF32}"/>
              </a:ext>
            </a:extLst>
          </p:cNvPr>
          <p:cNvSpPr>
            <a:spLocks xmlns:a="http://schemas.openxmlformats.org/drawingml/2006/main" noGrp="1"/>
          </p:cNvSpPr>
          <p:nvPr/>
        </p:nvSpPr>
        <p:spPr>
          <a:xfrm xmlns:a="http://schemas.openxmlformats.org/drawingml/2006/main">
            <a:off x="952500" y="527685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Current MLP size</a:t>
            </a:r>
          </a:p>
        </p:txBody>
      </p:sp>
      <p:sp>
        <p:nvSpPr>
          <p:cNvPr id="25" name="">
            <a:extLst xmlns:a="http://schemas.openxmlformats.org/drawingml/2006/main">
              <a:ext uri="{FF2B5EF4-FFF2-40B4-BE49-F238E27FC236}">
                <a16:creationId xmlns:a16="http://schemas.microsoft.com/office/drawing/2014/main" id="{E1F640A9-21A8-4D24-8035-AD2C81C78D5A}"/>
              </a:ext>
            </a:extLst>
          </p:cNvPr>
          <p:cNvSpPr>
            <a:spLocks xmlns:a="http://schemas.openxmlformats.org/drawingml/2006/main" noGrp="1"/>
          </p:cNvSpPr>
          <p:nvPr/>
        </p:nvSpPr>
        <p:spPr>
          <a:xfrm xmlns:a="http://schemas.openxmlformats.org/drawingml/2006/main">
            <a:off x="952500" y="5619750"/>
            <a:ext cx="97917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Each nonlinear encoder uses one hidden layer: 128 -&gt; 16 -&gt; 4. Embedding dimension is fixed at 4.</a:t>
            </a:r>
          </a:p>
        </p:txBody>
      </p:sp>
      <p:sp>
        <p:nvSpPr>
          <p:cNvPr id="26" name="">
            <a:extLst xmlns:a="http://schemas.openxmlformats.org/drawingml/2006/main">
              <a:ext uri="{FF2B5EF4-FFF2-40B4-BE49-F238E27FC236}">
                <a16:creationId xmlns:a16="http://schemas.microsoft.com/office/drawing/2014/main" id="{006FE610-FA90-4230-B087-1CCACF69E499}"/>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3/12</a:t>
            </a:r>
          </a:p>
        </p:txBody>
      </p:sp>
    </p:spTree>
    <p:extLst>
      <p:ext uri="{BB962C8B-B14F-4D97-AF65-F5344CB8AC3E}">
        <p14:creationId xmlns:p14="http://schemas.microsoft.com/office/powerpoint/2010/main" val="476577148"/>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94372C-129E-4C15-88B3-566139C54142}"/>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OBJECTIVE</a:t>
            </a:r>
          </a:p>
        </p:txBody>
      </p:sp>
      <p:sp>
        <p:nvSpPr>
          <p:cNvPr id="2" name="">
            <a:extLst xmlns:a="http://schemas.openxmlformats.org/drawingml/2006/main">
              <a:ext uri="{FF2B5EF4-FFF2-40B4-BE49-F238E27FC236}">
                <a16:creationId xmlns:a16="http://schemas.microsoft.com/office/drawing/2014/main" id="{16DAF6DA-EF64-462B-ADEA-EF596710DD5F}"/>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Paper contrastive loss with optional penalties</a:t>
            </a:r>
          </a:p>
        </p:txBody>
      </p:sp>
      <p:sp>
        <p:nvSpPr>
          <p:cNvPr id="3" name="">
            <a:extLst xmlns:a="http://schemas.openxmlformats.org/drawingml/2006/main">
              <a:ext uri="{FF2B5EF4-FFF2-40B4-BE49-F238E27FC236}">
                <a16:creationId xmlns:a16="http://schemas.microsoft.com/office/drawing/2014/main" id="{D3C00C6D-3A87-462D-AA8C-6086229E5951}"/>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All model families use the same objective; differences come from architecture and regularization.</a:t>
            </a:r>
          </a:p>
        </p:txBody>
      </p:sp>
      <p:sp>
        <p:nvSpPr>
          <p:cNvPr id="4" name="">
            <a:extLst xmlns:a="http://schemas.openxmlformats.org/drawingml/2006/main">
              <a:ext uri="{FF2B5EF4-FFF2-40B4-BE49-F238E27FC236}">
                <a16:creationId xmlns:a16="http://schemas.microsoft.com/office/drawing/2014/main" id="{DBAF9641-F2F2-4CA3-A746-A76B0EF20FF5}"/>
              </a:ext>
            </a:extLst>
          </p:cNvPr>
          <p:cNvSpPr>
            <a:spLocks xmlns:a="http://schemas.openxmlformats.org/drawingml/2006/main" noGrp="1"/>
          </p:cNvSpPr>
          <p:nvPr/>
        </p:nvSpPr>
        <p:spPr>
          <a:xfrm xmlns:a="http://schemas.openxmlformats.org/drawingml/2006/main">
            <a:off x="723900" y="1943100"/>
            <a:ext cx="4762500" cy="1162050"/>
          </a:xfrm>
          <a:prstGeom xmlns:a="http://schemas.openxmlformats.org/drawingml/2006/main" prst="roundRect">
            <a:avLst>
              <a:gd name="adj" fmla="val 9836"/>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4865081-3880-441A-B1B6-54C619763BC2}"/>
              </a:ext>
            </a:extLst>
          </p:cNvPr>
          <p:cNvSpPr>
            <a:spLocks xmlns:a="http://schemas.openxmlformats.org/drawingml/2006/main" noGrp="1"/>
          </p:cNvSpPr>
          <p:nvPr/>
        </p:nvSpPr>
        <p:spPr>
          <a:xfrm xmlns:a="http://schemas.openxmlformats.org/drawingml/2006/main">
            <a:off x="723900" y="1943100"/>
            <a:ext cx="76200" cy="1162050"/>
          </a:xfrm>
          <a:prstGeom xmlns:a="http://schemas.openxmlformats.org/drawingml/2006/main" prst="rect">
            <a:avLst/>
          </a:prstGeom>
          <a:solidFill xmlns:a="http://schemas.openxmlformats.org/drawingml/2006/main">
            <a:srgbClr val="2F6B9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2AECFE-FFE3-4AC7-97CC-089EB8979EE7}"/>
              </a:ext>
            </a:extLst>
          </p:cNvPr>
          <p:cNvSpPr>
            <a:spLocks xmlns:a="http://schemas.openxmlformats.org/drawingml/2006/main" noGrp="1"/>
          </p:cNvSpPr>
          <p:nvPr/>
        </p:nvSpPr>
        <p:spPr>
          <a:xfrm xmlns:a="http://schemas.openxmlformats.org/drawingml/2006/main">
            <a:off x="933450" y="21145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Similarity scores</a:t>
            </a:r>
          </a:p>
        </p:txBody>
      </p:sp>
      <p:sp>
        <p:nvSpPr>
          <p:cNvPr id="7" name="">
            <a:extLst xmlns:a="http://schemas.openxmlformats.org/drawingml/2006/main">
              <a:ext uri="{FF2B5EF4-FFF2-40B4-BE49-F238E27FC236}">
                <a16:creationId xmlns:a16="http://schemas.microsoft.com/office/drawing/2014/main" id="{169D4818-EF37-4E6D-832A-8B1CDF465333}"/>
              </a:ext>
            </a:extLst>
          </p:cNvPr>
          <p:cNvSpPr>
            <a:spLocks xmlns:a="http://schemas.openxmlformats.org/drawingml/2006/main" noGrp="1"/>
          </p:cNvSpPr>
          <p:nvPr/>
        </p:nvSpPr>
        <p:spPr>
          <a:xfrm xmlns:a="http://schemas.openxmlformats.org/drawingml/2006/main">
            <a:off x="933450" y="2457450"/>
            <a:ext cx="4362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For a batch of paired embeddings:</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sᵢⱼ = zₓ,ᵢᵀ zᵧ,ⱼ</a:t>
            </a:r>
          </a:p>
        </p:txBody>
      </p:sp>
      <p:sp>
        <p:nvSpPr>
          <p:cNvPr id="8" name="">
            <a:extLst xmlns:a="http://schemas.openxmlformats.org/drawingml/2006/main">
              <a:ext uri="{FF2B5EF4-FFF2-40B4-BE49-F238E27FC236}">
                <a16:creationId xmlns:a16="http://schemas.microsoft.com/office/drawing/2014/main" id="{97F1713E-EEF7-4BEF-991E-E523A17F2617}"/>
              </a:ext>
            </a:extLst>
          </p:cNvPr>
          <p:cNvSpPr>
            <a:spLocks xmlns:a="http://schemas.openxmlformats.org/drawingml/2006/main" noGrp="1"/>
          </p:cNvSpPr>
          <p:nvPr/>
        </p:nvSpPr>
        <p:spPr>
          <a:xfrm xmlns:a="http://schemas.openxmlformats.org/drawingml/2006/main">
            <a:off x="990600" y="33909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1575" b="1">
                <a:solidFill>
                  <a:srgbClr val="17212B"/>
                </a:solidFill>
                <a:latin typeface="Aptos"/>
                <a:ea typeface="Aptos"/>
                <a:cs typeface="Aptos"/>
              </a:defRPr>
            </a:pPr>
            <a:r>
              <a:rPr sz="1575" b="1">
                <a:solidFill>
                  <a:srgbClr val="17212B"/>
                </a:solidFill>
                <a:latin typeface="Aptos"/>
                <a:ea typeface="Aptos"/>
                <a:cs typeface="Aptos"/>
              </a:rPr>
              <a:t>maximize   L = Σᵢ sᵢᵢ − Σᵢ log Σⱼ exp(sᵢⱼ) − Σⱼ log Σᵢ exp(sᵢⱼ)</a:t>
            </a:r>
          </a:p>
        </p:txBody>
      </p:sp>
      <p:sp>
        <p:nvSpPr>
          <p:cNvPr id="9" name="">
            <a:extLst xmlns:a="http://schemas.openxmlformats.org/drawingml/2006/main">
              <a:ext uri="{FF2B5EF4-FFF2-40B4-BE49-F238E27FC236}">
                <a16:creationId xmlns:a16="http://schemas.microsoft.com/office/drawing/2014/main" id="{80C187A4-EA56-4AA7-808E-E4765623327C}"/>
              </a:ext>
            </a:extLst>
          </p:cNvPr>
          <p:cNvSpPr>
            <a:spLocks xmlns:a="http://schemas.openxmlformats.org/drawingml/2006/main" noGrp="1"/>
          </p:cNvSpPr>
          <p:nvPr/>
        </p:nvSpPr>
        <p:spPr>
          <a:xfrm xmlns:a="http://schemas.openxmlformats.org/drawingml/2006/main">
            <a:off x="2038350" y="390525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training minimizes  −L / n  plus any active regularization terms</a:t>
            </a:r>
          </a:p>
        </p:txBody>
      </p:sp>
      <p:sp>
        <p:nvSpPr>
          <p:cNvPr id="10" name="">
            <a:extLst xmlns:a="http://schemas.openxmlformats.org/drawingml/2006/main">
              <a:ext uri="{FF2B5EF4-FFF2-40B4-BE49-F238E27FC236}">
                <a16:creationId xmlns:a16="http://schemas.microsoft.com/office/drawing/2014/main" id="{AC8464B3-6F14-4D01-BBED-2E046D43F3FA}"/>
              </a:ext>
            </a:extLst>
          </p:cNvPr>
          <p:cNvSpPr>
            <a:spLocks xmlns:a="http://schemas.openxmlformats.org/drawingml/2006/main" noGrp="1"/>
          </p:cNvSpPr>
          <p:nvPr/>
        </p:nvSpPr>
        <p:spPr>
          <a:xfrm xmlns:a="http://schemas.openxmlformats.org/drawingml/2006/main">
            <a:off x="723900" y="4572000"/>
            <a:ext cx="31432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935B2DA-4999-430B-BFE2-762CCFA3462F}"/>
              </a:ext>
            </a:extLst>
          </p:cNvPr>
          <p:cNvSpPr>
            <a:spLocks xmlns:a="http://schemas.openxmlformats.org/drawingml/2006/main" noGrp="1"/>
          </p:cNvSpPr>
          <p:nvPr/>
        </p:nvSpPr>
        <p:spPr>
          <a:xfrm xmlns:a="http://schemas.openxmlformats.org/drawingml/2006/main">
            <a:off x="723900" y="4572000"/>
            <a:ext cx="76200" cy="1123950"/>
          </a:xfrm>
          <a:prstGeom xmlns:a="http://schemas.openxmlformats.org/drawingml/2006/main" prst="rect">
            <a:avLst/>
          </a:prstGeom>
          <a:solidFill xmlns:a="http://schemas.openxmlformats.org/drawingml/2006/main">
            <a:srgbClr val="D66B2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63AE443-B5E5-4ED0-B205-66C8FFBC4774}"/>
              </a:ext>
            </a:extLst>
          </p:cNvPr>
          <p:cNvSpPr>
            <a:spLocks xmlns:a="http://schemas.openxmlformats.org/drawingml/2006/main" noGrp="1"/>
          </p:cNvSpPr>
          <p:nvPr/>
        </p:nvSpPr>
        <p:spPr>
          <a:xfrm xmlns:a="http://schemas.openxmlformats.org/drawingml/2006/main">
            <a:off x="933450" y="47434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L1 penalties</a:t>
            </a:r>
          </a:p>
        </p:txBody>
      </p:sp>
      <p:sp>
        <p:nvSpPr>
          <p:cNvPr id="13" name="">
            <a:extLst xmlns:a="http://schemas.openxmlformats.org/drawingml/2006/main">
              <a:ext uri="{FF2B5EF4-FFF2-40B4-BE49-F238E27FC236}">
                <a16:creationId xmlns:a16="http://schemas.microsoft.com/office/drawing/2014/main" id="{2FB6555C-4402-4781-B880-B5AFA066EDE1}"/>
              </a:ext>
            </a:extLst>
          </p:cNvPr>
          <p:cNvSpPr>
            <a:spLocks xmlns:a="http://schemas.openxmlformats.org/drawingml/2006/main" noGrp="1"/>
          </p:cNvSpPr>
          <p:nvPr/>
        </p:nvSpPr>
        <p:spPr>
          <a:xfrm xmlns:a="http://schemas.openxmlformats.org/drawingml/2006/main">
            <a:off x="933450" y="5086350"/>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Linear: ||Gₓ||₁ + ||Gᵧ||₁</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Nonlinear: ||A||₁ terms when enabled.</a:t>
            </a:r>
          </a:p>
        </p:txBody>
      </p:sp>
      <p:sp>
        <p:nvSpPr>
          <p:cNvPr id="14" name="">
            <a:extLst xmlns:a="http://schemas.openxmlformats.org/drawingml/2006/main">
              <a:ext uri="{FF2B5EF4-FFF2-40B4-BE49-F238E27FC236}">
                <a16:creationId xmlns:a16="http://schemas.microsoft.com/office/drawing/2014/main" id="{D2098AFC-FD02-42E4-BA78-5335F80323A6}"/>
              </a:ext>
            </a:extLst>
          </p:cNvPr>
          <p:cNvSpPr>
            <a:spLocks xmlns:a="http://schemas.openxmlformats.org/drawingml/2006/main" noGrp="1"/>
          </p:cNvSpPr>
          <p:nvPr/>
        </p:nvSpPr>
        <p:spPr>
          <a:xfrm xmlns:a="http://schemas.openxmlformats.org/drawingml/2006/main">
            <a:off x="4514850" y="4572000"/>
            <a:ext cx="31432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0471493E-23C1-4248-A196-21679C3B6552}"/>
              </a:ext>
            </a:extLst>
          </p:cNvPr>
          <p:cNvSpPr>
            <a:spLocks xmlns:a="http://schemas.openxmlformats.org/drawingml/2006/main" noGrp="1"/>
          </p:cNvSpPr>
          <p:nvPr/>
        </p:nvSpPr>
        <p:spPr>
          <a:xfrm xmlns:a="http://schemas.openxmlformats.org/drawingml/2006/main">
            <a:off x="4514850" y="4572000"/>
            <a:ext cx="76200" cy="1123950"/>
          </a:xfrm>
          <a:prstGeom xmlns:a="http://schemas.openxmlformats.org/drawingml/2006/main" prst="rect">
            <a:avLst/>
          </a:prstGeom>
          <a:solidFill xmlns:a="http://schemas.openxmlformats.org/drawingml/2006/main">
            <a:srgbClr val="2F8F5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3A370FC-C784-40A2-B059-FF89497F7CC6}"/>
              </a:ext>
            </a:extLst>
          </p:cNvPr>
          <p:cNvSpPr>
            <a:spLocks xmlns:a="http://schemas.openxmlformats.org/drawingml/2006/main" noGrp="1"/>
          </p:cNvSpPr>
          <p:nvPr/>
        </p:nvSpPr>
        <p:spPr>
          <a:xfrm xmlns:a="http://schemas.openxmlformats.org/drawingml/2006/main">
            <a:off x="4724400" y="47434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L2 penalties</a:t>
            </a:r>
          </a:p>
        </p:txBody>
      </p:sp>
      <p:sp>
        <p:nvSpPr>
          <p:cNvPr id="17" name="">
            <a:extLst xmlns:a="http://schemas.openxmlformats.org/drawingml/2006/main">
              <a:ext uri="{FF2B5EF4-FFF2-40B4-BE49-F238E27FC236}">
                <a16:creationId xmlns:a16="http://schemas.microsoft.com/office/drawing/2014/main" id="{B171131C-CDC0-4629-9D78-0B87FF756F2A}"/>
              </a:ext>
            </a:extLst>
          </p:cNvPr>
          <p:cNvSpPr>
            <a:spLocks xmlns:a="http://schemas.openxmlformats.org/drawingml/2006/main" noGrp="1"/>
          </p:cNvSpPr>
          <p:nvPr/>
        </p:nvSpPr>
        <p:spPr>
          <a:xfrm xmlns:a="http://schemas.openxmlformats.org/drawingml/2006/main">
            <a:off x="4724400" y="5086350"/>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Linear: ||Gₓ||₂² + ||Gᵧ||₂²</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Nonlinear: ||A₁||₂² + ||A₂||₂².</a:t>
            </a:r>
          </a:p>
        </p:txBody>
      </p:sp>
      <p:sp>
        <p:nvSpPr>
          <p:cNvPr id="18" name="">
            <a:extLst xmlns:a="http://schemas.openxmlformats.org/drawingml/2006/main">
              <a:ext uri="{FF2B5EF4-FFF2-40B4-BE49-F238E27FC236}">
                <a16:creationId xmlns:a16="http://schemas.microsoft.com/office/drawing/2014/main" id="{DDCA318F-7C0B-4C04-BC4C-823FFCAF15F0}"/>
              </a:ext>
            </a:extLst>
          </p:cNvPr>
          <p:cNvSpPr>
            <a:spLocks xmlns:a="http://schemas.openxmlformats.org/drawingml/2006/main" noGrp="1"/>
          </p:cNvSpPr>
          <p:nvPr/>
        </p:nvSpPr>
        <p:spPr>
          <a:xfrm xmlns:a="http://schemas.openxmlformats.org/drawingml/2006/main">
            <a:off x="8286750" y="4572000"/>
            <a:ext cx="31432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16AC67F3-FD8E-44FF-8C03-329FC6EE22F7}"/>
              </a:ext>
            </a:extLst>
          </p:cNvPr>
          <p:cNvSpPr>
            <a:spLocks xmlns:a="http://schemas.openxmlformats.org/drawingml/2006/main" noGrp="1"/>
          </p:cNvSpPr>
          <p:nvPr/>
        </p:nvSpPr>
        <p:spPr>
          <a:xfrm xmlns:a="http://schemas.openxmlformats.org/drawingml/2006/main">
            <a:off x="8286750" y="4572000"/>
            <a:ext cx="76200" cy="1123950"/>
          </a:xfrm>
          <a:prstGeom xmlns:a="http://schemas.openxmlformats.org/drawingml/2006/main" prst="rect">
            <a:avLst/>
          </a:prstGeom>
          <a:solidFill xmlns:a="http://schemas.openxmlformats.org/drawingml/2006/main">
            <a:srgbClr val="8E5EA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ADACE99-4779-4C6F-8600-38F2ACBBF236}"/>
              </a:ext>
            </a:extLst>
          </p:cNvPr>
          <p:cNvSpPr>
            <a:spLocks xmlns:a="http://schemas.openxmlformats.org/drawingml/2006/main" noGrp="1"/>
          </p:cNvSpPr>
          <p:nvPr/>
        </p:nvSpPr>
        <p:spPr>
          <a:xfrm xmlns:a="http://schemas.openxmlformats.org/drawingml/2006/main">
            <a:off x="8496300" y="47434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Output penalty</a:t>
            </a:r>
          </a:p>
        </p:txBody>
      </p:sp>
      <p:sp>
        <p:nvSpPr>
          <p:cNvPr id="21" name="">
            <a:extLst xmlns:a="http://schemas.openxmlformats.org/drawingml/2006/main">
              <a:ext uri="{FF2B5EF4-FFF2-40B4-BE49-F238E27FC236}">
                <a16:creationId xmlns:a16="http://schemas.microsoft.com/office/drawing/2014/main" id="{B3BE0F11-D49A-49E6-8A87-FC2704C078B1}"/>
              </a:ext>
            </a:extLst>
          </p:cNvPr>
          <p:cNvSpPr>
            <a:spLocks xmlns:a="http://schemas.openxmlformats.org/drawingml/2006/main" noGrp="1"/>
          </p:cNvSpPr>
          <p:nvPr/>
        </p:nvSpPr>
        <p:spPr>
          <a:xfrm xmlns:a="http://schemas.openxmlformats.org/drawingml/2006/main">
            <a:off x="8496300" y="5086350"/>
            <a:ext cx="2743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Available to keep the actual nonlinear correction small unless needed.</a:t>
            </a:r>
          </a:p>
        </p:txBody>
      </p:sp>
      <p:sp>
        <p:nvSpPr>
          <p:cNvPr id="22" name="">
            <a:extLst xmlns:a="http://schemas.openxmlformats.org/drawingml/2006/main">
              <a:ext uri="{FF2B5EF4-FFF2-40B4-BE49-F238E27FC236}">
                <a16:creationId xmlns:a16="http://schemas.microsoft.com/office/drawing/2014/main" id="{66383C36-7CA9-4971-BA84-266AEBA91C23}"/>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4/12</a:t>
            </a:r>
          </a:p>
        </p:txBody>
      </p:sp>
    </p:spTree>
    <p:extLst>
      <p:ext uri="{BB962C8B-B14F-4D97-AF65-F5344CB8AC3E}">
        <p14:creationId xmlns:p14="http://schemas.microsoft.com/office/powerpoint/2010/main" val="1255914651"/>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EC198F-B7BA-4910-B731-223971B2A441}"/>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RESULT</a:t>
            </a:r>
          </a:p>
        </p:txBody>
      </p:sp>
      <p:sp>
        <p:nvSpPr>
          <p:cNvPr id="2" name="">
            <a:extLst xmlns:a="http://schemas.openxmlformats.org/drawingml/2006/main">
              <a:ext uri="{FF2B5EF4-FFF2-40B4-BE49-F238E27FC236}">
                <a16:creationId xmlns:a16="http://schemas.microsoft.com/office/drawing/2014/main" id="{3A7E4C8F-45E4-4640-9358-9A971481B77D}"/>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Noise-only: train vs held-out separation</a:t>
            </a:r>
          </a:p>
        </p:txBody>
      </p:sp>
      <p:sp>
        <p:nvSpPr>
          <p:cNvPr id="3" name="">
            <a:extLst xmlns:a="http://schemas.openxmlformats.org/drawingml/2006/main">
              <a:ext uri="{FF2B5EF4-FFF2-40B4-BE49-F238E27FC236}">
                <a16:creationId xmlns:a16="http://schemas.microsoft.com/office/drawing/2014/main" id="{E8C8F462-0207-4B5E-93ED-12DF87C1D194}"/>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High train separation with low held-out separation indicates memorization rather than signal.</a:t>
            </a:r>
          </a:p>
        </p:txBody>
      </p:sp>
      <p:sp>
        <p:nvSpPr>
          <p:cNvPr id="4" name="">
            <a:extLst xmlns:a="http://schemas.openxmlformats.org/drawingml/2006/main">
              <a:ext uri="{FF2B5EF4-FFF2-40B4-BE49-F238E27FC236}">
                <a16:creationId xmlns:a16="http://schemas.microsoft.com/office/drawing/2014/main" id="{697564EF-974B-4479-B237-B5FAA29E3302}"/>
              </a:ext>
            </a:extLst>
          </p:cNvPr>
          <p:cNvSpPr>
            <a:spLocks xmlns:a="http://schemas.openxmlformats.org/drawingml/2006/main" noGrp="1"/>
          </p:cNvSpPr>
          <p:nvPr/>
        </p:nvSpPr>
        <p:spPr>
          <a:xfrm xmlns:a="http://schemas.openxmlformats.org/drawingml/2006/main">
            <a:off x="533400" y="1771650"/>
            <a:ext cx="7715250" cy="401955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f5c358291be4223"/>
          <a:stretch xmlns:a="http://schemas.openxmlformats.org/drawingml/2006/main"/>
        </p:blipFill>
        <p:spPr>
          <a:xfrm xmlns:a="http://schemas.openxmlformats.org/drawingml/2006/main">
            <a:off x="628650" y="1899436"/>
            <a:ext cx="7524750" cy="376397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361BFE1-150A-4C38-825D-AE38E27E8867}"/>
              </a:ext>
            </a:extLst>
          </p:cNvPr>
          <p:cNvSpPr>
            <a:spLocks xmlns:a="http://schemas.openxmlformats.org/drawingml/2006/main" noGrp="1"/>
          </p:cNvSpPr>
          <p:nvPr/>
        </p:nvSpPr>
        <p:spPr>
          <a:xfrm xmlns:a="http://schemas.openxmlformats.org/drawingml/2006/main">
            <a:off x="8458200" y="1866900"/>
            <a:ext cx="3105150" cy="3829050"/>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052F2DA-65E3-43FB-85AE-43686D4F1BB8}"/>
              </a:ext>
            </a:extLst>
          </p:cNvPr>
          <p:cNvSpPr>
            <a:spLocks xmlns:a="http://schemas.openxmlformats.org/drawingml/2006/main" noGrp="1"/>
          </p:cNvSpPr>
          <p:nvPr/>
        </p:nvSpPr>
        <p:spPr>
          <a:xfrm xmlns:a="http://schemas.openxmlformats.org/drawingml/2006/main">
            <a:off x="8458200" y="1866900"/>
            <a:ext cx="76200" cy="382905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6334685-A6C7-43D3-A2B5-6BD3E504448C}"/>
              </a:ext>
            </a:extLst>
          </p:cNvPr>
          <p:cNvSpPr>
            <a:spLocks xmlns:a="http://schemas.openxmlformats.org/drawingml/2006/main" noGrp="1"/>
          </p:cNvSpPr>
          <p:nvPr/>
        </p:nvSpPr>
        <p:spPr>
          <a:xfrm xmlns:a="http://schemas.openxmlformats.org/drawingml/2006/main">
            <a:off x="8686800" y="2038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Interpretation</a:t>
            </a:r>
          </a:p>
        </p:txBody>
      </p:sp>
      <p:sp>
        <p:nvSpPr>
          <p:cNvPr id="9" name="">
            <a:extLst xmlns:a="http://schemas.openxmlformats.org/drawingml/2006/main">
              <a:ext uri="{FF2B5EF4-FFF2-40B4-BE49-F238E27FC236}">
                <a16:creationId xmlns:a16="http://schemas.microsoft.com/office/drawing/2014/main" id="{BF4A0A09-D8E6-4F75-8ADC-98CA51B70575}"/>
              </a:ext>
            </a:extLst>
          </p:cNvPr>
          <p:cNvSpPr>
            <a:spLocks xmlns:a="http://schemas.openxmlformats.org/drawingml/2006/main" noGrp="1"/>
          </p:cNvSpPr>
          <p:nvPr/>
        </p:nvSpPr>
        <p:spPr>
          <a:xfrm xmlns:a="http://schemas.openxmlformats.org/drawingml/2006/main">
            <a:off x="8686800" y="2343150"/>
            <a:ext cx="2647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9000"/>
              </a:lnSpc>
              <a:buNone/>
              <a:defRPr sz="960" b="0">
                <a:solidFill>
                  <a:srgbClr val="5A6875"/>
                </a:solidFill>
                <a:latin typeface="Aptos"/>
                <a:ea typeface="Aptos"/>
                <a:cs typeface="Aptos"/>
              </a:defRPr>
            </a:pPr>
            <a:r>
              <a:rPr sz="960" b="0">
                <a:solidFill>
                  <a:srgbClr val="5A6875"/>
                </a:solidFill>
                <a:latin typeface="Aptos"/>
                <a:ea typeface="Aptos"/>
                <a:cs typeface="Aptos"/>
              </a:rPr>
              <a:t>In noise-only data, X and Y have no real relationship. All models can still separate paired training samples, so the training alignment reflects memorized noise pairings. The alpha=1 nonlinear model shows the strongest training separation, while held-out separation stays near zero for all models.</a:t>
            </a:r>
          </a:p>
        </p:txBody>
      </p:sp>
      <p:sp>
        <p:nvSpPr>
          <p:cNvPr id="10" name="">
            <a:extLst xmlns:a="http://schemas.openxmlformats.org/drawingml/2006/main">
              <a:ext uri="{FF2B5EF4-FFF2-40B4-BE49-F238E27FC236}">
                <a16:creationId xmlns:a16="http://schemas.microsoft.com/office/drawing/2014/main" id="{7232E078-416B-4046-8574-1E7963122557}"/>
              </a:ext>
            </a:extLst>
          </p:cNvPr>
          <p:cNvSpPr>
            <a:spLocks xmlns:a="http://schemas.openxmlformats.org/drawingml/2006/main" noGrp="1"/>
          </p:cNvSpPr>
          <p:nvPr/>
        </p:nvSpPr>
        <p:spPr>
          <a:xfrm xmlns:a="http://schemas.openxmlformats.org/drawingml/2006/main">
            <a:off x="8686800" y="4591050"/>
            <a:ext cx="2647950" cy="9525"/>
          </a:xfrm>
          <a:prstGeom xmlns:a="http://schemas.openxmlformats.org/drawingml/2006/main" prst="rect">
            <a:avLst/>
          </a:prstGeom>
          <a:solidFill xmlns:a="http://schemas.openxmlformats.org/drawingml/2006/main">
            <a:srgbClr val="D7E0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CA05ED0-76DF-4F1D-BF2D-DAA1F1A918BC}"/>
              </a:ext>
            </a:extLst>
          </p:cNvPr>
          <p:cNvSpPr>
            <a:spLocks xmlns:a="http://schemas.openxmlformats.org/drawingml/2006/main" noGrp="1"/>
          </p:cNvSpPr>
          <p:nvPr/>
        </p:nvSpPr>
        <p:spPr>
          <a:xfrm xmlns:a="http://schemas.openxmlformats.org/drawingml/2006/main">
            <a:off x="8686800" y="47625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Key takeaway</a:t>
            </a:r>
          </a:p>
        </p:txBody>
      </p:sp>
      <p:sp>
        <p:nvSpPr>
          <p:cNvPr id="12" name="">
            <a:extLst xmlns:a="http://schemas.openxmlformats.org/drawingml/2006/main">
              <a:ext uri="{FF2B5EF4-FFF2-40B4-BE49-F238E27FC236}">
                <a16:creationId xmlns:a16="http://schemas.microsoft.com/office/drawing/2014/main" id="{39067B0B-7E49-4E04-A8D1-BA4FC4523CBA}"/>
              </a:ext>
            </a:extLst>
          </p:cNvPr>
          <p:cNvSpPr>
            <a:spLocks xmlns:a="http://schemas.openxmlformats.org/drawingml/2006/main" noGrp="1"/>
          </p:cNvSpPr>
          <p:nvPr/>
        </p:nvSpPr>
        <p:spPr>
          <a:xfrm xmlns:a="http://schemas.openxmlformats.org/drawingml/2006/main">
            <a:off x="8686800" y="5029200"/>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4000"/>
              </a:lnSpc>
              <a:buNone/>
              <a:defRPr sz="945" b="1">
                <a:solidFill>
                  <a:srgbClr val="17212B"/>
                </a:solidFill>
                <a:latin typeface="Aptos"/>
                <a:ea typeface="Aptos"/>
                <a:cs typeface="Aptos"/>
              </a:defRPr>
            </a:pPr>
            <a:r>
              <a:rPr sz="945" b="1">
                <a:solidFill>
                  <a:srgbClr val="17212B"/>
                </a:solidFill>
                <a:latin typeface="Aptos"/>
                <a:ea typeface="Aptos"/>
                <a:cs typeface="Aptos"/>
              </a:rPr>
              <a:t>High training alignment in noise does not mean real learning; held-out performance reveals memorization.</a:t>
            </a:r>
          </a:p>
        </p:txBody>
      </p:sp>
      <p:sp>
        <p:nvSpPr>
          <p:cNvPr id="13" name="">
            <a:extLst xmlns:a="http://schemas.openxmlformats.org/drawingml/2006/main">
              <a:ext uri="{FF2B5EF4-FFF2-40B4-BE49-F238E27FC236}">
                <a16:creationId xmlns:a16="http://schemas.microsoft.com/office/drawing/2014/main" id="{AF8BEC8E-5230-4787-9380-A2ADE5B0500A}"/>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5/12</a:t>
            </a:r>
          </a:p>
        </p:txBody>
      </p:sp>
    </p:spTree>
    <p:extLst>
      <p:ext uri="{BB962C8B-B14F-4D97-AF65-F5344CB8AC3E}">
        <p14:creationId xmlns:p14="http://schemas.microsoft.com/office/powerpoint/2010/main" val="247804848"/>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9BE69E-2BA8-44B0-B6F2-72C36C1CE312}"/>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RESULT</a:t>
            </a:r>
          </a:p>
        </p:txBody>
      </p:sp>
      <p:sp>
        <p:nvSpPr>
          <p:cNvPr id="2" name="">
            <a:extLst xmlns:a="http://schemas.openxmlformats.org/drawingml/2006/main">
              <a:ext uri="{FF2B5EF4-FFF2-40B4-BE49-F238E27FC236}">
                <a16:creationId xmlns:a16="http://schemas.microsoft.com/office/drawing/2014/main" id="{2E16E63D-3675-46D2-8073-D236CFEAB183}"/>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Noise-only: shuffled-pair sanity check</a:t>
            </a:r>
          </a:p>
        </p:txBody>
      </p:sp>
      <p:sp>
        <p:nvSpPr>
          <p:cNvPr id="3" name="">
            <a:extLst xmlns:a="http://schemas.openxmlformats.org/drawingml/2006/main">
              <a:ext uri="{FF2B5EF4-FFF2-40B4-BE49-F238E27FC236}">
                <a16:creationId xmlns:a16="http://schemas.microsoft.com/office/drawing/2014/main" id="{6692FF92-6E2A-4F07-B577-4E8CD4B1E0DD}"/>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Breaking the pairing should remove alignment; values near zero support the sanity check.</a:t>
            </a:r>
          </a:p>
        </p:txBody>
      </p:sp>
      <p:sp>
        <p:nvSpPr>
          <p:cNvPr id="4" name="">
            <a:extLst xmlns:a="http://schemas.openxmlformats.org/drawingml/2006/main">
              <a:ext uri="{FF2B5EF4-FFF2-40B4-BE49-F238E27FC236}">
                <a16:creationId xmlns:a16="http://schemas.microsoft.com/office/drawing/2014/main" id="{F319F8CA-86F5-4550-8312-F00CC6E0BE6C}"/>
              </a:ext>
            </a:extLst>
          </p:cNvPr>
          <p:cNvSpPr>
            <a:spLocks xmlns:a="http://schemas.openxmlformats.org/drawingml/2006/main" noGrp="1"/>
          </p:cNvSpPr>
          <p:nvPr/>
        </p:nvSpPr>
        <p:spPr>
          <a:xfrm xmlns:a="http://schemas.openxmlformats.org/drawingml/2006/main">
            <a:off x="533400" y="1771650"/>
            <a:ext cx="7715250" cy="401955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6c57a3862dd4fe4"/>
          <a:stretch xmlns:a="http://schemas.openxmlformats.org/drawingml/2006/main"/>
        </p:blipFill>
        <p:spPr>
          <a:xfrm xmlns:a="http://schemas.openxmlformats.org/drawingml/2006/main">
            <a:off x="628650" y="1905829"/>
            <a:ext cx="7524750" cy="375119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8D5ABFB-4DEC-4472-87D3-9AACDE318EFB}"/>
              </a:ext>
            </a:extLst>
          </p:cNvPr>
          <p:cNvSpPr>
            <a:spLocks xmlns:a="http://schemas.openxmlformats.org/drawingml/2006/main" noGrp="1"/>
          </p:cNvSpPr>
          <p:nvPr/>
        </p:nvSpPr>
        <p:spPr>
          <a:xfrm xmlns:a="http://schemas.openxmlformats.org/drawingml/2006/main">
            <a:off x="8458200" y="1866900"/>
            <a:ext cx="3105150" cy="3829050"/>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9C602BE-B7AB-495C-B2A7-813C8DAAC611}"/>
              </a:ext>
            </a:extLst>
          </p:cNvPr>
          <p:cNvSpPr>
            <a:spLocks xmlns:a="http://schemas.openxmlformats.org/drawingml/2006/main" noGrp="1"/>
          </p:cNvSpPr>
          <p:nvPr/>
        </p:nvSpPr>
        <p:spPr>
          <a:xfrm xmlns:a="http://schemas.openxmlformats.org/drawingml/2006/main">
            <a:off x="8458200" y="1866900"/>
            <a:ext cx="76200" cy="382905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C27E61-37FC-4462-B9CB-E30AD3ABDDC9}"/>
              </a:ext>
            </a:extLst>
          </p:cNvPr>
          <p:cNvSpPr>
            <a:spLocks xmlns:a="http://schemas.openxmlformats.org/drawingml/2006/main" noGrp="1"/>
          </p:cNvSpPr>
          <p:nvPr/>
        </p:nvSpPr>
        <p:spPr>
          <a:xfrm xmlns:a="http://schemas.openxmlformats.org/drawingml/2006/main">
            <a:off x="8686800" y="2038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Interpretation</a:t>
            </a:r>
          </a:p>
        </p:txBody>
      </p:sp>
      <p:sp>
        <p:nvSpPr>
          <p:cNvPr id="9" name="">
            <a:extLst xmlns:a="http://schemas.openxmlformats.org/drawingml/2006/main">
              <a:ext uri="{FF2B5EF4-FFF2-40B4-BE49-F238E27FC236}">
                <a16:creationId xmlns:a16="http://schemas.microsoft.com/office/drawing/2014/main" id="{40FFE38A-F870-42C7-88B4-2BB11F0D8399}"/>
              </a:ext>
            </a:extLst>
          </p:cNvPr>
          <p:cNvSpPr>
            <a:spLocks xmlns:a="http://schemas.openxmlformats.org/drawingml/2006/main" noGrp="1"/>
          </p:cNvSpPr>
          <p:nvPr/>
        </p:nvSpPr>
        <p:spPr>
          <a:xfrm xmlns:a="http://schemas.openxmlformats.org/drawingml/2006/main">
            <a:off x="8686800" y="2343150"/>
            <a:ext cx="2647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9000"/>
              </a:lnSpc>
              <a:buNone/>
              <a:defRPr sz="960" b="0">
                <a:solidFill>
                  <a:srgbClr val="5A6875"/>
                </a:solidFill>
                <a:latin typeface="Aptos"/>
                <a:ea typeface="Aptos"/>
                <a:cs typeface="Aptos"/>
              </a:defRPr>
            </a:pPr>
            <a:r>
              <a:rPr sz="960" b="0">
                <a:solidFill>
                  <a:srgbClr val="5A6875"/>
                </a:solidFill>
                <a:latin typeface="Aptos"/>
                <a:ea typeface="Aptos"/>
                <a:cs typeface="Aptos"/>
              </a:rPr>
              <a:t>This is a sanity check for noise-only data. Since X and Y are independent, true held-out pairs should not be more meaningful than shuffled pairs. Both original held-out separation and shuffled-pair separation stay close to zero.</a:t>
            </a:r>
          </a:p>
        </p:txBody>
      </p:sp>
      <p:sp>
        <p:nvSpPr>
          <p:cNvPr id="10" name="">
            <a:extLst xmlns:a="http://schemas.openxmlformats.org/drawingml/2006/main">
              <a:ext uri="{FF2B5EF4-FFF2-40B4-BE49-F238E27FC236}">
                <a16:creationId xmlns:a16="http://schemas.microsoft.com/office/drawing/2014/main" id="{7301A9E6-373F-4A32-B94E-2DD3D365CF9D}"/>
              </a:ext>
            </a:extLst>
          </p:cNvPr>
          <p:cNvSpPr>
            <a:spLocks xmlns:a="http://schemas.openxmlformats.org/drawingml/2006/main" noGrp="1"/>
          </p:cNvSpPr>
          <p:nvPr/>
        </p:nvSpPr>
        <p:spPr>
          <a:xfrm xmlns:a="http://schemas.openxmlformats.org/drawingml/2006/main">
            <a:off x="8686800" y="4591050"/>
            <a:ext cx="2647950" cy="9525"/>
          </a:xfrm>
          <a:prstGeom xmlns:a="http://schemas.openxmlformats.org/drawingml/2006/main" prst="rect">
            <a:avLst/>
          </a:prstGeom>
          <a:solidFill xmlns:a="http://schemas.openxmlformats.org/drawingml/2006/main">
            <a:srgbClr val="D7E0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C9C84C8-3923-4247-9F4F-B7D9C60FF011}"/>
              </a:ext>
            </a:extLst>
          </p:cNvPr>
          <p:cNvSpPr>
            <a:spLocks xmlns:a="http://schemas.openxmlformats.org/drawingml/2006/main" noGrp="1"/>
          </p:cNvSpPr>
          <p:nvPr/>
        </p:nvSpPr>
        <p:spPr>
          <a:xfrm xmlns:a="http://schemas.openxmlformats.org/drawingml/2006/main">
            <a:off x="8686800" y="47625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Key takeaway</a:t>
            </a:r>
          </a:p>
        </p:txBody>
      </p:sp>
      <p:sp>
        <p:nvSpPr>
          <p:cNvPr id="12" name="">
            <a:extLst xmlns:a="http://schemas.openxmlformats.org/drawingml/2006/main">
              <a:ext uri="{FF2B5EF4-FFF2-40B4-BE49-F238E27FC236}">
                <a16:creationId xmlns:a16="http://schemas.microsoft.com/office/drawing/2014/main" id="{03E7B692-CBCD-4C99-953D-F69543B37923}"/>
              </a:ext>
            </a:extLst>
          </p:cNvPr>
          <p:cNvSpPr>
            <a:spLocks xmlns:a="http://schemas.openxmlformats.org/drawingml/2006/main" noGrp="1"/>
          </p:cNvSpPr>
          <p:nvPr/>
        </p:nvSpPr>
        <p:spPr>
          <a:xfrm xmlns:a="http://schemas.openxmlformats.org/drawingml/2006/main">
            <a:off x="8686800" y="5029200"/>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4000"/>
              </a:lnSpc>
              <a:buNone/>
              <a:defRPr sz="945" b="1">
                <a:solidFill>
                  <a:srgbClr val="17212B"/>
                </a:solidFill>
                <a:latin typeface="Aptos"/>
                <a:ea typeface="Aptos"/>
                <a:cs typeface="Aptos"/>
              </a:defRPr>
            </a:pPr>
            <a:r>
              <a:rPr sz="945" b="1">
                <a:solidFill>
                  <a:srgbClr val="17212B"/>
                </a:solidFill>
                <a:latin typeface="Aptos"/>
                <a:ea typeface="Aptos"/>
                <a:cs typeface="Aptos"/>
              </a:rPr>
              <a:t>True held-out pairs behave like shuffled random pairs, confirming that no real signal is learned.</a:t>
            </a:r>
          </a:p>
        </p:txBody>
      </p:sp>
      <p:sp>
        <p:nvSpPr>
          <p:cNvPr id="13" name="">
            <a:extLst xmlns:a="http://schemas.openxmlformats.org/drawingml/2006/main">
              <a:ext uri="{FF2B5EF4-FFF2-40B4-BE49-F238E27FC236}">
                <a16:creationId xmlns:a16="http://schemas.microsoft.com/office/drawing/2014/main" id="{20251683-9E74-423A-9576-7275AA2D1F79}"/>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6/12</a:t>
            </a:r>
          </a:p>
        </p:txBody>
      </p:sp>
    </p:spTree>
    <p:extLst>
      <p:ext uri="{BB962C8B-B14F-4D97-AF65-F5344CB8AC3E}">
        <p14:creationId xmlns:p14="http://schemas.microsoft.com/office/powerpoint/2010/main" val="2028499064"/>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58DB6F-557C-4667-A7B6-CC32E373E089}"/>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RESULT</a:t>
            </a:r>
          </a:p>
        </p:txBody>
      </p:sp>
      <p:sp>
        <p:nvSpPr>
          <p:cNvPr id="2" name="">
            <a:extLst xmlns:a="http://schemas.openxmlformats.org/drawingml/2006/main">
              <a:ext uri="{FF2B5EF4-FFF2-40B4-BE49-F238E27FC236}">
                <a16:creationId xmlns:a16="http://schemas.microsoft.com/office/drawing/2014/main" id="{571AB143-5EF7-4529-96CA-650E223BB11C}"/>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Linear signal: held-out separation</a:t>
            </a:r>
          </a:p>
        </p:txBody>
      </p:sp>
      <p:sp>
        <p:nvSpPr>
          <p:cNvPr id="3" name="">
            <a:extLst xmlns:a="http://schemas.openxmlformats.org/drawingml/2006/main">
              <a:ext uri="{FF2B5EF4-FFF2-40B4-BE49-F238E27FC236}">
                <a16:creationId xmlns:a16="http://schemas.microsoft.com/office/drawing/2014/main" id="{52F33EFD-E0AE-423C-8FD6-B43EABF81AE4}"/>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The linear baseline should already be competitive when Z_y = Z_x.</a:t>
            </a:r>
          </a:p>
        </p:txBody>
      </p:sp>
      <p:sp>
        <p:nvSpPr>
          <p:cNvPr id="4" name="">
            <a:extLst xmlns:a="http://schemas.openxmlformats.org/drawingml/2006/main">
              <a:ext uri="{FF2B5EF4-FFF2-40B4-BE49-F238E27FC236}">
                <a16:creationId xmlns:a16="http://schemas.microsoft.com/office/drawing/2014/main" id="{39CA8B61-3587-4BDC-B707-3F09AA0D3CED}"/>
              </a:ext>
            </a:extLst>
          </p:cNvPr>
          <p:cNvSpPr>
            <a:spLocks xmlns:a="http://schemas.openxmlformats.org/drawingml/2006/main" noGrp="1"/>
          </p:cNvSpPr>
          <p:nvPr/>
        </p:nvSpPr>
        <p:spPr>
          <a:xfrm xmlns:a="http://schemas.openxmlformats.org/drawingml/2006/main">
            <a:off x="533400" y="1771650"/>
            <a:ext cx="7715250" cy="401955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7957a59535348b4"/>
          <a:stretch xmlns:a="http://schemas.openxmlformats.org/drawingml/2006/main"/>
        </p:blipFill>
        <p:spPr>
          <a:xfrm xmlns:a="http://schemas.openxmlformats.org/drawingml/2006/main">
            <a:off x="628650" y="1899436"/>
            <a:ext cx="7524750" cy="376397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FD9D972-9A94-42FF-BA6C-647730E281EA}"/>
              </a:ext>
            </a:extLst>
          </p:cNvPr>
          <p:cNvSpPr>
            <a:spLocks xmlns:a="http://schemas.openxmlformats.org/drawingml/2006/main" noGrp="1"/>
          </p:cNvSpPr>
          <p:nvPr/>
        </p:nvSpPr>
        <p:spPr>
          <a:xfrm xmlns:a="http://schemas.openxmlformats.org/drawingml/2006/main">
            <a:off x="8458200" y="1866900"/>
            <a:ext cx="3105150" cy="3829050"/>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DEC7DA4-569D-4EC5-A884-EEEFE92F39FE}"/>
              </a:ext>
            </a:extLst>
          </p:cNvPr>
          <p:cNvSpPr>
            <a:spLocks xmlns:a="http://schemas.openxmlformats.org/drawingml/2006/main" noGrp="1"/>
          </p:cNvSpPr>
          <p:nvPr/>
        </p:nvSpPr>
        <p:spPr>
          <a:xfrm xmlns:a="http://schemas.openxmlformats.org/drawingml/2006/main">
            <a:off x="8458200" y="1866900"/>
            <a:ext cx="76200" cy="382905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114C32-B3B6-4DB6-AC73-CE5276B0A3F9}"/>
              </a:ext>
            </a:extLst>
          </p:cNvPr>
          <p:cNvSpPr>
            <a:spLocks xmlns:a="http://schemas.openxmlformats.org/drawingml/2006/main" noGrp="1"/>
          </p:cNvSpPr>
          <p:nvPr/>
        </p:nvSpPr>
        <p:spPr>
          <a:xfrm xmlns:a="http://schemas.openxmlformats.org/drawingml/2006/main">
            <a:off x="8686800" y="2038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Interpretation</a:t>
            </a:r>
          </a:p>
        </p:txBody>
      </p:sp>
      <p:sp>
        <p:nvSpPr>
          <p:cNvPr id="9" name="">
            <a:extLst xmlns:a="http://schemas.openxmlformats.org/drawingml/2006/main">
              <a:ext uri="{FF2B5EF4-FFF2-40B4-BE49-F238E27FC236}">
                <a16:creationId xmlns:a16="http://schemas.microsoft.com/office/drawing/2014/main" id="{9F185F0B-C5FC-4AB5-9AED-1799617B0895}"/>
              </a:ext>
            </a:extLst>
          </p:cNvPr>
          <p:cNvSpPr>
            <a:spLocks xmlns:a="http://schemas.openxmlformats.org/drawingml/2006/main" noGrp="1"/>
          </p:cNvSpPr>
          <p:nvPr/>
        </p:nvSpPr>
        <p:spPr>
          <a:xfrm xmlns:a="http://schemas.openxmlformats.org/drawingml/2006/main">
            <a:off x="8686800" y="2343150"/>
            <a:ext cx="2647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9000"/>
              </a:lnSpc>
              <a:buNone/>
              <a:defRPr sz="960" b="0">
                <a:solidFill>
                  <a:srgbClr val="5A6875"/>
                </a:solidFill>
                <a:latin typeface="Aptos"/>
                <a:ea typeface="Aptos"/>
                <a:cs typeface="Aptos"/>
              </a:defRPr>
            </a:pPr>
            <a:r>
              <a:rPr sz="960" b="0">
                <a:solidFill>
                  <a:srgbClr val="5A6875"/>
                </a:solidFill>
                <a:latin typeface="Aptos"/>
                <a:ea typeface="Aptos"/>
                <a:cs typeface="Aptos"/>
              </a:rPr>
              <a:t>With linear signal, held-out true-pair separation is positive for most models, so they capture shared structure that generalizes. The linear baseline is already competitive, shuffled values are smaller, and alpha=1 performs poorly.</a:t>
            </a:r>
          </a:p>
        </p:txBody>
      </p:sp>
      <p:sp>
        <p:nvSpPr>
          <p:cNvPr id="10" name="">
            <a:extLst xmlns:a="http://schemas.openxmlformats.org/drawingml/2006/main">
              <a:ext uri="{FF2B5EF4-FFF2-40B4-BE49-F238E27FC236}">
                <a16:creationId xmlns:a16="http://schemas.microsoft.com/office/drawing/2014/main" id="{6F45C60E-6AB6-4601-8983-28A5D4CD4E53}"/>
              </a:ext>
            </a:extLst>
          </p:cNvPr>
          <p:cNvSpPr>
            <a:spLocks xmlns:a="http://schemas.openxmlformats.org/drawingml/2006/main" noGrp="1"/>
          </p:cNvSpPr>
          <p:nvPr/>
        </p:nvSpPr>
        <p:spPr>
          <a:xfrm xmlns:a="http://schemas.openxmlformats.org/drawingml/2006/main">
            <a:off x="8686800" y="4591050"/>
            <a:ext cx="2647950" cy="9525"/>
          </a:xfrm>
          <a:prstGeom xmlns:a="http://schemas.openxmlformats.org/drawingml/2006/main" prst="rect">
            <a:avLst/>
          </a:prstGeom>
          <a:solidFill xmlns:a="http://schemas.openxmlformats.org/drawingml/2006/main">
            <a:srgbClr val="D7E0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ABADFDC-AEBE-4A3F-AA71-EBCAE6A65501}"/>
              </a:ext>
            </a:extLst>
          </p:cNvPr>
          <p:cNvSpPr>
            <a:spLocks xmlns:a="http://schemas.openxmlformats.org/drawingml/2006/main" noGrp="1"/>
          </p:cNvSpPr>
          <p:nvPr/>
        </p:nvSpPr>
        <p:spPr>
          <a:xfrm xmlns:a="http://schemas.openxmlformats.org/drawingml/2006/main">
            <a:off x="8686800" y="47625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Key takeaway</a:t>
            </a:r>
          </a:p>
        </p:txBody>
      </p:sp>
      <p:sp>
        <p:nvSpPr>
          <p:cNvPr id="12" name="">
            <a:extLst xmlns:a="http://schemas.openxmlformats.org/drawingml/2006/main">
              <a:ext uri="{FF2B5EF4-FFF2-40B4-BE49-F238E27FC236}">
                <a16:creationId xmlns:a16="http://schemas.microsoft.com/office/drawing/2014/main" id="{F5CF4B69-E51A-44CD-85D6-718BFF603FA4}"/>
              </a:ext>
            </a:extLst>
          </p:cNvPr>
          <p:cNvSpPr>
            <a:spLocks xmlns:a="http://schemas.openxmlformats.org/drawingml/2006/main" noGrp="1"/>
          </p:cNvSpPr>
          <p:nvPr/>
        </p:nvSpPr>
        <p:spPr>
          <a:xfrm xmlns:a="http://schemas.openxmlformats.org/drawingml/2006/main">
            <a:off x="8686800" y="5029200"/>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4000"/>
              </a:lnSpc>
              <a:buNone/>
              <a:defRPr sz="945" b="1">
                <a:solidFill>
                  <a:srgbClr val="17212B"/>
                </a:solidFill>
                <a:latin typeface="Aptos"/>
                <a:ea typeface="Aptos"/>
                <a:cs typeface="Aptos"/>
              </a:defRPr>
            </a:pPr>
            <a:r>
              <a:rPr sz="945" b="1">
                <a:solidFill>
                  <a:srgbClr val="17212B"/>
                </a:solidFill>
                <a:latin typeface="Aptos"/>
                <a:ea typeface="Aptos"/>
                <a:cs typeface="Aptos"/>
              </a:rPr>
              <a:t>When the true relationship is linear, the linear baseline is strong and a dominant nonlinear branch does not necessarily help.</a:t>
            </a:r>
          </a:p>
        </p:txBody>
      </p:sp>
      <p:sp>
        <p:nvSpPr>
          <p:cNvPr id="13" name="">
            <a:extLst xmlns:a="http://schemas.openxmlformats.org/drawingml/2006/main">
              <a:ext uri="{FF2B5EF4-FFF2-40B4-BE49-F238E27FC236}">
                <a16:creationId xmlns:a16="http://schemas.microsoft.com/office/drawing/2014/main" id="{782054C5-C9F0-4260-8792-8C6CB997C3CD}"/>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7/12</a:t>
            </a:r>
          </a:p>
        </p:txBody>
      </p:sp>
    </p:spTree>
    <p:extLst>
      <p:ext uri="{BB962C8B-B14F-4D97-AF65-F5344CB8AC3E}">
        <p14:creationId xmlns:p14="http://schemas.microsoft.com/office/powerpoint/2010/main" val="1139436"/>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BDE5DB-4F66-40A9-B0CB-EBBE82988976}"/>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RESULT</a:t>
            </a:r>
          </a:p>
        </p:txBody>
      </p:sp>
      <p:sp>
        <p:nvSpPr>
          <p:cNvPr id="2" name="">
            <a:extLst xmlns:a="http://schemas.openxmlformats.org/drawingml/2006/main">
              <a:ext uri="{FF2B5EF4-FFF2-40B4-BE49-F238E27FC236}">
                <a16:creationId xmlns:a16="http://schemas.microsoft.com/office/drawing/2014/main" id="{7627EBBC-31E3-4876-AE79-514CC87E3D06}"/>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Linear signal: latent recovery</a:t>
            </a:r>
          </a:p>
        </p:txBody>
      </p:sp>
      <p:sp>
        <p:nvSpPr>
          <p:cNvPr id="3" name="">
            <a:extLst xmlns:a="http://schemas.openxmlformats.org/drawingml/2006/main">
              <a:ext uri="{FF2B5EF4-FFF2-40B4-BE49-F238E27FC236}">
                <a16:creationId xmlns:a16="http://schemas.microsoft.com/office/drawing/2014/main" id="{7DA444B5-F324-4B4D-B14C-BBEFF52798C1}"/>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Correlation with the true latent shows whether embeddings preserve the synthetic signal.</a:t>
            </a:r>
          </a:p>
        </p:txBody>
      </p:sp>
      <p:sp>
        <p:nvSpPr>
          <p:cNvPr id="4" name="">
            <a:extLst xmlns:a="http://schemas.openxmlformats.org/drawingml/2006/main">
              <a:ext uri="{FF2B5EF4-FFF2-40B4-BE49-F238E27FC236}">
                <a16:creationId xmlns:a16="http://schemas.microsoft.com/office/drawing/2014/main" id="{162988BE-3071-4C17-BC8B-7A3EE563BE00}"/>
              </a:ext>
            </a:extLst>
          </p:cNvPr>
          <p:cNvSpPr>
            <a:spLocks xmlns:a="http://schemas.openxmlformats.org/drawingml/2006/main" noGrp="1"/>
          </p:cNvSpPr>
          <p:nvPr/>
        </p:nvSpPr>
        <p:spPr>
          <a:xfrm xmlns:a="http://schemas.openxmlformats.org/drawingml/2006/main">
            <a:off x="533400" y="1771650"/>
            <a:ext cx="7715250" cy="401955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03469384a424b3d"/>
          <a:stretch xmlns:a="http://schemas.openxmlformats.org/drawingml/2006/main"/>
        </p:blipFill>
        <p:spPr>
          <a:xfrm xmlns:a="http://schemas.openxmlformats.org/drawingml/2006/main">
            <a:off x="628650" y="1899436"/>
            <a:ext cx="7524750" cy="376397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8D69BE5-E87F-4E32-90C2-197E6BBD3295}"/>
              </a:ext>
            </a:extLst>
          </p:cNvPr>
          <p:cNvSpPr>
            <a:spLocks xmlns:a="http://schemas.openxmlformats.org/drawingml/2006/main" noGrp="1"/>
          </p:cNvSpPr>
          <p:nvPr/>
        </p:nvSpPr>
        <p:spPr>
          <a:xfrm xmlns:a="http://schemas.openxmlformats.org/drawingml/2006/main">
            <a:off x="8458200" y="1866900"/>
            <a:ext cx="3105150" cy="3829050"/>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677D7C4-6161-4C6F-8D86-149A18243AC8}"/>
              </a:ext>
            </a:extLst>
          </p:cNvPr>
          <p:cNvSpPr>
            <a:spLocks xmlns:a="http://schemas.openxmlformats.org/drawingml/2006/main" noGrp="1"/>
          </p:cNvSpPr>
          <p:nvPr/>
        </p:nvSpPr>
        <p:spPr>
          <a:xfrm xmlns:a="http://schemas.openxmlformats.org/drawingml/2006/main">
            <a:off x="8458200" y="1866900"/>
            <a:ext cx="76200" cy="382905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79F57E9-ABE9-49DE-8D72-0493F9DCD690}"/>
              </a:ext>
            </a:extLst>
          </p:cNvPr>
          <p:cNvSpPr>
            <a:spLocks xmlns:a="http://schemas.openxmlformats.org/drawingml/2006/main" noGrp="1"/>
          </p:cNvSpPr>
          <p:nvPr/>
        </p:nvSpPr>
        <p:spPr>
          <a:xfrm xmlns:a="http://schemas.openxmlformats.org/drawingml/2006/main">
            <a:off x="8686800" y="2038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Interpretation</a:t>
            </a:r>
          </a:p>
        </p:txBody>
      </p:sp>
      <p:sp>
        <p:nvSpPr>
          <p:cNvPr id="9" name="">
            <a:extLst xmlns:a="http://schemas.openxmlformats.org/drawingml/2006/main">
              <a:ext uri="{FF2B5EF4-FFF2-40B4-BE49-F238E27FC236}">
                <a16:creationId xmlns:a16="http://schemas.microsoft.com/office/drawing/2014/main" id="{3EA170F4-16A6-4A5F-9E94-C1A8D05C1B86}"/>
              </a:ext>
            </a:extLst>
          </p:cNvPr>
          <p:cNvSpPr>
            <a:spLocks xmlns:a="http://schemas.openxmlformats.org/drawingml/2006/main" noGrp="1"/>
          </p:cNvSpPr>
          <p:nvPr/>
        </p:nvSpPr>
        <p:spPr>
          <a:xfrm xmlns:a="http://schemas.openxmlformats.org/drawingml/2006/main">
            <a:off x="8686800" y="2343150"/>
            <a:ext cx="2647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9000"/>
              </a:lnSpc>
              <a:buNone/>
              <a:defRPr sz="960" b="0">
                <a:solidFill>
                  <a:srgbClr val="5A6875"/>
                </a:solidFill>
                <a:latin typeface="Aptos"/>
                <a:ea typeface="Aptos"/>
                <a:cs typeface="Aptos"/>
              </a:defRPr>
            </a:pPr>
            <a:r>
              <a:rPr sz="960" b="0">
                <a:solidFill>
                  <a:srgbClr val="5A6875"/>
                </a:solidFill>
                <a:latin typeface="Aptos"/>
                <a:ea typeface="Aptos"/>
                <a:cs typeface="Aptos"/>
              </a:rPr>
              <a:t>This plot measures how much true latent signal remains in the embeddings. Moderate nonlinear contribution and the L2-regularized nonlinear model improve X-side recovery, while alpha=1 hurts recovery. Y-side recovery is more uneven.</a:t>
            </a:r>
          </a:p>
        </p:txBody>
      </p:sp>
      <p:sp>
        <p:nvSpPr>
          <p:cNvPr id="10" name="">
            <a:extLst xmlns:a="http://schemas.openxmlformats.org/drawingml/2006/main">
              <a:ext uri="{FF2B5EF4-FFF2-40B4-BE49-F238E27FC236}">
                <a16:creationId xmlns:a16="http://schemas.microsoft.com/office/drawing/2014/main" id="{73A8F362-3D00-46ED-AD00-D9CC452CF9D9}"/>
              </a:ext>
            </a:extLst>
          </p:cNvPr>
          <p:cNvSpPr>
            <a:spLocks xmlns:a="http://schemas.openxmlformats.org/drawingml/2006/main" noGrp="1"/>
          </p:cNvSpPr>
          <p:nvPr/>
        </p:nvSpPr>
        <p:spPr>
          <a:xfrm xmlns:a="http://schemas.openxmlformats.org/drawingml/2006/main">
            <a:off x="8686800" y="4591050"/>
            <a:ext cx="2647950" cy="9525"/>
          </a:xfrm>
          <a:prstGeom xmlns:a="http://schemas.openxmlformats.org/drawingml/2006/main" prst="rect">
            <a:avLst/>
          </a:prstGeom>
          <a:solidFill xmlns:a="http://schemas.openxmlformats.org/drawingml/2006/main">
            <a:srgbClr val="D7E0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09DCD1-A180-4CCD-BA5D-9BD59B29FC54}"/>
              </a:ext>
            </a:extLst>
          </p:cNvPr>
          <p:cNvSpPr>
            <a:spLocks xmlns:a="http://schemas.openxmlformats.org/drawingml/2006/main" noGrp="1"/>
          </p:cNvSpPr>
          <p:nvPr/>
        </p:nvSpPr>
        <p:spPr>
          <a:xfrm xmlns:a="http://schemas.openxmlformats.org/drawingml/2006/main">
            <a:off x="8686800" y="47625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Key takeaway</a:t>
            </a:r>
          </a:p>
        </p:txBody>
      </p:sp>
      <p:sp>
        <p:nvSpPr>
          <p:cNvPr id="12" name="">
            <a:extLst xmlns:a="http://schemas.openxmlformats.org/drawingml/2006/main">
              <a:ext uri="{FF2B5EF4-FFF2-40B4-BE49-F238E27FC236}">
                <a16:creationId xmlns:a16="http://schemas.microsoft.com/office/drawing/2014/main" id="{FAD614B7-9227-4800-9392-E91C72036339}"/>
              </a:ext>
            </a:extLst>
          </p:cNvPr>
          <p:cNvSpPr>
            <a:spLocks xmlns:a="http://schemas.openxmlformats.org/drawingml/2006/main" noGrp="1"/>
          </p:cNvSpPr>
          <p:nvPr/>
        </p:nvSpPr>
        <p:spPr>
          <a:xfrm xmlns:a="http://schemas.openxmlformats.org/drawingml/2006/main">
            <a:off x="8686800" y="5029200"/>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4000"/>
              </a:lnSpc>
              <a:buNone/>
              <a:defRPr sz="945" b="1">
                <a:solidFill>
                  <a:srgbClr val="17212B"/>
                </a:solidFill>
                <a:latin typeface="Aptos"/>
                <a:ea typeface="Aptos"/>
                <a:cs typeface="Aptos"/>
              </a:defRPr>
            </a:pPr>
            <a:r>
              <a:rPr sz="945" b="1">
                <a:solidFill>
                  <a:srgbClr val="17212B"/>
                </a:solidFill>
                <a:latin typeface="Aptos"/>
                <a:ea typeface="Aptos"/>
                <a:cs typeface="Aptos"/>
              </a:rPr>
              <a:t>Moderate nonlinear correction can improve latent recovery, but too much nonlinear influence can hurt even for linear signal.</a:t>
            </a:r>
          </a:p>
        </p:txBody>
      </p:sp>
      <p:sp>
        <p:nvSpPr>
          <p:cNvPr id="13" name="">
            <a:extLst xmlns:a="http://schemas.openxmlformats.org/drawingml/2006/main">
              <a:ext uri="{FF2B5EF4-FFF2-40B4-BE49-F238E27FC236}">
                <a16:creationId xmlns:a16="http://schemas.microsoft.com/office/drawing/2014/main" id="{DCFB1BFE-A605-4293-85D6-106BEE883550}"/>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8/12</a:t>
            </a:r>
          </a:p>
        </p:txBody>
      </p:sp>
    </p:spTree>
    <p:extLst>
      <p:ext uri="{BB962C8B-B14F-4D97-AF65-F5344CB8AC3E}">
        <p14:creationId xmlns:p14="http://schemas.microsoft.com/office/powerpoint/2010/main" val="944496512"/>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5B2A60-B67E-4EC4-86A2-0B5E76C3E6C9}"/>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RESULT</a:t>
            </a:r>
          </a:p>
        </p:txBody>
      </p:sp>
      <p:sp>
        <p:nvSpPr>
          <p:cNvPr id="2" name="">
            <a:extLst xmlns:a="http://schemas.openxmlformats.org/drawingml/2006/main">
              <a:ext uri="{FF2B5EF4-FFF2-40B4-BE49-F238E27FC236}">
                <a16:creationId xmlns:a16="http://schemas.microsoft.com/office/drawing/2014/main" id="{4FEE87EB-ECAA-47A6-9065-A4224514189A}"/>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Cubic signal: held-out separation</a:t>
            </a:r>
          </a:p>
        </p:txBody>
      </p:sp>
      <p:sp>
        <p:nvSpPr>
          <p:cNvPr id="3" name="">
            <a:extLst xmlns:a="http://schemas.openxmlformats.org/drawingml/2006/main">
              <a:ext uri="{FF2B5EF4-FFF2-40B4-BE49-F238E27FC236}">
                <a16:creationId xmlns:a16="http://schemas.microsoft.com/office/drawing/2014/main" id="{EB52379E-4983-4C0B-AD95-EB035BA0127C}"/>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The cubic relationship asks whether the nonlinear correction helps beyond the linear backbone.</a:t>
            </a:r>
          </a:p>
        </p:txBody>
      </p:sp>
      <p:sp>
        <p:nvSpPr>
          <p:cNvPr id="4" name="">
            <a:extLst xmlns:a="http://schemas.openxmlformats.org/drawingml/2006/main">
              <a:ext uri="{FF2B5EF4-FFF2-40B4-BE49-F238E27FC236}">
                <a16:creationId xmlns:a16="http://schemas.microsoft.com/office/drawing/2014/main" id="{9272C8AD-8731-48AC-9536-0DC72DE2FECD}"/>
              </a:ext>
            </a:extLst>
          </p:cNvPr>
          <p:cNvSpPr>
            <a:spLocks xmlns:a="http://schemas.openxmlformats.org/drawingml/2006/main" noGrp="1"/>
          </p:cNvSpPr>
          <p:nvPr/>
        </p:nvSpPr>
        <p:spPr>
          <a:xfrm xmlns:a="http://schemas.openxmlformats.org/drawingml/2006/main">
            <a:off x="533400" y="1771650"/>
            <a:ext cx="7715250" cy="401955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1f5645cdf514f65"/>
          <a:stretch xmlns:a="http://schemas.openxmlformats.org/drawingml/2006/main"/>
        </p:blipFill>
        <p:spPr>
          <a:xfrm xmlns:a="http://schemas.openxmlformats.org/drawingml/2006/main">
            <a:off x="628650" y="1899436"/>
            <a:ext cx="7524750" cy="376397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D2FCE67-059B-4591-A02C-C9BDADCAA030}"/>
              </a:ext>
            </a:extLst>
          </p:cNvPr>
          <p:cNvSpPr>
            <a:spLocks xmlns:a="http://schemas.openxmlformats.org/drawingml/2006/main" noGrp="1"/>
          </p:cNvSpPr>
          <p:nvPr/>
        </p:nvSpPr>
        <p:spPr>
          <a:xfrm xmlns:a="http://schemas.openxmlformats.org/drawingml/2006/main">
            <a:off x="8458200" y="1866900"/>
            <a:ext cx="3105150" cy="3829050"/>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5DF173E-6345-41B5-ADF6-4B4ED86247CD}"/>
              </a:ext>
            </a:extLst>
          </p:cNvPr>
          <p:cNvSpPr>
            <a:spLocks xmlns:a="http://schemas.openxmlformats.org/drawingml/2006/main" noGrp="1"/>
          </p:cNvSpPr>
          <p:nvPr/>
        </p:nvSpPr>
        <p:spPr>
          <a:xfrm xmlns:a="http://schemas.openxmlformats.org/drawingml/2006/main">
            <a:off x="8458200" y="1866900"/>
            <a:ext cx="76200" cy="382905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0135B29-4ACE-40F8-9663-2AC754BC1DF7}"/>
              </a:ext>
            </a:extLst>
          </p:cNvPr>
          <p:cNvSpPr>
            <a:spLocks xmlns:a="http://schemas.openxmlformats.org/drawingml/2006/main" noGrp="1"/>
          </p:cNvSpPr>
          <p:nvPr/>
        </p:nvSpPr>
        <p:spPr>
          <a:xfrm xmlns:a="http://schemas.openxmlformats.org/drawingml/2006/main">
            <a:off x="8686800" y="2038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Interpretation</a:t>
            </a:r>
          </a:p>
        </p:txBody>
      </p:sp>
      <p:sp>
        <p:nvSpPr>
          <p:cNvPr id="9" name="">
            <a:extLst xmlns:a="http://schemas.openxmlformats.org/drawingml/2006/main">
              <a:ext uri="{FF2B5EF4-FFF2-40B4-BE49-F238E27FC236}">
                <a16:creationId xmlns:a16="http://schemas.microsoft.com/office/drawing/2014/main" id="{621400B3-BAEE-473A-9E88-FA6C86929848}"/>
              </a:ext>
            </a:extLst>
          </p:cNvPr>
          <p:cNvSpPr>
            <a:spLocks xmlns:a="http://schemas.openxmlformats.org/drawingml/2006/main" noGrp="1"/>
          </p:cNvSpPr>
          <p:nvPr/>
        </p:nvSpPr>
        <p:spPr>
          <a:xfrm xmlns:a="http://schemas.openxmlformats.org/drawingml/2006/main">
            <a:off x="8686800" y="2343150"/>
            <a:ext cx="2647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9000"/>
              </a:lnSpc>
              <a:buNone/>
              <a:defRPr sz="960" b="0">
                <a:solidFill>
                  <a:srgbClr val="5A6875"/>
                </a:solidFill>
                <a:latin typeface="Aptos"/>
                <a:ea typeface="Aptos"/>
                <a:cs typeface="Aptos"/>
              </a:defRPr>
            </a:pPr>
            <a:r>
              <a:rPr sz="960" b="0">
                <a:solidFill>
                  <a:srgbClr val="5A6875"/>
                </a:solidFill>
                <a:latin typeface="Aptos"/>
                <a:ea typeface="Aptos"/>
                <a:cs typeface="Aptos"/>
              </a:rPr>
              <a:t>The cubic setting tests whether nonlinear correction helps beyond the linear backbone. Some controlled nonlinear or regularized models improve held-out separation over the shuffled baseline, suggesting partial nonlinear structure recovery. The alpha=1 model generalizes poorly.</a:t>
            </a:r>
          </a:p>
        </p:txBody>
      </p:sp>
      <p:sp>
        <p:nvSpPr>
          <p:cNvPr id="10" name="">
            <a:extLst xmlns:a="http://schemas.openxmlformats.org/drawingml/2006/main">
              <a:ext uri="{FF2B5EF4-FFF2-40B4-BE49-F238E27FC236}">
                <a16:creationId xmlns:a16="http://schemas.microsoft.com/office/drawing/2014/main" id="{DC9EEF8E-D5E2-4316-A40C-5D1B999C161C}"/>
              </a:ext>
            </a:extLst>
          </p:cNvPr>
          <p:cNvSpPr>
            <a:spLocks xmlns:a="http://schemas.openxmlformats.org/drawingml/2006/main" noGrp="1"/>
          </p:cNvSpPr>
          <p:nvPr/>
        </p:nvSpPr>
        <p:spPr>
          <a:xfrm xmlns:a="http://schemas.openxmlformats.org/drawingml/2006/main">
            <a:off x="8686800" y="4591050"/>
            <a:ext cx="2647950" cy="9525"/>
          </a:xfrm>
          <a:prstGeom xmlns:a="http://schemas.openxmlformats.org/drawingml/2006/main" prst="rect">
            <a:avLst/>
          </a:prstGeom>
          <a:solidFill xmlns:a="http://schemas.openxmlformats.org/drawingml/2006/main">
            <a:srgbClr val="D7E0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05E09BC-88AF-4075-823A-C6F7C1B07826}"/>
              </a:ext>
            </a:extLst>
          </p:cNvPr>
          <p:cNvSpPr>
            <a:spLocks xmlns:a="http://schemas.openxmlformats.org/drawingml/2006/main" noGrp="1"/>
          </p:cNvSpPr>
          <p:nvPr/>
        </p:nvSpPr>
        <p:spPr>
          <a:xfrm xmlns:a="http://schemas.openxmlformats.org/drawingml/2006/main">
            <a:off x="8686800" y="47625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Key takeaway</a:t>
            </a:r>
          </a:p>
        </p:txBody>
      </p:sp>
      <p:sp>
        <p:nvSpPr>
          <p:cNvPr id="12" name="">
            <a:extLst xmlns:a="http://schemas.openxmlformats.org/drawingml/2006/main">
              <a:ext uri="{FF2B5EF4-FFF2-40B4-BE49-F238E27FC236}">
                <a16:creationId xmlns:a16="http://schemas.microsoft.com/office/drawing/2014/main" id="{06520A59-556A-4D1B-B0F2-FE3C723745C8}"/>
              </a:ext>
            </a:extLst>
          </p:cNvPr>
          <p:cNvSpPr>
            <a:spLocks xmlns:a="http://schemas.openxmlformats.org/drawingml/2006/main" noGrp="1"/>
          </p:cNvSpPr>
          <p:nvPr/>
        </p:nvSpPr>
        <p:spPr>
          <a:xfrm xmlns:a="http://schemas.openxmlformats.org/drawingml/2006/main">
            <a:off x="8686800" y="5029200"/>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4000"/>
              </a:lnSpc>
              <a:buNone/>
              <a:defRPr sz="945" b="1">
                <a:solidFill>
                  <a:srgbClr val="17212B"/>
                </a:solidFill>
                <a:latin typeface="Aptos"/>
                <a:ea typeface="Aptos"/>
                <a:cs typeface="Aptos"/>
              </a:defRPr>
            </a:pPr>
            <a:r>
              <a:rPr sz="945" b="1">
                <a:solidFill>
                  <a:srgbClr val="17212B"/>
                </a:solidFill>
                <a:latin typeface="Aptos"/>
                <a:ea typeface="Aptos"/>
                <a:cs typeface="Aptos"/>
              </a:rPr>
              <a:t>Controlled nonlinear corrections can help nonlinear signal, but an overly large nonlinear branch can destabilize learning.</a:t>
            </a:r>
          </a:p>
        </p:txBody>
      </p:sp>
      <p:sp>
        <p:nvSpPr>
          <p:cNvPr id="13" name="">
            <a:extLst xmlns:a="http://schemas.openxmlformats.org/drawingml/2006/main">
              <a:ext uri="{FF2B5EF4-FFF2-40B4-BE49-F238E27FC236}">
                <a16:creationId xmlns:a16="http://schemas.microsoft.com/office/drawing/2014/main" id="{85DB42D2-BAA4-47F1-8DB4-697381F61C64}"/>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9/12</a:t>
            </a:r>
          </a:p>
        </p:txBody>
      </p:sp>
    </p:spTree>
    <p:extLst>
      <p:ext uri="{BB962C8B-B14F-4D97-AF65-F5344CB8AC3E}">
        <p14:creationId xmlns:p14="http://schemas.microsoft.com/office/powerpoint/2010/main" val="240312939"/>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E2481A-950E-4B28-8FCA-8D5C11FEABF8}"/>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RESULT</a:t>
            </a:r>
          </a:p>
        </p:txBody>
      </p:sp>
      <p:sp>
        <p:nvSpPr>
          <p:cNvPr id="2" name="">
            <a:extLst xmlns:a="http://schemas.openxmlformats.org/drawingml/2006/main">
              <a:ext uri="{FF2B5EF4-FFF2-40B4-BE49-F238E27FC236}">
                <a16:creationId xmlns:a16="http://schemas.microsoft.com/office/drawing/2014/main" id="{9C489280-BDBE-44D7-8393-4F022F66D12F}"/>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Cubic signal: latent recovery</a:t>
            </a:r>
          </a:p>
        </p:txBody>
      </p:sp>
      <p:sp>
        <p:nvSpPr>
          <p:cNvPr id="3" name="">
            <a:extLst xmlns:a="http://schemas.openxmlformats.org/drawingml/2006/main">
              <a:ext uri="{FF2B5EF4-FFF2-40B4-BE49-F238E27FC236}">
                <a16:creationId xmlns:a16="http://schemas.microsoft.com/office/drawing/2014/main" id="{5A4708A3-058F-459B-BE3A-D5FC5E632DFB}"/>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The recovery plot asks whether embeddings capture the true nonlinear latent relationship.</a:t>
            </a:r>
          </a:p>
        </p:txBody>
      </p:sp>
      <p:sp>
        <p:nvSpPr>
          <p:cNvPr id="4" name="">
            <a:extLst xmlns:a="http://schemas.openxmlformats.org/drawingml/2006/main">
              <a:ext uri="{FF2B5EF4-FFF2-40B4-BE49-F238E27FC236}">
                <a16:creationId xmlns:a16="http://schemas.microsoft.com/office/drawing/2014/main" id="{8FCBBF5E-AD94-43C2-B47D-D0FEE0A5F459}"/>
              </a:ext>
            </a:extLst>
          </p:cNvPr>
          <p:cNvSpPr>
            <a:spLocks xmlns:a="http://schemas.openxmlformats.org/drawingml/2006/main" noGrp="1"/>
          </p:cNvSpPr>
          <p:nvPr/>
        </p:nvSpPr>
        <p:spPr>
          <a:xfrm xmlns:a="http://schemas.openxmlformats.org/drawingml/2006/main">
            <a:off x="533400" y="1771650"/>
            <a:ext cx="7715250" cy="401955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4a30e3ad6d445ea"/>
          <a:stretch xmlns:a="http://schemas.openxmlformats.org/drawingml/2006/main"/>
        </p:blipFill>
        <p:spPr>
          <a:xfrm xmlns:a="http://schemas.openxmlformats.org/drawingml/2006/main">
            <a:off x="628650" y="1899436"/>
            <a:ext cx="7524750" cy="376397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C665966-52A6-4EB0-A456-45FEEE91ECFD}"/>
              </a:ext>
            </a:extLst>
          </p:cNvPr>
          <p:cNvSpPr>
            <a:spLocks xmlns:a="http://schemas.openxmlformats.org/drawingml/2006/main" noGrp="1"/>
          </p:cNvSpPr>
          <p:nvPr/>
        </p:nvSpPr>
        <p:spPr>
          <a:xfrm xmlns:a="http://schemas.openxmlformats.org/drawingml/2006/main">
            <a:off x="8458200" y="1866900"/>
            <a:ext cx="3105150" cy="3829050"/>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32FB416-A951-4860-BB77-D3E836E1681B}"/>
              </a:ext>
            </a:extLst>
          </p:cNvPr>
          <p:cNvSpPr>
            <a:spLocks xmlns:a="http://schemas.openxmlformats.org/drawingml/2006/main" noGrp="1"/>
          </p:cNvSpPr>
          <p:nvPr/>
        </p:nvSpPr>
        <p:spPr>
          <a:xfrm xmlns:a="http://schemas.openxmlformats.org/drawingml/2006/main">
            <a:off x="8458200" y="1866900"/>
            <a:ext cx="76200" cy="382905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0E27536-6C2A-4DAD-9B9E-4EDDC0FA04FA}"/>
              </a:ext>
            </a:extLst>
          </p:cNvPr>
          <p:cNvSpPr>
            <a:spLocks xmlns:a="http://schemas.openxmlformats.org/drawingml/2006/main" noGrp="1"/>
          </p:cNvSpPr>
          <p:nvPr/>
        </p:nvSpPr>
        <p:spPr>
          <a:xfrm xmlns:a="http://schemas.openxmlformats.org/drawingml/2006/main">
            <a:off x="8686800" y="2038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Interpretation</a:t>
            </a:r>
          </a:p>
        </p:txBody>
      </p:sp>
      <p:sp>
        <p:nvSpPr>
          <p:cNvPr id="9" name="">
            <a:extLst xmlns:a="http://schemas.openxmlformats.org/drawingml/2006/main">
              <a:ext uri="{FF2B5EF4-FFF2-40B4-BE49-F238E27FC236}">
                <a16:creationId xmlns:a16="http://schemas.microsoft.com/office/drawing/2014/main" id="{45619C4B-BB4F-429A-B578-DA37E13F1D66}"/>
              </a:ext>
            </a:extLst>
          </p:cNvPr>
          <p:cNvSpPr>
            <a:spLocks xmlns:a="http://schemas.openxmlformats.org/drawingml/2006/main" noGrp="1"/>
          </p:cNvSpPr>
          <p:nvPr/>
        </p:nvSpPr>
        <p:spPr>
          <a:xfrm xmlns:a="http://schemas.openxmlformats.org/drawingml/2006/main">
            <a:off x="8686800" y="2343150"/>
            <a:ext cx="2647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9000"/>
              </a:lnSpc>
              <a:buNone/>
              <a:defRPr sz="960" b="0">
                <a:solidFill>
                  <a:srgbClr val="5A6875"/>
                </a:solidFill>
                <a:latin typeface="Aptos"/>
                <a:ea typeface="Aptos"/>
                <a:cs typeface="Aptos"/>
              </a:defRPr>
            </a:pPr>
            <a:r>
              <a:rPr sz="960" b="0">
                <a:solidFill>
                  <a:srgbClr val="5A6875"/>
                </a:solidFill>
                <a:latin typeface="Aptos"/>
                <a:ea typeface="Aptos"/>
                <a:cs typeface="Aptos"/>
              </a:rPr>
              <a:t>Latent recovery is less consistent than in the linear setting, showing the cubic relationship is harder to capture. Controlled nonlinear or regularized models preserve more latent information for some views, while alpha=1 damages the representation.</a:t>
            </a:r>
          </a:p>
        </p:txBody>
      </p:sp>
      <p:sp>
        <p:nvSpPr>
          <p:cNvPr id="10" name="">
            <a:extLst xmlns:a="http://schemas.openxmlformats.org/drawingml/2006/main">
              <a:ext uri="{FF2B5EF4-FFF2-40B4-BE49-F238E27FC236}">
                <a16:creationId xmlns:a16="http://schemas.microsoft.com/office/drawing/2014/main" id="{1A3EF9FE-0C6B-42AF-BDCC-D458BEE60081}"/>
              </a:ext>
            </a:extLst>
          </p:cNvPr>
          <p:cNvSpPr>
            <a:spLocks xmlns:a="http://schemas.openxmlformats.org/drawingml/2006/main" noGrp="1"/>
          </p:cNvSpPr>
          <p:nvPr/>
        </p:nvSpPr>
        <p:spPr>
          <a:xfrm xmlns:a="http://schemas.openxmlformats.org/drawingml/2006/main">
            <a:off x="8686800" y="4591050"/>
            <a:ext cx="2647950" cy="9525"/>
          </a:xfrm>
          <a:prstGeom xmlns:a="http://schemas.openxmlformats.org/drawingml/2006/main" prst="rect">
            <a:avLst/>
          </a:prstGeom>
          <a:solidFill xmlns:a="http://schemas.openxmlformats.org/drawingml/2006/main">
            <a:srgbClr val="D7E0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AC170A-EE3B-4D3D-8D3C-DDA0F574003C}"/>
              </a:ext>
            </a:extLst>
          </p:cNvPr>
          <p:cNvSpPr>
            <a:spLocks xmlns:a="http://schemas.openxmlformats.org/drawingml/2006/main" noGrp="1"/>
          </p:cNvSpPr>
          <p:nvPr/>
        </p:nvSpPr>
        <p:spPr>
          <a:xfrm xmlns:a="http://schemas.openxmlformats.org/drawingml/2006/main">
            <a:off x="8686800" y="47625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Key takeaway</a:t>
            </a:r>
          </a:p>
        </p:txBody>
      </p:sp>
      <p:sp>
        <p:nvSpPr>
          <p:cNvPr id="12" name="">
            <a:extLst xmlns:a="http://schemas.openxmlformats.org/drawingml/2006/main">
              <a:ext uri="{FF2B5EF4-FFF2-40B4-BE49-F238E27FC236}">
                <a16:creationId xmlns:a16="http://schemas.microsoft.com/office/drawing/2014/main" id="{BD3A6B83-7B79-4F1A-AFF5-6DD16B298158}"/>
              </a:ext>
            </a:extLst>
          </p:cNvPr>
          <p:cNvSpPr>
            <a:spLocks xmlns:a="http://schemas.openxmlformats.org/drawingml/2006/main" noGrp="1"/>
          </p:cNvSpPr>
          <p:nvPr/>
        </p:nvSpPr>
        <p:spPr>
          <a:xfrm xmlns:a="http://schemas.openxmlformats.org/drawingml/2006/main">
            <a:off x="8686800" y="5029200"/>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4000"/>
              </a:lnSpc>
              <a:buNone/>
              <a:defRPr sz="945" b="1">
                <a:solidFill>
                  <a:srgbClr val="17212B"/>
                </a:solidFill>
                <a:latin typeface="Aptos"/>
                <a:ea typeface="Aptos"/>
                <a:cs typeface="Aptos"/>
              </a:defRPr>
            </a:pPr>
            <a:r>
              <a:rPr sz="945" b="1">
                <a:solidFill>
                  <a:srgbClr val="17212B"/>
                </a:solidFill>
                <a:latin typeface="Aptos"/>
                <a:ea typeface="Aptos"/>
                <a:cs typeface="Aptos"/>
              </a:rPr>
              <a:t>Nonlinear structure is harder to recover; controlled nonlinear correction helps more than a dominant nonlinear branch.</a:t>
            </a:r>
          </a:p>
        </p:txBody>
      </p:sp>
      <p:sp>
        <p:nvSpPr>
          <p:cNvPr id="13" name="">
            <a:extLst xmlns:a="http://schemas.openxmlformats.org/drawingml/2006/main">
              <a:ext uri="{FF2B5EF4-FFF2-40B4-BE49-F238E27FC236}">
                <a16:creationId xmlns:a16="http://schemas.microsoft.com/office/drawing/2014/main" id="{E808808C-8AF8-4183-BC40-647A9F2801E8}"/>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10/12</a:t>
            </a:r>
          </a:p>
        </p:txBody>
      </p:sp>
    </p:spTree>
    <p:extLst>
      <p:ext uri="{BB962C8B-B14F-4D97-AF65-F5344CB8AC3E}">
        <p14:creationId xmlns:p14="http://schemas.microsoft.com/office/powerpoint/2010/main" val="178450553"/>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76D155-6171-4FAC-A2F0-5CFBC0930862}"/>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RESULT</a:t>
            </a:r>
          </a:p>
        </p:txBody>
      </p:sp>
      <p:sp>
        <p:nvSpPr>
          <p:cNvPr id="2" name="">
            <a:extLst xmlns:a="http://schemas.openxmlformats.org/drawingml/2006/main">
              <a:ext uri="{FF2B5EF4-FFF2-40B4-BE49-F238E27FC236}">
                <a16:creationId xmlns:a16="http://schemas.microsoft.com/office/drawing/2014/main" id="{8C614317-DF4C-45D1-BAF0-D1305AE760B2}"/>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Branch ratio diagnostic</a:t>
            </a:r>
          </a:p>
        </p:txBody>
      </p:sp>
      <p:sp>
        <p:nvSpPr>
          <p:cNvPr id="3" name="">
            <a:extLst xmlns:a="http://schemas.openxmlformats.org/drawingml/2006/main">
              <a:ext uri="{FF2B5EF4-FFF2-40B4-BE49-F238E27FC236}">
                <a16:creationId xmlns:a16="http://schemas.microsoft.com/office/drawing/2014/main" id="{A3C22529-D53A-42A1-8D76-1C36B3B17ABA}"/>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The measured nonlinear/linear branch ratio checks whether alpha controls the correction size.</a:t>
            </a:r>
          </a:p>
        </p:txBody>
      </p:sp>
      <p:sp>
        <p:nvSpPr>
          <p:cNvPr id="4" name="">
            <a:extLst xmlns:a="http://schemas.openxmlformats.org/drawingml/2006/main">
              <a:ext uri="{FF2B5EF4-FFF2-40B4-BE49-F238E27FC236}">
                <a16:creationId xmlns:a16="http://schemas.microsoft.com/office/drawing/2014/main" id="{A08D18E8-73AA-4FDE-A3B0-7D21626D0577}"/>
              </a:ext>
            </a:extLst>
          </p:cNvPr>
          <p:cNvSpPr>
            <a:spLocks xmlns:a="http://schemas.openxmlformats.org/drawingml/2006/main" noGrp="1"/>
          </p:cNvSpPr>
          <p:nvPr/>
        </p:nvSpPr>
        <p:spPr>
          <a:xfrm xmlns:a="http://schemas.openxmlformats.org/drawingml/2006/main">
            <a:off x="533400" y="1771650"/>
            <a:ext cx="7715250" cy="4019550"/>
          </a:xfrm>
          <a:prstGeom xmlns:a="http://schemas.openxmlformats.org/drawingml/2006/main" prst="roundRect">
            <a:avLst>
              <a:gd name="adj" fmla="val 33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07a65d2e5854e36"/>
          <a:stretch xmlns:a="http://schemas.openxmlformats.org/drawingml/2006/main"/>
        </p:blipFill>
        <p:spPr>
          <a:xfrm xmlns:a="http://schemas.openxmlformats.org/drawingml/2006/main">
            <a:off x="628650" y="1920840"/>
            <a:ext cx="7524750" cy="372117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0344887-6A36-47E8-A3B0-56B40C261697}"/>
              </a:ext>
            </a:extLst>
          </p:cNvPr>
          <p:cNvSpPr>
            <a:spLocks xmlns:a="http://schemas.openxmlformats.org/drawingml/2006/main" noGrp="1"/>
          </p:cNvSpPr>
          <p:nvPr/>
        </p:nvSpPr>
        <p:spPr>
          <a:xfrm xmlns:a="http://schemas.openxmlformats.org/drawingml/2006/main">
            <a:off x="8458200" y="1866900"/>
            <a:ext cx="3105150" cy="3829050"/>
          </a:xfrm>
          <a:prstGeom xmlns:a="http://schemas.openxmlformats.org/drawingml/2006/main" prst="roundRect">
            <a:avLst>
              <a:gd name="adj" fmla="val 3681"/>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0D9393B-8C43-445A-9E4B-8E7ACA7C2076}"/>
              </a:ext>
            </a:extLst>
          </p:cNvPr>
          <p:cNvSpPr>
            <a:spLocks xmlns:a="http://schemas.openxmlformats.org/drawingml/2006/main" noGrp="1"/>
          </p:cNvSpPr>
          <p:nvPr/>
        </p:nvSpPr>
        <p:spPr>
          <a:xfrm xmlns:a="http://schemas.openxmlformats.org/drawingml/2006/main">
            <a:off x="8458200" y="1866900"/>
            <a:ext cx="76200" cy="382905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193CBF6-2B66-4E6E-BFD3-46B461B3191F}"/>
              </a:ext>
            </a:extLst>
          </p:cNvPr>
          <p:cNvSpPr>
            <a:spLocks xmlns:a="http://schemas.openxmlformats.org/drawingml/2006/main" noGrp="1"/>
          </p:cNvSpPr>
          <p:nvPr/>
        </p:nvSpPr>
        <p:spPr>
          <a:xfrm xmlns:a="http://schemas.openxmlformats.org/drawingml/2006/main">
            <a:off x="8686800" y="2038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Interpretation</a:t>
            </a:r>
          </a:p>
        </p:txBody>
      </p:sp>
      <p:sp>
        <p:nvSpPr>
          <p:cNvPr id="9" name="">
            <a:extLst xmlns:a="http://schemas.openxmlformats.org/drawingml/2006/main">
              <a:ext uri="{FF2B5EF4-FFF2-40B4-BE49-F238E27FC236}">
                <a16:creationId xmlns:a16="http://schemas.microsoft.com/office/drawing/2014/main" id="{F800EB2E-238E-43B3-B914-00B0CCAF7D86}"/>
              </a:ext>
            </a:extLst>
          </p:cNvPr>
          <p:cNvSpPr>
            <a:spLocks xmlns:a="http://schemas.openxmlformats.org/drawingml/2006/main" noGrp="1"/>
          </p:cNvSpPr>
          <p:nvPr/>
        </p:nvSpPr>
        <p:spPr>
          <a:xfrm xmlns:a="http://schemas.openxmlformats.org/drawingml/2006/main">
            <a:off x="8686800" y="2343150"/>
            <a:ext cx="26479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9000"/>
              </a:lnSpc>
              <a:buNone/>
              <a:defRPr sz="960" b="0">
                <a:solidFill>
                  <a:srgbClr val="5A6875"/>
                </a:solidFill>
                <a:latin typeface="Aptos"/>
                <a:ea typeface="Aptos"/>
                <a:cs typeface="Aptos"/>
              </a:defRPr>
            </a:pPr>
            <a:r>
              <a:rPr sz="960" b="0">
                <a:solidFill>
                  <a:srgbClr val="5A6875"/>
                </a:solidFill>
                <a:latin typeface="Aptos"/>
                <a:ea typeface="Aptos"/>
                <a:cs typeface="Aptos"/>
              </a:rPr>
              <a:t>This diagnostic checks whether alpha controls the nonlinear correction size. Because both branches are normalized before summing, the nonlinear-to-linear ratio should track alpha: alpha=0.01 is tiny, alpha=0.10 is controlled, and alpha=1 is nearly as large as the linear branch.</a:t>
            </a:r>
          </a:p>
        </p:txBody>
      </p:sp>
      <p:sp>
        <p:nvSpPr>
          <p:cNvPr id="10" name="">
            <a:extLst xmlns:a="http://schemas.openxmlformats.org/drawingml/2006/main">
              <a:ext uri="{FF2B5EF4-FFF2-40B4-BE49-F238E27FC236}">
                <a16:creationId xmlns:a16="http://schemas.microsoft.com/office/drawing/2014/main" id="{DED95FF0-8AA9-40BD-8904-F22BD84D68A8}"/>
              </a:ext>
            </a:extLst>
          </p:cNvPr>
          <p:cNvSpPr>
            <a:spLocks xmlns:a="http://schemas.openxmlformats.org/drawingml/2006/main" noGrp="1"/>
          </p:cNvSpPr>
          <p:nvPr/>
        </p:nvSpPr>
        <p:spPr>
          <a:xfrm xmlns:a="http://schemas.openxmlformats.org/drawingml/2006/main">
            <a:off x="8686800" y="4591050"/>
            <a:ext cx="2647950" cy="9525"/>
          </a:xfrm>
          <a:prstGeom xmlns:a="http://schemas.openxmlformats.org/drawingml/2006/main" prst="rect">
            <a:avLst/>
          </a:prstGeom>
          <a:solidFill xmlns:a="http://schemas.openxmlformats.org/drawingml/2006/main">
            <a:srgbClr val="D7E0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542EC8-3E1E-40C2-AC10-AE0634527A65}"/>
              </a:ext>
            </a:extLst>
          </p:cNvPr>
          <p:cNvSpPr>
            <a:spLocks xmlns:a="http://schemas.openxmlformats.org/drawingml/2006/main" noGrp="1"/>
          </p:cNvSpPr>
          <p:nvPr/>
        </p:nvSpPr>
        <p:spPr>
          <a:xfrm xmlns:a="http://schemas.openxmlformats.org/drawingml/2006/main">
            <a:off x="8686800" y="47625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00" b="1">
                <a:solidFill>
                  <a:srgbClr val="17212B"/>
                </a:solidFill>
                <a:latin typeface="Aptos"/>
                <a:ea typeface="Aptos"/>
                <a:cs typeface="Aptos"/>
              </a:defRPr>
            </a:pPr>
            <a:r>
              <a:rPr sz="1200" b="1">
                <a:solidFill>
                  <a:srgbClr val="17212B"/>
                </a:solidFill>
                <a:latin typeface="Aptos"/>
                <a:ea typeface="Aptos"/>
                <a:cs typeface="Aptos"/>
              </a:rPr>
              <a:t>Key takeaway</a:t>
            </a:r>
          </a:p>
        </p:txBody>
      </p:sp>
      <p:sp>
        <p:nvSpPr>
          <p:cNvPr id="12" name="">
            <a:extLst xmlns:a="http://schemas.openxmlformats.org/drawingml/2006/main">
              <a:ext uri="{FF2B5EF4-FFF2-40B4-BE49-F238E27FC236}">
                <a16:creationId xmlns:a16="http://schemas.microsoft.com/office/drawing/2014/main" id="{C9FB5ED5-271C-4CAC-81C6-9144B5F73C6E}"/>
              </a:ext>
            </a:extLst>
          </p:cNvPr>
          <p:cNvSpPr>
            <a:spLocks xmlns:a="http://schemas.openxmlformats.org/drawingml/2006/main" noGrp="1"/>
          </p:cNvSpPr>
          <p:nvPr/>
        </p:nvSpPr>
        <p:spPr>
          <a:xfrm xmlns:a="http://schemas.openxmlformats.org/drawingml/2006/main">
            <a:off x="8686800" y="5029200"/>
            <a:ext cx="2647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4000"/>
              </a:lnSpc>
              <a:buNone/>
              <a:defRPr sz="945" b="1">
                <a:solidFill>
                  <a:srgbClr val="17212B"/>
                </a:solidFill>
                <a:latin typeface="Aptos"/>
                <a:ea typeface="Aptos"/>
                <a:cs typeface="Aptos"/>
              </a:defRPr>
            </a:pPr>
            <a:r>
              <a:rPr sz="945" b="1">
                <a:solidFill>
                  <a:srgbClr val="17212B"/>
                </a:solidFill>
                <a:latin typeface="Aptos"/>
                <a:ea typeface="Aptos"/>
                <a:cs typeface="Aptos"/>
              </a:rPr>
              <a:t>Branch normalization makes alpha interpretable: small alpha gives a controlled correction, while alpha=1 lets the nonlinear branch dominate.</a:t>
            </a:r>
          </a:p>
        </p:txBody>
      </p:sp>
      <p:sp>
        <p:nvSpPr>
          <p:cNvPr id="13" name="">
            <a:extLst xmlns:a="http://schemas.openxmlformats.org/drawingml/2006/main">
              <a:ext uri="{FF2B5EF4-FFF2-40B4-BE49-F238E27FC236}">
                <a16:creationId xmlns:a16="http://schemas.microsoft.com/office/drawing/2014/main" id="{93DE37D7-BA82-4590-96AF-9C1E39E21C19}"/>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11/12</a:t>
            </a:r>
          </a:p>
        </p:txBody>
      </p:sp>
    </p:spTree>
    <p:extLst>
      <p:ext uri="{BB962C8B-B14F-4D97-AF65-F5344CB8AC3E}">
        <p14:creationId xmlns:p14="http://schemas.microsoft.com/office/powerpoint/2010/main" val="282435624"/>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B3DDEC-E387-47F7-8313-4E0B6B70D529}"/>
              </a:ext>
            </a:extLst>
          </p:cNvPr>
          <p:cNvSpPr>
            <a:spLocks xmlns:a="http://schemas.openxmlformats.org/drawingml/2006/main" noGrp="1"/>
          </p:cNvSpPr>
          <p:nvPr/>
        </p:nvSpPr>
        <p:spPr>
          <a:xfrm xmlns:a="http://schemas.openxmlformats.org/drawingml/2006/main">
            <a:off x="62865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900" b="1">
                <a:solidFill>
                  <a:srgbClr val="2F6B9A"/>
                </a:solidFill>
                <a:latin typeface="Aptos"/>
                <a:ea typeface="Aptos"/>
                <a:cs typeface="Aptos"/>
              </a:defRPr>
            </a:pPr>
            <a:r>
              <a:rPr sz="900" b="1">
                <a:solidFill>
                  <a:srgbClr val="2F6B9A"/>
                </a:solidFill>
                <a:latin typeface="Aptos"/>
                <a:ea typeface="Aptos"/>
                <a:cs typeface="Aptos"/>
              </a:rPr>
              <a:t>SUMMARY</a:t>
            </a:r>
          </a:p>
        </p:txBody>
      </p:sp>
      <p:sp>
        <p:nvSpPr>
          <p:cNvPr id="2" name="">
            <a:extLst xmlns:a="http://schemas.openxmlformats.org/drawingml/2006/main">
              <a:ext uri="{FF2B5EF4-FFF2-40B4-BE49-F238E27FC236}">
                <a16:creationId xmlns:a16="http://schemas.microsoft.com/office/drawing/2014/main" id="{D088F4C0-398C-490D-87BC-4901DA03C786}"/>
              </a:ext>
            </a:extLst>
          </p:cNvPr>
          <p:cNvSpPr>
            <a:spLocks xmlns:a="http://schemas.openxmlformats.org/drawingml/2006/main" noGrp="1"/>
          </p:cNvSpPr>
          <p:nvPr/>
        </p:nvSpPr>
        <p:spPr>
          <a:xfrm xmlns:a="http://schemas.openxmlformats.org/drawingml/2006/main">
            <a:off x="628650" y="838200"/>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2625" b="1">
                <a:solidFill>
                  <a:srgbClr val="17212B"/>
                </a:solidFill>
                <a:latin typeface="Aptos Display"/>
                <a:ea typeface="Aptos Display"/>
                <a:cs typeface="Aptos Display"/>
              </a:defRPr>
            </a:pPr>
            <a:r>
              <a:rPr sz="2625" b="1">
                <a:solidFill>
                  <a:srgbClr val="17212B"/>
                </a:solidFill>
                <a:latin typeface="Aptos Display"/>
                <a:ea typeface="Aptos Display"/>
                <a:cs typeface="Aptos Display"/>
              </a:rPr>
              <a:t>Findings and next steps</a:t>
            </a:r>
          </a:p>
        </p:txBody>
      </p:sp>
      <p:sp>
        <p:nvSpPr>
          <p:cNvPr id="3" name="">
            <a:extLst xmlns:a="http://schemas.openxmlformats.org/drawingml/2006/main">
              <a:ext uri="{FF2B5EF4-FFF2-40B4-BE49-F238E27FC236}">
                <a16:creationId xmlns:a16="http://schemas.microsoft.com/office/drawing/2014/main" id="{E3E2A84B-0A01-4DC4-99D7-73550D0B6699}"/>
              </a:ext>
            </a:extLst>
          </p:cNvPr>
          <p:cNvSpPr>
            <a:spLocks xmlns:a="http://schemas.openxmlformats.org/drawingml/2006/main" noGrp="1"/>
          </p:cNvSpPr>
          <p:nvPr/>
        </p:nvSpPr>
        <p:spPr>
          <a:xfrm xmlns:a="http://schemas.openxmlformats.org/drawingml/2006/main">
            <a:off x="628650" y="15811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275" b="0">
                <a:solidFill>
                  <a:srgbClr val="5A6875"/>
                </a:solidFill>
                <a:latin typeface="Aptos"/>
                <a:ea typeface="Aptos"/>
                <a:cs typeface="Aptos"/>
              </a:defRPr>
            </a:pPr>
            <a:r>
              <a:rPr sz="1275" b="0">
                <a:solidFill>
                  <a:srgbClr val="5A6875"/>
                </a:solidFill>
                <a:latin typeface="Aptos"/>
                <a:ea typeface="Aptos"/>
                <a:cs typeface="Aptos"/>
              </a:rPr>
              <a:t>The cleaned experiment separates signal recovery from noise fitting.</a:t>
            </a:r>
          </a:p>
        </p:txBody>
      </p:sp>
      <p:sp>
        <p:nvSpPr>
          <p:cNvPr id="4" name="">
            <a:extLst xmlns:a="http://schemas.openxmlformats.org/drawingml/2006/main">
              <a:ext uri="{FF2B5EF4-FFF2-40B4-BE49-F238E27FC236}">
                <a16:creationId xmlns:a16="http://schemas.microsoft.com/office/drawing/2014/main" id="{66BA8E97-DE6A-4E5C-BE2A-E18235D1B89B}"/>
              </a:ext>
            </a:extLst>
          </p:cNvPr>
          <p:cNvSpPr>
            <a:spLocks xmlns:a="http://schemas.openxmlformats.org/drawingml/2006/main" noGrp="1"/>
          </p:cNvSpPr>
          <p:nvPr/>
        </p:nvSpPr>
        <p:spPr>
          <a:xfrm xmlns:a="http://schemas.openxmlformats.org/drawingml/2006/main">
            <a:off x="742950" y="1885950"/>
            <a:ext cx="4762500" cy="16764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4F1194A-151D-4F68-81EB-A52AB2651A02}"/>
              </a:ext>
            </a:extLst>
          </p:cNvPr>
          <p:cNvSpPr>
            <a:spLocks xmlns:a="http://schemas.openxmlformats.org/drawingml/2006/main" noGrp="1"/>
          </p:cNvSpPr>
          <p:nvPr/>
        </p:nvSpPr>
        <p:spPr>
          <a:xfrm xmlns:a="http://schemas.openxmlformats.org/drawingml/2006/main">
            <a:off x="742950" y="1885950"/>
            <a:ext cx="76200" cy="1676400"/>
          </a:xfrm>
          <a:prstGeom xmlns:a="http://schemas.openxmlformats.org/drawingml/2006/main" prst="rect">
            <a:avLst/>
          </a:prstGeom>
          <a:solidFill xmlns:a="http://schemas.openxmlformats.org/drawingml/2006/main">
            <a:srgbClr val="2F6B9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78E6546-1A9C-4A32-B273-D531973D57F1}"/>
              </a:ext>
            </a:extLst>
          </p:cNvPr>
          <p:cNvSpPr>
            <a:spLocks xmlns:a="http://schemas.openxmlformats.org/drawingml/2006/main" noGrp="1"/>
          </p:cNvSpPr>
          <p:nvPr/>
        </p:nvSpPr>
        <p:spPr>
          <a:xfrm xmlns:a="http://schemas.openxmlformats.org/drawingml/2006/main">
            <a:off x="952500" y="20574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Findings to report</a:t>
            </a:r>
          </a:p>
        </p:txBody>
      </p:sp>
      <p:sp>
        <p:nvSpPr>
          <p:cNvPr id="7" name="">
            <a:extLst xmlns:a="http://schemas.openxmlformats.org/drawingml/2006/main">
              <a:ext uri="{FF2B5EF4-FFF2-40B4-BE49-F238E27FC236}">
                <a16:creationId xmlns:a16="http://schemas.microsoft.com/office/drawing/2014/main" id="{7C32097F-2E2D-4AD5-B848-013406F7003F}"/>
              </a:ext>
            </a:extLst>
          </p:cNvPr>
          <p:cNvSpPr>
            <a:spLocks xmlns:a="http://schemas.openxmlformats.org/drawingml/2006/main" noGrp="1"/>
          </p:cNvSpPr>
          <p:nvPr/>
        </p:nvSpPr>
        <p:spPr>
          <a:xfrm xmlns:a="http://schemas.openxmlformats.org/drawingml/2006/main">
            <a:off x="952500" y="2400300"/>
            <a:ext cx="4362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Noise-only: high train alignment but held-out near zero means memorization.</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Linear signal: the linear baseline is strong; moderate nonlinear correction can improve recovery.</a:t>
            </a:r>
          </a:p>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Cubic signal: controlled or regularized nonlinear models help more than alpha=1.</a:t>
            </a:r>
          </a:p>
        </p:txBody>
      </p:sp>
      <p:sp>
        <p:nvSpPr>
          <p:cNvPr id="8" name="">
            <a:extLst xmlns:a="http://schemas.openxmlformats.org/drawingml/2006/main">
              <a:ext uri="{FF2B5EF4-FFF2-40B4-BE49-F238E27FC236}">
                <a16:creationId xmlns:a16="http://schemas.microsoft.com/office/drawing/2014/main" id="{3D67D734-EDA1-4FD5-AD7B-1E78748B7F7E}"/>
              </a:ext>
            </a:extLst>
          </p:cNvPr>
          <p:cNvSpPr>
            <a:spLocks xmlns:a="http://schemas.openxmlformats.org/drawingml/2006/main" noGrp="1"/>
          </p:cNvSpPr>
          <p:nvPr/>
        </p:nvSpPr>
        <p:spPr>
          <a:xfrm xmlns:a="http://schemas.openxmlformats.org/drawingml/2006/main">
            <a:off x="6115050" y="1885950"/>
            <a:ext cx="4762500" cy="1676400"/>
          </a:xfrm>
          <a:prstGeom xmlns:a="http://schemas.openxmlformats.org/drawingml/2006/main" prst="roundRect">
            <a:avLst>
              <a:gd name="adj" fmla="val 6818"/>
            </a:avLst>
          </a:prstGeom>
          <a:solidFill xmlns:a="http://schemas.openxmlformats.org/drawingml/2006/main">
            <a:srgbClr val="FFFFFF"/>
          </a:solidFill>
          <a:ln xmlns:a="http://schemas.openxmlformats.org/drawingml/2006/main" w="9525">
            <a:solidFill>
              <a:srgbClr val="D7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5090344-5F8C-42DE-A7CC-85F210EF42D3}"/>
              </a:ext>
            </a:extLst>
          </p:cNvPr>
          <p:cNvSpPr>
            <a:spLocks xmlns:a="http://schemas.openxmlformats.org/drawingml/2006/main" noGrp="1"/>
          </p:cNvSpPr>
          <p:nvPr/>
        </p:nvSpPr>
        <p:spPr>
          <a:xfrm xmlns:a="http://schemas.openxmlformats.org/drawingml/2006/main">
            <a:off x="6115050" y="1885950"/>
            <a:ext cx="76200" cy="1676400"/>
          </a:xfrm>
          <a:prstGeom xmlns:a="http://schemas.openxmlformats.org/drawingml/2006/main" prst="rect">
            <a:avLst/>
          </a:prstGeom>
          <a:solidFill xmlns:a="http://schemas.openxmlformats.org/drawingml/2006/main">
            <a:srgbClr val="4C9D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68CA60E-B546-43E9-AFC8-A16C8F90ACD5}"/>
              </a:ext>
            </a:extLst>
          </p:cNvPr>
          <p:cNvSpPr>
            <a:spLocks xmlns:a="http://schemas.openxmlformats.org/drawingml/2006/main" noGrp="1"/>
          </p:cNvSpPr>
          <p:nvPr/>
        </p:nvSpPr>
        <p:spPr>
          <a:xfrm xmlns:a="http://schemas.openxmlformats.org/drawingml/2006/main">
            <a:off x="6324600" y="20574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350" b="1">
                <a:solidFill>
                  <a:srgbClr val="17212B"/>
                </a:solidFill>
                <a:latin typeface="Aptos"/>
                <a:ea typeface="Aptos"/>
                <a:cs typeface="Aptos"/>
              </a:defRPr>
            </a:pPr>
            <a:r>
              <a:rPr sz="1350" b="1">
                <a:solidFill>
                  <a:srgbClr val="17212B"/>
                </a:solidFill>
                <a:latin typeface="Aptos"/>
                <a:ea typeface="Aptos"/>
                <a:cs typeface="Aptos"/>
              </a:rPr>
              <a:t>Main caution</a:t>
            </a:r>
          </a:p>
        </p:txBody>
      </p:sp>
      <p:sp>
        <p:nvSpPr>
          <p:cNvPr id="11" name="">
            <a:extLst xmlns:a="http://schemas.openxmlformats.org/drawingml/2006/main">
              <a:ext uri="{FF2B5EF4-FFF2-40B4-BE49-F238E27FC236}">
                <a16:creationId xmlns:a16="http://schemas.microsoft.com/office/drawing/2014/main" id="{72758AE4-9876-4DBF-98A3-010E6C77DD04}"/>
              </a:ext>
            </a:extLst>
          </p:cNvPr>
          <p:cNvSpPr>
            <a:spLocks xmlns:a="http://schemas.openxmlformats.org/drawingml/2006/main" noGrp="1"/>
          </p:cNvSpPr>
          <p:nvPr/>
        </p:nvSpPr>
        <p:spPr>
          <a:xfrm xmlns:a="http://schemas.openxmlformats.org/drawingml/2006/main">
            <a:off x="6324600" y="2400300"/>
            <a:ext cx="43624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0">
                <a:solidFill>
                  <a:srgbClr val="5A6875"/>
                </a:solidFill>
                <a:latin typeface="Aptos"/>
                <a:ea typeface="Aptos"/>
                <a:cs typeface="Aptos"/>
              </a:defRPr>
            </a:pPr>
            <a:r>
              <a:rPr sz="1125" b="0">
                <a:solidFill>
                  <a:srgbClr val="5A6875"/>
                </a:solidFill>
                <a:latin typeface="Aptos"/>
                <a:ea typeface="Aptos"/>
                <a:cs typeface="Aptos"/>
              </a:rPr>
              <a:t>The train/test alignment gap is still large in the linear and cubic settings. Branch normalization makes alpha interpretable, but it does not by itself solve overfitting or loss-design issues.</a:t>
            </a:r>
          </a:p>
        </p:txBody>
      </p:sp>
      <p:sp>
        <p:nvSpPr>
          <p:cNvPr id="12" name="">
            <a:extLst xmlns:a="http://schemas.openxmlformats.org/drawingml/2006/main">
              <a:ext uri="{FF2B5EF4-FFF2-40B4-BE49-F238E27FC236}">
                <a16:creationId xmlns:a16="http://schemas.microsoft.com/office/drawing/2014/main" id="{F9B40D9B-56AC-4698-B440-07F4C53F006C}"/>
              </a:ext>
            </a:extLst>
          </p:cNvPr>
          <p:cNvSpPr>
            <a:spLocks xmlns:a="http://schemas.openxmlformats.org/drawingml/2006/main" noGrp="1"/>
          </p:cNvSpPr>
          <p:nvPr/>
        </p:nvSpPr>
        <p:spPr>
          <a:xfrm xmlns:a="http://schemas.openxmlformats.org/drawingml/2006/main">
            <a:off x="742950" y="39243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1950" b="1">
                <a:solidFill>
                  <a:srgbClr val="17212B"/>
                </a:solidFill>
                <a:latin typeface="Aptos"/>
                <a:ea typeface="Aptos"/>
                <a:cs typeface="Aptos"/>
              </a:defRPr>
            </a:pPr>
            <a:r>
              <a:rPr sz="1950" b="1">
                <a:solidFill>
                  <a:srgbClr val="17212B"/>
                </a:solidFill>
                <a:latin typeface="Aptos"/>
                <a:ea typeface="Aptos"/>
                <a:cs typeface="Aptos"/>
              </a:rPr>
              <a:t>Next steps</a:t>
            </a:r>
          </a:p>
        </p:txBody>
      </p:sp>
      <p:sp>
        <p:nvSpPr>
          <p:cNvPr id="13" name="">
            <a:extLst xmlns:a="http://schemas.openxmlformats.org/drawingml/2006/main">
              <a:ext uri="{FF2B5EF4-FFF2-40B4-BE49-F238E27FC236}">
                <a16:creationId xmlns:a16="http://schemas.microsoft.com/office/drawing/2014/main" id="{77BEF4C3-FC29-45EE-896D-F22A648B6CA9}"/>
              </a:ext>
            </a:extLst>
          </p:cNvPr>
          <p:cNvSpPr>
            <a:spLocks xmlns:a="http://schemas.openxmlformats.org/drawingml/2006/main" noGrp="1"/>
          </p:cNvSpPr>
          <p:nvPr/>
        </p:nvSpPr>
        <p:spPr>
          <a:xfrm xmlns:a="http://schemas.openxmlformats.org/drawingml/2006/main">
            <a:off x="914400" y="4362450"/>
            <a:ext cx="89535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marL="18" indent="-10">
              <a:lnSpc>
                <a:spcPct val="115000"/>
              </a:lnSpc>
              <a:buNone/>
              <a:defRPr sz="1350">
                <a:solidFill>
                  <a:srgbClr val="17212B"/>
                </a:solidFill>
                <a:latin typeface="Aptos"/>
                <a:ea typeface="Aptos"/>
                <a:cs typeface="Aptos"/>
              </a:defRPr>
            </a:pPr>
            <a:r>
              <a:rPr sz="1350">
                <a:solidFill>
                  <a:srgbClr val="17212B"/>
                </a:solidFill>
                <a:latin typeface="Aptos"/>
                <a:ea typeface="Aptos"/>
                <a:cs typeface="Aptos"/>
              </a:rPr>
              <a:t>Understand and reduce the train/test alignment gap for linear and cubic signals.</a:t>
            </a:r>
          </a:p>
          <a:p xmlns:a="http://schemas.openxmlformats.org/drawingml/2006/main">
            <a:pPr marL="18" indent="-10">
              <a:lnSpc>
                <a:spcPct val="115000"/>
              </a:lnSpc>
              <a:buNone/>
              <a:defRPr sz="1350">
                <a:solidFill>
                  <a:srgbClr val="17212B"/>
                </a:solidFill>
                <a:latin typeface="Aptos"/>
                <a:ea typeface="Aptos"/>
                <a:cs typeface="Aptos"/>
              </a:defRPr>
            </a:pPr>
            <a:r>
              <a:rPr sz="1350">
                <a:solidFill>
                  <a:srgbClr val="17212B"/>
                </a:solidFill>
                <a:latin typeface="Aptos"/>
                <a:ea typeface="Aptos"/>
                <a:cs typeface="Aptos"/>
              </a:rPr>
              <a:t>Try different contrastive loss functions.</a:t>
            </a:r>
          </a:p>
          <a:p xmlns:a="http://schemas.openxmlformats.org/drawingml/2006/main">
            <a:pPr marL="18" indent="-10">
              <a:lnSpc>
                <a:spcPct val="115000"/>
              </a:lnSpc>
              <a:buNone/>
              <a:defRPr sz="1350">
                <a:solidFill>
                  <a:srgbClr val="17212B"/>
                </a:solidFill>
                <a:latin typeface="Aptos"/>
                <a:ea typeface="Aptos"/>
                <a:cs typeface="Aptos"/>
              </a:defRPr>
            </a:pPr>
            <a:r>
              <a:rPr sz="1350">
                <a:solidFill>
                  <a:srgbClr val="17212B"/>
                </a:solidFill>
                <a:latin typeface="Aptos"/>
                <a:ea typeface="Aptos"/>
                <a:cs typeface="Aptos"/>
              </a:rPr>
              <a:t>Tune the early stopping mechanism and stopping criteria.</a:t>
            </a:r>
          </a:p>
          <a:p xmlns:a="http://schemas.openxmlformats.org/drawingml/2006/main">
            <a:pPr marL="18" indent="-10">
              <a:lnSpc>
                <a:spcPct val="115000"/>
              </a:lnSpc>
              <a:buNone/>
              <a:defRPr sz="1350">
                <a:solidFill>
                  <a:srgbClr val="17212B"/>
                </a:solidFill>
                <a:latin typeface="Aptos"/>
                <a:ea typeface="Aptos"/>
                <a:cs typeface="Aptos"/>
              </a:defRPr>
            </a:pPr>
            <a:r>
              <a:rPr sz="1350">
                <a:solidFill>
                  <a:srgbClr val="17212B"/>
                </a:solidFill>
                <a:latin typeface="Aptos"/>
                <a:ea typeface="Aptos"/>
                <a:cs typeface="Aptos"/>
              </a:rPr>
              <a:t>Try other signal relationships beyond linear and cubic.</a:t>
            </a:r>
          </a:p>
          <a:p xmlns:a="http://schemas.openxmlformats.org/drawingml/2006/main">
            <a:pPr marL="18" indent="-10">
              <a:lnSpc>
                <a:spcPct val="115000"/>
              </a:lnSpc>
              <a:buNone/>
              <a:defRPr sz="1350">
                <a:solidFill>
                  <a:srgbClr val="17212B"/>
                </a:solidFill>
                <a:latin typeface="Aptos"/>
                <a:ea typeface="Aptos"/>
                <a:cs typeface="Aptos"/>
              </a:defRPr>
            </a:pPr>
            <a:r>
              <a:rPr sz="1350">
                <a:solidFill>
                  <a:srgbClr val="17212B"/>
                </a:solidFill>
                <a:latin typeface="Aptos"/>
                <a:ea typeface="Aptos"/>
                <a:cs typeface="Aptos"/>
              </a:rPr>
              <a:t>Repeat the strongest settings across more random seeds.</a:t>
            </a:r>
          </a:p>
        </p:txBody>
      </p:sp>
      <p:sp>
        <p:nvSpPr>
          <p:cNvPr id="14" name="">
            <a:extLst xmlns:a="http://schemas.openxmlformats.org/drawingml/2006/main">
              <a:ext uri="{FF2B5EF4-FFF2-40B4-BE49-F238E27FC236}">
                <a16:creationId xmlns:a16="http://schemas.microsoft.com/office/drawing/2014/main" id="{65A2BEB8-837C-444F-A3AF-9BD5CFF077FD}"/>
              </a:ext>
            </a:extLst>
          </p:cNvPr>
          <p:cNvSpPr>
            <a:spLocks xmlns:a="http://schemas.openxmlformats.org/drawingml/2006/main" noGrp="1"/>
          </p:cNvSpPr>
          <p:nvPr/>
        </p:nvSpPr>
        <p:spPr>
          <a:xfrm xmlns:a="http://schemas.openxmlformats.org/drawingml/2006/main">
            <a:off x="628650" y="65532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5000"/>
              </a:lnSpc>
              <a:buNone/>
              <a:defRPr sz="750" b="0">
                <a:solidFill>
                  <a:srgbClr val="8996A3"/>
                </a:solidFill>
                <a:latin typeface="Aptos"/>
                <a:ea typeface="Aptos"/>
                <a:cs typeface="Aptos"/>
              </a:defRPr>
            </a:pPr>
            <a:r>
              <a:rPr sz="750" b="0">
                <a:solidFill>
                  <a:srgbClr val="8996A3"/>
                </a:solidFill>
                <a:latin typeface="Aptos"/>
                <a:ea typeface="Aptos"/>
                <a:cs typeface="Aptos"/>
              </a:rPr>
              <a:t>Contrastive encoder experiment | 12/12</a:t>
            </a:r>
          </a:p>
        </p:txBody>
      </p:sp>
    </p:spTree>
    <p:extLst>
      <p:ext uri="{BB962C8B-B14F-4D97-AF65-F5344CB8AC3E}">
        <p14:creationId xmlns:p14="http://schemas.microsoft.com/office/powerpoint/2010/main" val="352769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2026-06-15T12:50:05.6170000Z</dcterms:created>
  <dcterms:modified xsi:type="dcterms:W3CDTF">2026-06-15T12:50:05.6170000Z</dcterms:modified>
</coreProperties>
</file>