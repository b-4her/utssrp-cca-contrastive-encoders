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937c5a2d8f49d6" /><Relationship Type="http://schemas.openxmlformats.org/officeDocument/2006/relationships/extended-properties" Target="/docProps/app.xml" Id="Rd7bd5831c954478f" /><Relationship Type="http://schemas.openxmlformats.org/officeDocument/2006/relationships/officeDocument" Target="/ppt/presentation.xml" Id="R68113fed205c4b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faebf0fd6445b3"/>
  </p:sldMasterIdLst>
  <p:notesMasterIdLst>
    <p:notesMasterId xmlns:r="http://schemas.openxmlformats.org/officeDocument/2006/relationships" r:id="R783f06ff03144f30"/>
  </p:notesMasterIdLst>
  <p:sldIdLst>
    <p:sldId xmlns:r="http://schemas.openxmlformats.org/officeDocument/2006/relationships" id="256" r:id="Rf4adca552c134f63"/>
    <p:sldId xmlns:r="http://schemas.openxmlformats.org/officeDocument/2006/relationships" id="257" r:id="R2a1844a4018b46c7"/>
    <p:sldId xmlns:r="http://schemas.openxmlformats.org/officeDocument/2006/relationships" id="258" r:id="Raf479df598ba454b"/>
    <p:sldId xmlns:r="http://schemas.openxmlformats.org/officeDocument/2006/relationships" id="259" r:id="R0bdd882014f8428c"/>
    <p:sldId xmlns:r="http://schemas.openxmlformats.org/officeDocument/2006/relationships" id="260" r:id="Rbb3c4e9651864ddb"/>
    <p:sldId xmlns:r="http://schemas.openxmlformats.org/officeDocument/2006/relationships" id="261" r:id="R1bc6cbc8202f482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76eef786204107" /><Relationship Type="http://schemas.openxmlformats.org/officeDocument/2006/relationships/slideMaster" Target="/ppt/slideMasters/slideMaster1.xml" Id="Rc3faebf0fd6445b3" /><Relationship Type="http://schemas.openxmlformats.org/officeDocument/2006/relationships/notesMaster" Target="/ppt/notesMasters/notesMaster1.xml" Id="R783f06ff03144f30" /><Relationship Type="http://schemas.openxmlformats.org/officeDocument/2006/relationships/presProps" Target="/ppt/presProps.xml" Id="Rc4074702c19a4283" /><Relationship Type="http://schemas.openxmlformats.org/officeDocument/2006/relationships/viewProps" Target="/ppt/viewProps.xml" Id="R86354feeb0c547cb" /><Relationship Type="http://schemas.openxmlformats.org/officeDocument/2006/relationships/tableStyles" Target="/ppt/tableStyles.xml" Id="Rd4718776b5054e77" /><Relationship Type="http://schemas.openxmlformats.org/officeDocument/2006/relationships/slide" Target="/ppt/slides/slide1.xml" Id="Rf4adca552c134f63" /><Relationship Type="http://schemas.openxmlformats.org/officeDocument/2006/relationships/slide" Target="/ppt/slides/slide2.xml" Id="R2a1844a4018b46c7" /><Relationship Type="http://schemas.openxmlformats.org/officeDocument/2006/relationships/slide" Target="/ppt/slides/slide3.xml" Id="Raf479df598ba454b" /><Relationship Type="http://schemas.openxmlformats.org/officeDocument/2006/relationships/slide" Target="/ppt/slides/slide4.xml" Id="R0bdd882014f8428c" /><Relationship Type="http://schemas.openxmlformats.org/officeDocument/2006/relationships/slide" Target="/ppt/slides/slide5.xml" Id="Rbb3c4e9651864ddb" /><Relationship Type="http://schemas.openxmlformats.org/officeDocument/2006/relationships/slide" Target="/ppt/slides/slide6.xml" Id="R1bc6cbc8202f48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22465db80f41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314a93eef1406b" /><Relationship Type="http://schemas.openxmlformats.org/officeDocument/2006/relationships/notesMaster" Target="/ppt/notesMasters/notesMaster1.xml" Id="Rcd98605807b341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20f66d810b4adb" /><Relationship Type="http://schemas.openxmlformats.org/officeDocument/2006/relationships/notesMaster" Target="/ppt/notesMasters/notesMaster1.xml" Id="R3718078e255546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17a112f5a94396" /><Relationship Type="http://schemas.openxmlformats.org/officeDocument/2006/relationships/notesMaster" Target="/ppt/notesMasters/notesMaster1.xml" Id="Rfeb09b14b6ba45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828081b64d419f" /><Relationship Type="http://schemas.openxmlformats.org/officeDocument/2006/relationships/notesMaster" Target="/ppt/notesMasters/notesMaster1.xml" Id="R63103a8dbe1a4e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cab40627a64fb6" /><Relationship Type="http://schemas.openxmlformats.org/officeDocument/2006/relationships/notesMaster" Target="/ppt/notesMasters/notesMaster1.xml" Id="R50ce04975ab941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ae8eeba3764e12" /><Relationship Type="http://schemas.openxmlformats.org/officeDocument/2006/relationships/notesMaster" Target="/ppt/notesMasters/notesMaster1.xml" Id="Raf56d99aa2fc42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1381f267014e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6aac9c110b4a03" /><Relationship Type="http://schemas.openxmlformats.org/officeDocument/2006/relationships/slideLayout" Target="/ppt/slideLayouts/slideLayout1.xml" Id="R75129b8968ca4d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129b8968ca4d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503d6bf464105" /><Relationship Type="http://schemas.openxmlformats.org/officeDocument/2006/relationships/notesSlide" Target="/ppt/notesSlides/notesSlide1.xml" Id="Refed2cf80a3a43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fcd39226d4537" /><Relationship Type="http://schemas.openxmlformats.org/officeDocument/2006/relationships/notesSlide" Target="/ppt/notesSlides/notesSlide2.xml" Id="R75f8754d56a047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055b7693f4cef" /><Relationship Type="http://schemas.openxmlformats.org/officeDocument/2006/relationships/notesSlide" Target="/ppt/notesSlides/notesSlide3.xml" Id="Rf8d4e140d60945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d22d5dce44ece" /><Relationship Type="http://schemas.openxmlformats.org/officeDocument/2006/relationships/notesSlide" Target="/ppt/notesSlides/notesSlide4.xml" Id="R27ef1ed6bbc94f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060f91f9b4fbb" /><Relationship Type="http://schemas.openxmlformats.org/officeDocument/2006/relationships/notesSlide" Target="/ppt/notesSlides/notesSlide5.xml" Id="Rac8b7a1f640f4c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7e62d654843d9" /><Relationship Type="http://schemas.openxmlformats.org/officeDocument/2006/relationships/notesSlide" Target="/ppt/notesSlides/notesSlide6.xml" Id="R2f632f77619244c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BDD3BD-1EDA-488E-8BE3-0C3CDB97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C0EB6-9DB9-4D85-BE4F-1FA2FF3A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UPDATED STUDY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558AE-CA40-4F22-B35C-6688C72E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Normalized contrastive encoders for paired random 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A763F-AC16-4769-83C5-E27C4089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904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Same paper loss for every model; only architecture, alpha, and regularization change.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FA9CD-D95E-4366-BB57-4FD434F9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47625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32542-B760-4088-AFC6-94928F9A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Core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DDE21-EA90-4015-B4ED-8967A756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Does the nonlinear correction recover real paired signal, or does it mostly add capacity to fit noise?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017FF-76DF-4471-B0BC-9DD25E7D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The updated architecture normalizes branch outputs before alpha is applied, so alpha has a measurable meaning.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5D128-0B2A-4E10-81C0-9113EC99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F"/>
          </a:solidFill>
          <a:ln xmlns:a="http://schemas.openxmlformats.org/drawingml/2006/main" w="10478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31BAB-59BA-4AF7-B168-BF3F174E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95825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Raw-dot-product paper loss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C0375-F093-43D5-ACCF-A465364C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002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Experiment 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C5811-BDFD-4EBF-B8BB-8B41FE78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621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2"/>
          </a:solidFill>
          <a:ln xmlns:a="http://schemas.openxmlformats.org/drawingml/2006/main" w="10478">
            <a:solidFill>
              <a:srgbClr val="0F8B8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4165C-9D31-4F17-A748-2C7D8885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76450"/>
            <a:ext cx="1200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Synthetic paired data</a:t>
            </a:r>
          </a:p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X view + Y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7E68E2-DC88-40A7-B089-F49F80D7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F"/>
          </a:solidFill>
          <a:ln xmlns:a="http://schemas.openxmlformats.org/drawingml/2006/main" w="10478">
            <a:solidFill>
              <a:srgbClr val="2F6F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C39A8-3CB3-4580-9872-D60AAFCE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1200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Train encoders</a:t>
            </a:r>
          </a:p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with paper loss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A46F7-3654-4823-95D5-183301A1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621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A"/>
          </a:solidFill>
          <a:ln xmlns:a="http://schemas.openxmlformats.org/drawingml/2006/main" w="10478">
            <a:solidFill>
              <a:srgbClr val="2E8B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6E4C1E-78A1-4422-B862-92BB3983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76450"/>
            <a:ext cx="1200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Evaluate held-out</a:t>
            </a:r>
          </a:p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alignment + signal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A6645-66BE-4848-9092-79DD0543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03145"/>
            <a:ext cx="7620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847304-ABD8-49BB-B211-278EF31E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03145"/>
            <a:ext cx="7620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6E35D-F4C4-4F37-8646-84A25D7C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0027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AD3D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AD3D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AEA57E-BCC9-48E3-A12E-BEDCA316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0027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AD3D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AD3D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2703A2-310B-43F5-B5CA-0A8527E9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1638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7"/>
          </a:solidFill>
          <a:ln xmlns:a="http://schemas.openxmlformats.org/drawingml/2006/main" w="10478">
            <a:solidFill>
              <a:srgbClr val="B842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F65CE5-1C63-407B-974B-517DF9D4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290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424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4242"/>
                </a:solidFill>
                <a:latin typeface="Aptos"/>
                <a:ea typeface="Aptos"/>
                <a:cs typeface="Aptos"/>
              </a:rPr>
              <a:t>Noise 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1698B3-2F6B-4945-8A90-84F92A5A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909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X and Y independent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B45C1A-DAE4-43C7-B886-BDE58FDA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76600"/>
            <a:ext cx="1638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10478">
            <a:solidFill>
              <a:srgbClr val="C777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52E3E5-9906-49B1-8E6A-C6D7AE63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290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77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77700"/>
                </a:solidFill>
                <a:latin typeface="Aptos"/>
                <a:ea typeface="Aptos"/>
                <a:cs typeface="Aptos"/>
              </a:rPr>
              <a:t>Linear signal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B7AB44-F648-4A7A-ADE0-52CF47A9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909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Z_y = Z_x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11B0CF-C572-4277-9900-C4EEDFCE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76600"/>
            <a:ext cx="1638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BFF"/>
          </a:solidFill>
          <a:ln xmlns:a="http://schemas.openxmlformats.org/drawingml/2006/main" w="10478">
            <a:solidFill>
              <a:srgbClr val="6D5B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F17978-DAC7-4DD5-A555-E30312C3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290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Quadratic signal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4D9634-8C4F-477A-A140-D79B3C5A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909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Z_y = standardize(Z_x^2)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22890E-2834-461B-8CD8-B7E0EC5B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657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5"/>
                </a:solidFill>
                <a:latin typeface="Aptos"/>
                <a:ea typeface="Aptos"/>
                <a:cs typeface="Aptos"/>
              </a:rPr>
              <a:t>contrastive_encoders / encoder-comparison.ipynb</a:t>
            </a:r>
          </a:p>
        </p:txBody>
      </p:sp>
    </p:spTree>
    <p:extLst>
      <p:ext uri="{BB962C8B-B14F-4D97-AF65-F5344CB8AC3E}">
        <p14:creationId xmlns:p14="http://schemas.microsoft.com/office/powerpoint/2010/main" val="16668645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86D0E6-2827-49EF-94C6-9D1DD39D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98180-6A18-4EC6-B7F9-4518212F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ARCHITECTURE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F2DF2-728F-4FAC-ACB4-0E251872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What changed: alpha scales a normalized nonlinear branch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E0FFA-E935-42EA-B79E-CC6DA02C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904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Normalization is applied to outputs of branches, not to the learned weights.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73650-16CE-4115-83A0-535F8C77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49339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42B11-9459-4F2D-BBEA-E2020F7C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467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0B90A-356B-4FDC-A9E1-CFD3CFE3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F"/>
          </a:solidFill>
          <a:ln xmlns:a="http://schemas.openxmlformats.org/drawingml/2006/main" w="10478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A9F7D-BAF2-4B35-ADDF-8A75510C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76425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Pure linear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ABD0B-8AB0-4C93-844E-549ECABF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476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5F665-651F-44F8-8C13-7C32B08A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4133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g(u) = Norm(G u)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C32B6-8B5D-4739-8ADC-B0D33677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052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E7663-3293-4D5F-B1F9-EBEA1A4F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F645D-69BB-4300-9537-E912C01C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05200"/>
            <a:ext cx="99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F"/>
          </a:solidFill>
          <a:ln xmlns:a="http://schemas.openxmlformats.org/drawingml/2006/main" w="10478">
            <a:solidFill>
              <a:srgbClr val="2F6F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7F35C-1203-47B0-8852-4654225A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19500"/>
            <a:ext cx="76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G 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73B2E-49E9-4B57-8196-866D5E07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05200"/>
            <a:ext cx="99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2"/>
          </a:solidFill>
          <a:ln xmlns:a="http://schemas.openxmlformats.org/drawingml/2006/main" w="10478">
            <a:solidFill>
              <a:srgbClr val="0F8B8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F41A1-DCC7-401E-8CC8-F616E608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19500"/>
            <a:ext cx="76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BE4D1-F432-4A48-8E53-6A2F1B62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50945"/>
            <a:ext cx="5334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82F046-1C72-4809-9180-F49B5BB9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50945"/>
            <a:ext cx="5143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96E5B-A188-44DD-A343-FE2F8769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Output scale is controlled before the raw dot product loss sees 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95A722-7237-4785-B48F-3C4A1B8B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2"/>
          </a:solidFill>
          <a:ln xmlns:a="http://schemas.openxmlformats.org/drawingml/2006/main" w="10478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5D8F6D-6972-4D34-AE6B-78E17BB9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76425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MLP nonlinear residual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1588B4-4C1C-453C-978C-0F3ADFF4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6950"/>
            <a:ext cx="5010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15417A-0CF9-40CE-836A-91F9D450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38400"/>
            <a:ext cx="466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g(u) = Norm(G u) + alpha * Norm(A1 sigma(A2 u + b))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A28AEC-74D9-4E4D-8753-94083DBC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19500"/>
            <a:ext cx="57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6D6C72-0FB1-49C5-A170-D8ED83D9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3380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03FE84-4091-4ACA-991C-4D952603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76600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F"/>
          </a:solidFill>
          <a:ln xmlns:a="http://schemas.openxmlformats.org/drawingml/2006/main" w="10478">
            <a:solidFill>
              <a:srgbClr val="2F6F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D360C9-66A7-4F1D-BF8C-4D9B0BE5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909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G u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414572-FD3D-44C7-A830-C9587C4D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7660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2"/>
          </a:solidFill>
          <a:ln xmlns:a="http://schemas.openxmlformats.org/drawingml/2006/main" w="10478">
            <a:solidFill>
              <a:srgbClr val="0F8B8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45B73A-7949-441C-9FAB-ABA675DD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9090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Norm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215D5F-899B-40CF-AECA-B7614ED6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48150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10478">
            <a:solidFill>
              <a:srgbClr val="C777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63114C-4E44-45E3-9313-647370B0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62450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A2 -&gt; GELU -&gt; A1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48B5D7-F08D-4153-9A6F-2ED0ADCC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481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2"/>
          </a:solidFill>
          <a:ln xmlns:a="http://schemas.openxmlformats.org/drawingml/2006/main" w="10478">
            <a:solidFill>
              <a:srgbClr val="0F8B8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72D546-65FC-4DDB-994D-A0F93E05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624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472FC8-4A6B-4D3C-8A48-311A93E3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248150"/>
            <a:ext cx="685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BFF"/>
          </a:solidFill>
          <a:ln xmlns:a="http://schemas.openxmlformats.org/drawingml/2006/main" w="10478">
            <a:solidFill>
              <a:srgbClr val="6D5BD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DD5DB1-2FD8-4AF7-BB4F-5ADD028F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36245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alpha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FDFAEC-7322-4643-91CA-F33B93C2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81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39300A-6264-4F32-89C8-EEBC5F6D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55720"/>
            <a:ext cx="2476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6F963B-3789-4343-A306-0BDE3029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820" y="3514725"/>
            <a:ext cx="2286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0D1855-1CF2-4924-A68C-54B47069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03295"/>
            <a:ext cx="2476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6735A6-469E-459F-AD2F-7DDCDA7D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03295"/>
            <a:ext cx="4000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A8F074-AD8C-4ACE-9137-34A1CE12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55720"/>
            <a:ext cx="1524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8F60F9-CFF5-4D4D-84AA-5B3FF356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570" y="3867150"/>
            <a:ext cx="2286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DE957B-5C6A-4FC7-8E60-CEFD93D0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4845"/>
            <a:ext cx="1524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FAA75F-6274-4136-8F94-22E97B64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74845"/>
            <a:ext cx="4000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49EF2A-A566-4CCD-BDFD-226FE2FC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474845"/>
            <a:ext cx="3619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DF1D90-CB43-4D73-948D-FFF9203B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03295"/>
            <a:ext cx="21907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6A98CB-9F4C-40C4-B7EC-4D87EEA2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245" y="3514725"/>
            <a:ext cx="2286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197BA1-C8ED-46AE-8F56-B18513E8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722370"/>
            <a:ext cx="21907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D554CF-BCA7-425F-9631-567CCF55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474845"/>
            <a:ext cx="31432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928653-BB28-453C-AA71-CD3AFC58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4695" y="3790950"/>
            <a:ext cx="2286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A56E94-BCB6-4572-BA20-5252B45A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779520"/>
            <a:ext cx="31432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9AFE107-A8F0-4DAF-A992-B555769F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958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B8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F8B8D"/>
                </a:solidFill>
                <a:latin typeface="Aptos Mono"/>
                <a:ea typeface="Aptos Mono"/>
                <a:cs typeface="Aptos Mono"/>
              </a:rPr>
              <a:t>BatchNorm1d(affine=False)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29F93D-AC35-4FFC-B203-CD35E140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6250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No trainable scale inside normalization, so A1 cannot simply grow to cancel small alpha.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6B9363-E20C-450A-A152-50211E3B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657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5"/>
                </a:solidFill>
                <a:latin typeface="Aptos"/>
                <a:ea typeface="Aptos"/>
                <a:cs typeface="Aptos"/>
              </a:rPr>
              <a:t>contrastive_encoders / encoder-comparison.ipynb</a:t>
            </a:r>
          </a:p>
        </p:txBody>
      </p:sp>
    </p:spTree>
    <p:extLst>
      <p:ext uri="{BB962C8B-B14F-4D97-AF65-F5344CB8AC3E}">
        <p14:creationId xmlns:p14="http://schemas.microsoft.com/office/powerpoint/2010/main" val="12645869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66BB2D-9649-459F-A172-91625201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C236E-8956-4463-963A-69AE39C9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PENALTY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127D6-14DA-415A-949F-36B2098B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Regularization stays separate from the paper loss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0FAA2-B74C-4FDA-95DB-8A0CCE1C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904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The loss is identical across encoders; penalties are optional add-ons for specific model variants.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4BE4E-6432-4D6B-BDD8-1843FABE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5A505-5FEC-4D47-8578-137EFAAD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Training objective minimized in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27C81-EF50-4C48-B604-74004EC4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76400"/>
            <a:ext cx="685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paper_contrastive_loss(z_x, z_y) + L1 + L2 + nonlinear_output_penalty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D9FE9-9C18-41A4-8816-7E9B37D1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D2240-D5D5-4CDB-AF01-76AA271C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F"/>
          </a:solidFill>
          <a:ln xmlns:a="http://schemas.openxmlformats.org/drawingml/2006/main" w="10478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1E763-F373-41D9-9847-F41F518D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L1 on linear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3C1E3-77B8-419A-91B6-7D1A6E4A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622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lambda * (|G_X|_1 + |G_Y|_1)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E2F41-6083-4554-929B-03A3E4FC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24150"/>
            <a:ext cx="4524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Optional lasso on the linear maps. It asks the linear backbone to use fewer input features.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4085C-B80D-435C-AA8C-347C3E7C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76FDE-ACEA-48F7-890C-3142DB8A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10478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6EFF8-D66C-499E-8AF1-F5F7B62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77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7700"/>
                </a:solidFill>
                <a:latin typeface="Aptos"/>
                <a:ea typeface="Aptos"/>
                <a:cs typeface="Aptos"/>
              </a:rPr>
              <a:t>L1 on nonlinear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C9D57F-4D69-438A-983D-CB092884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100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lambda * (|A2_X|_1 + |A2_Y|_1)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DB619-BC7F-4008-96DD-A0F1E4BE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71900"/>
            <a:ext cx="4524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Now applied mainly to A2. Because the nonlinear branch output is normalized, shrinking A1 is not the clearest way to shrink the branch.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1340B4-5482-44BC-959B-80FAEF32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E0D425-F45C-4A33-B891-F50E6CC6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2"/>
          </a:solidFill>
          <a:ln xmlns:a="http://schemas.openxmlformats.org/drawingml/2006/main" w="10478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2B00DD-5436-4A93-A185-F5FD5834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Branch-size diagnostic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162389-2AF1-48AB-9E0A-34C3BF70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577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||alpha * nonlinear|| / ||linear||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DDE7F9-80E5-46D9-AAA0-66A39A35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19650"/>
            <a:ext cx="4524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This is not a loss term. It checks whether measured nonlinear branch size increases with alpha.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A3F91F-1C31-47DB-9E82-F8CC50D7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4333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BFF"/>
          </a:solidFill>
          <a:ln xmlns:a="http://schemas.openxmlformats.org/drawingml/2006/main" w="10478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C4D5E7-06F8-4B11-8FF6-2CBC625B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4105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L1-regularized nonlinear = MLP nonlinear (alpha=0.10) + A2 lasso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F6C427-8BA0-4C6B-8C5D-2CE0C14D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829300"/>
            <a:ext cx="6229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Key interpretation: if nonlinear models win only on train separation but not held-out separation, that is a noise-fitting warning.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3B8981-9089-4F69-A96F-46472E96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657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5"/>
                </a:solidFill>
                <a:latin typeface="Aptos"/>
                <a:ea typeface="Aptos"/>
                <a:cs typeface="Aptos"/>
              </a:rPr>
              <a:t>contrastive_encoders / encoder-comparison.ipynb</a:t>
            </a:r>
          </a:p>
        </p:txBody>
      </p:sp>
    </p:spTree>
    <p:extLst>
      <p:ext uri="{BB962C8B-B14F-4D97-AF65-F5344CB8AC3E}">
        <p14:creationId xmlns:p14="http://schemas.microsoft.com/office/powerpoint/2010/main" val="3017670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FAEE5B-7916-42A2-BE02-71A30D7D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520C3-4BDF-4C47-96B5-8A09590C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EXPERIMENT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7FF9F-C91E-40D5-8423-9F8CF354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Three settings: noise, linear signal, quadratic 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1F7B1-39CB-4490-8C04-C8C98669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904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X and Y are different views with their own latent variables, closer to the caption/image intuition.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33FFB-31C5-47E9-B98E-7F369012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3528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D89BB-8E6A-4A84-BEFF-912B08A6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35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7"/>
          </a:solidFill>
          <a:ln xmlns:a="http://schemas.openxmlformats.org/drawingml/2006/main" w="10478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14D83-E11A-466D-A6DB-5DC3C0C8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24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4242"/>
                </a:solidFill>
                <a:latin typeface="Aptos"/>
                <a:ea typeface="Aptos"/>
                <a:cs typeface="Aptos"/>
              </a:rPr>
              <a:t>Noise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2CB7F-8472-4FD2-B861-5C8E674F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7"/>
          </a:solidFill>
          <a:ln xmlns:a="http://schemas.openxmlformats.org/drawingml/2006/main" w="10478">
            <a:solidFill>
              <a:srgbClr val="B842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5D52C-0B16-484D-B135-73562594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Z_x: none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3E58E-D5AD-4219-9C34-D85236B2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67000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7"/>
          </a:solidFill>
          <a:ln xmlns:a="http://schemas.openxmlformats.org/drawingml/2006/main" w="10478">
            <a:solidFill>
              <a:srgbClr val="B842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C9CEE-2127-4D51-B17F-96F13402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8130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Z_y: none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C23F4-6C14-46B5-8516-83416225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22270"/>
            <a:ext cx="4762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56861-6849-4186-B208-244AB1F8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337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latent relation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E2519-ABE1-48D6-986B-94BA4A5D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05F0B-6DAB-4D89-94BB-88BEFDE5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X = signal(Z_x) + noise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E16C3-EB5C-4536-8D42-55336C83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909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02B42E-B15F-45B7-B389-BDA7060B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052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Y = signal(Z_y) + noise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E9F89B-40AB-472B-8AE0-40BD23E7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No true pair structure should generalize.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4E61BB-E833-41F5-8874-4A4B2CD9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52600"/>
            <a:ext cx="33528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7D8237-7357-4331-B0F9-23AF2C1A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52600"/>
            <a:ext cx="335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10478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904094-1313-4753-8CC4-2BF28322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812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77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7700"/>
                </a:solidFill>
                <a:latin typeface="Aptos"/>
                <a:ea typeface="Aptos"/>
                <a:cs typeface="Aptos"/>
              </a:rPr>
              <a:t>Linear 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B7C2EF-C69C-4D54-8C79-7ED3A38D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67000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10478">
            <a:solidFill>
              <a:srgbClr val="C777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901D89-F173-48B8-9221-36C87F5A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Z_x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90331E-527E-4728-8239-D7BFBDC7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67000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10478">
            <a:solidFill>
              <a:srgbClr val="C777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83FA8B-9538-47CC-A4BB-63A0E4F1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Z_y = Z_x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575519-D112-4513-8BA7-AC91283A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22270"/>
            <a:ext cx="4762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89C65B-7C3D-4B79-A9E0-C8A6D9AE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337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latent relation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685A0F-22EA-4EAF-8AB1-8B728FCB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909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E636EF-F586-4A53-809E-0B22A6B3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052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X = signal(Z_x) + noise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EF8298-B5EE-4CD8-B6EB-329A1170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8F36E2-0C23-4691-9CBE-8B70D536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Y = signal(Z_y) + noise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803F7C-8CEA-450B-BBA8-E5FC7AE9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5148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Linear encoders should have a fair path to recover the signal.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3F2DE9-D8B8-4B4B-B8F4-B7AE4DCD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52600"/>
            <a:ext cx="33528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C0F21F-2FE3-4989-B670-5964AB3C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52600"/>
            <a:ext cx="335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BFF"/>
          </a:solidFill>
          <a:ln xmlns:a="http://schemas.openxmlformats.org/drawingml/2006/main" w="10478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4DEFAD-3DDF-4740-A92E-2F26F849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812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Quadratic signal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6C8046-B45B-4417-8071-6A55EDC9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BFF"/>
          </a:solidFill>
          <a:ln xmlns:a="http://schemas.openxmlformats.org/drawingml/2006/main" w="10478">
            <a:solidFill>
              <a:srgbClr val="6D5BD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355433-8A55-440A-B0D2-A7D2265B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8130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Z_x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C20993-9CAB-4A36-8686-15FF982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67000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BFF"/>
          </a:solidFill>
          <a:ln xmlns:a="http://schemas.openxmlformats.org/drawingml/2006/main" w="10478">
            <a:solidFill>
              <a:srgbClr val="6D5BD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F5BF4B-D31B-445D-B5FC-C5735B1B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78130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Z_y = std(Z_x^2)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395022-F480-427F-AB62-34F81F41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22270"/>
            <a:ext cx="4762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B7E1B6-CC1D-4EF0-A817-23210241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337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latent relation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0452A2-47E7-4C58-B683-8999A79E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909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DEA21B-073C-4A4C-9237-D30FB83C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052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X = signal(Z_x) + noise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7ECBE8-5B11-4E76-B030-964D0320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7909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190392-543B-429F-923A-DF9D79C5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Y = signal(Z_y) + noise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D516F4-57DB-4534-BA33-86253CC9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148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 nonlinear branch may help when the paired relation is curved.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0564A3-754C-44D9-9599-8CFE2369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86400"/>
            <a:ext cx="552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Each model is trained on the same paper contrastive objective in each setting.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E8390C-3974-4516-BF67-A75FE72A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The held-out metrics decide whether a learned alignment survives beyond the training pairs.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AF534D-4733-4D08-8BC3-73AE79F4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657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5"/>
                </a:solidFill>
                <a:latin typeface="Aptos"/>
                <a:ea typeface="Aptos"/>
                <a:cs typeface="Aptos"/>
              </a:rPr>
              <a:t>contrastive_encoders / encoder-comparison.ipynb</a:t>
            </a:r>
          </a:p>
        </p:txBody>
      </p:sp>
    </p:spTree>
    <p:extLst>
      <p:ext uri="{BB962C8B-B14F-4D97-AF65-F5344CB8AC3E}">
        <p14:creationId xmlns:p14="http://schemas.microsoft.com/office/powerpoint/2010/main" val="2343896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F5683F-9560-4D04-AA4F-F6159605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DB20F-1F66-40E3-88CD-9A823E1A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MODEL GRID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C1CBE-95ED-4269-99F9-4665FA95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Names now say what the model actually 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A4935-D0E9-402D-83DB-9C7C9E35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904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The table matches the notebook display: alpha, hidden width, normalization, and regularization are explicit.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9F8CA-8841-4C58-ACEE-EC0799D0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4A33F-DC63-4535-AC0D-7EE72C6A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2571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39D4A-D311-4DDE-998C-5D4F8372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90675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195F9-0C66-4EAF-A214-9D99D596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50495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B4351-096C-43B5-9AA2-8CD720A8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590675"/>
            <a:ext cx="1009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Alpha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8D984-52E4-41E8-B6BB-0537B53C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04950"/>
            <a:ext cx="1257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8376C-E69D-4DA4-BD8A-D748FE71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90675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Hidden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C3A38-EF97-4569-88B6-43D87CCD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0495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9C73F-8B37-40E7-AF8D-7A4BC550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590675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Encoder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0FA3F-35E1-4EC8-A395-22E47EDF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504950"/>
            <a:ext cx="2495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5D151-32F8-4889-93D6-B046B555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90675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What changes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77F41B-5017-4A20-B249-951C56E5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504950"/>
            <a:ext cx="1790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58B73-F4A0-41B6-B3CB-A28AE4C2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590675"/>
            <a:ext cx="1600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Risk 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7E78E-AA32-4D7F-A60B-24FA5D1E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2E6AF-0E70-40BB-B943-A061F884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6692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Linear encoder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B94DBB-C87A-4174-B487-490956D5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8120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8A4022-52C8-45BF-899E-78352D8D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66925"/>
            <a:ext cx="100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5BD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D5BD0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745524-A2DB-493A-A505-B81CB97D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8120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A3DB5C-F288-47EA-B64A-B56D03D0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66925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none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1B98BE-BB26-40BD-96BD-E628931E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812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B9572D-E2B7-42E4-9522-36C4D9C8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669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Norm(G u)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AE3B68-E223-400F-8571-6A20E77B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81200"/>
            <a:ext cx="2495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D83939-D7AC-4569-B6D5-631AE108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66925"/>
            <a:ext cx="2305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baseline capacity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C85F6D-75BF-4796-A8D5-E57D86DB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81200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58D0B5-0467-47E5-9A48-4A7FABC5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66925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should not align noise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035748-E3B7-458A-8F20-772591BE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2C3267-496F-48E1-AD4C-44A54A21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5272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MLP nonlinear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731CD4-CC91-48E4-B16A-49FFC58B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6700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4F07D0-ECA7-4561-8C12-93C0529A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52725"/>
            <a:ext cx="100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5BD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D5BD0"/>
                </a:solidFill>
                <a:latin typeface="Aptos Mono"/>
                <a:ea typeface="Aptos Mono"/>
                <a:cs typeface="Aptos Mono"/>
              </a:rPr>
              <a:t>0.01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3CD1E2-0E4B-426F-BAD4-193ED498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6700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4A7B10-2C69-4F9F-A875-8A18664C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52725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12FF1C-0DA8-4845-A597-080B26B5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670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00417A-9C54-4DF2-A409-512FB53D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527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linear + tiny MLP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4CDCF6-BEB1-454B-BF8D-9AF1AB74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67000"/>
            <a:ext cx="2495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6C0829-5ADB-4D0D-B438-ADEF22C2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52725"/>
            <a:ext cx="2305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tiny normalized correction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B1E423-6D7C-412C-8017-FAFC523B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67000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79082D-5A8A-46C1-9E45-D608A53B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52725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does alpha stay tiny?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E549CA-7987-401B-BE8E-60F88373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9B4142-7144-4901-B40D-B61F6C97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3852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MLP nonlinear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C9A663-34AC-4E8E-8FBC-3B21E1FA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5280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24BCFE-1F16-45F8-BD58-27E5B886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38525"/>
            <a:ext cx="100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5BD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D5BD0"/>
                </a:solidFill>
                <a:latin typeface="Aptos Mono"/>
                <a:ea typeface="Aptos Mono"/>
                <a:cs typeface="Aptos Mono"/>
              </a:rPr>
              <a:t>0.10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D2EA21-32AA-46E5-8EF1-DFB85A6E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5280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69551D-9033-44C3-B556-97E1B036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38525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32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F04DA6-831A-4AD4-9A2C-416CBCB0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528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6015BD-33B7-4C92-BDF0-1C0DD665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385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linear + MLP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0B5293-12C8-467C-9579-08BEC04B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52800"/>
            <a:ext cx="2495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FB2CB8-0FBD-4F8E-9BC1-53949C0C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38525"/>
            <a:ext cx="2305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moderate correction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89A0775-87F5-4608-A063-CF630191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52800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1316B7D-D483-4E9E-BB31-76CC27C4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38525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held-out gain?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62972B7-7BCF-4692-8B66-5A016C43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4B4538-890F-4724-AEE3-B01ED26C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2432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MLP nonlinear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9AF7634-AC9B-4166-A2E8-0DC9AC07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3860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FE8B157-BED0-4CEC-A573-91E303F4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24325"/>
            <a:ext cx="100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5BD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D5BD0"/>
                </a:solidFill>
                <a:latin typeface="Aptos Mono"/>
                <a:ea typeface="Aptos Mono"/>
                <a:cs typeface="Aptos Mono"/>
              </a:rPr>
              <a:t>1.00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243ADC2-A18B-465E-843D-236A8228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3860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6721E9E-D2C8-465E-89D2-3E600F31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24325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128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5AD456D-6FBC-4830-88AE-4EC2655F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386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0DC3AB3-47BD-4A69-82BF-A1C7B126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243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linear + large MLP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2675BD3-D3C7-4455-B519-76D950A5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38600"/>
            <a:ext cx="2495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5FCBFA7-C651-4AB1-84A2-851A51F1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24325"/>
            <a:ext cx="2305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high flexibility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DB5675A-D056-4D3A-8A4E-25B2EC24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38600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6A0C4D0-688A-40EC-9A5E-FE2CA25E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124325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noise-fitting risk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0D0D544-4400-436F-A03C-C670E3DB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244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856307D-4F1E-4008-9015-98D177BA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L1-regularized nonlinear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B8E6511-A41F-472E-8D5B-F301AA3F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2440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5C31925-33DF-4C77-A1EF-4BFFA3D8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10125"/>
            <a:ext cx="100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5BD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D5BD0"/>
                </a:solidFill>
                <a:latin typeface="Aptos Mono"/>
                <a:ea typeface="Aptos Mono"/>
                <a:cs typeface="Aptos Mono"/>
              </a:rPr>
              <a:t>0.10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03D721C-2B2C-4CFC-A921-F78E748C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2440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28D6C0A-3719-4CD3-83AA-9C8B4429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10125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64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2C4D71-575B-41F9-B461-B8A12CFB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244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B6E812F-F4D1-47C1-B422-A51C1F68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101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linear + MLP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039851E-4BA4-4C42-B8E4-2298A37F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24400"/>
            <a:ext cx="2495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825B369-5B71-4B43-9721-F82E87CA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10125"/>
            <a:ext cx="2305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A2 lasso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F575B74-AD21-4B50-A158-76AD6ECF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724400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A078557-C156-47E3-9556-3671B7E6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810125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feature selection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2BE6C3D-5FC1-4D56-B64C-9226C993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4A24795-51B5-49B5-BDDD-77FB0529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Branch-size intuition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B72738B-E642-4E5D-8310-D4F31E24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7721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alpha=0.01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D3E656F-448B-4AD4-A98A-DDAE8F33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000750"/>
            <a:ext cx="1428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0478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1D6AFBD-7DCF-4D12-84A1-8A80FCD6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000750"/>
            <a:ext cx="38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C5D1D42-CDD1-4AC7-9E37-E437B6EE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7721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alpha=0.10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59B3D50-8D3C-447F-8C38-2D0C0834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000750"/>
            <a:ext cx="1428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0478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4F0BDA8-0973-4D64-870F-FA119F57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000750"/>
            <a:ext cx="142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2DF6E35-5EBA-426C-A9D7-F4ECD103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721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alpha=1.00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04357D5-46ED-4E2E-B769-57FE8DA9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00750"/>
            <a:ext cx="1428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0478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BF600B2-C53B-4267-9915-311AE00F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00750"/>
            <a:ext cx="1428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F26FAB4-B7B5-4983-A813-6AB38254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77215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Because the nonlinear branch is normalized first, alpha should be visible in the measured nonlinear/linear ratio.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66FF6FC-9515-42E0-BF3B-16026A4D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657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5"/>
                </a:solidFill>
                <a:latin typeface="Aptos"/>
                <a:ea typeface="Aptos"/>
                <a:cs typeface="Aptos"/>
              </a:rPr>
              <a:t>contrastive_encoders / encoder-comparison.ipynb</a:t>
            </a:r>
          </a:p>
        </p:txBody>
      </p:sp>
    </p:spTree>
    <p:extLst>
      <p:ext uri="{BB962C8B-B14F-4D97-AF65-F5344CB8AC3E}">
        <p14:creationId xmlns:p14="http://schemas.microsoft.com/office/powerpoint/2010/main" val="18268152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FB4387-57CA-4AE3-AD5D-59938E14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F3AE1-7074-4DE1-8910-3548BDA6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HOW TO READ THE PLOTS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00FA2-A1C6-414A-88DC-3278AB09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Metrics separate memorization, pairing, and recovery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47FB9-DD05-491D-B332-FCC8AA44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904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 good nonlinear model should improve held-out signal metrics without creating fake alignment in noise-only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EF890-A40F-46DA-88C4-2A65359A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C10A4-6C4E-4FD4-8F7A-A1A8AE49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F"/>
          </a:solidFill>
          <a:ln xmlns:a="http://schemas.openxmlformats.org/drawingml/2006/main" w="10478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51037-B1A5-440B-B1FF-035A92A2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Train pair separation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20E94-D8F5-4695-BDAA-3BA63988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952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matched cosine similarity minus mismatched cosine similarity on training pairs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A042C-D013-4035-90D8-60399C8F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High train but low test can mean memorization.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7382B-CF8B-40F8-8AB4-931C8155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8115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7DA36-E927-4320-B282-7394F851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8115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A"/>
          </a:solidFill>
          <a:ln xmlns:a="http://schemas.openxmlformats.org/drawingml/2006/main" w="10478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0265A-C628-4536-943B-E99F1024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907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8B5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8B57"/>
                </a:solidFill>
                <a:latin typeface="Aptos"/>
                <a:ea typeface="Aptos"/>
                <a:cs typeface="Aptos"/>
              </a:rPr>
              <a:t>Test pair separation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73D3D-E3F0-4890-9806-310544E5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2952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same matched-vs-mismatched separation on held-out pairs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A954B-51FC-41CE-8703-00ACA49D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146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This is the main alignment generalization check.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D776EB-C1F8-43DE-9562-07E3A8AF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8115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56B51-166E-4889-BC35-82401B9C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8115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7"/>
          </a:solidFill>
          <a:ln xmlns:a="http://schemas.openxmlformats.org/drawingml/2006/main" w="10478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CFD639-FDF4-4D50-873F-C5F4E263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907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424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4242"/>
                </a:solidFill>
                <a:latin typeface="Aptos"/>
                <a:ea typeface="Aptos"/>
                <a:cs typeface="Aptos"/>
              </a:rPr>
              <a:t>Shuffled pair separation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9A2C1D-30A7-4AA0-A960-588DA607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2952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test pair separation after randomly breaking X/Y pairing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C41D95-C0E5-4157-A17C-EB3C259B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146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Should stay near zero if the model is not finding fake pairs.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080138-C7A4-41C1-905F-B0BC431C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6F9EB6-9B74-4F1B-AB20-0AB71709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2"/>
          </a:solidFill>
          <a:ln xmlns:a="http://schemas.openxmlformats.org/drawingml/2006/main" w="10478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82D8CF-3D41-4057-85CB-AE2D6728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Pair match accuracy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C6CFC2-E938-45C7-B68B-1C234624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2952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for each X test embedding, retrieve the closest Y embedding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AA3E8F-EC13-46CA-9131-3644C12C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Higher means the model can identify the paired partner.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574340-E83E-4089-9289-1D1B1EB3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8135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21BFD5-5AE2-475C-B36E-5B4D99AC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8135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10478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60B7F9-51EF-49E8-9288-341FC2A0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77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77700"/>
                </a:solidFill>
                <a:latin typeface="Aptos"/>
                <a:ea typeface="Aptos"/>
                <a:cs typeface="Aptos"/>
              </a:rPr>
              <a:t>X/Y signal recovery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F72DC3-1D04-4739-A0C8-059309AB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95700"/>
            <a:ext cx="2952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best absolute correlation between embedding dimensions and true Z_x or Z_y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316C39-B522-48BA-8B30-C0FF00AA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148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Higher means the embedding represents the synthetic latent signal.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185FA3-5CBA-428C-BF36-B4379113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8135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64D3FD-4BEC-4DB5-9417-22DACC46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8135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BFF"/>
          </a:solidFill>
          <a:ln xmlns:a="http://schemas.openxmlformats.org/drawingml/2006/main" w="10478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4DD341-562A-4611-B6AA-7D06F92D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909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Nonlinear/linear ratio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DEFF90-1E51-4E13-9012-84E712D2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95700"/>
            <a:ext cx="2952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average norm of scaled nonlinear branch divided by linear branch norm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BA26A7-42E9-4D80-BED4-C3A190D4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148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Diagnostic for whether alpha is controlling branch size.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5EA07B-85CC-4547-A1AE-AE7837BA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1125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8D85F6-B2CF-438C-9FE6-5C02DD57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Decision rule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1F688B-D6E8-4C41-B8CD-E3C39DA6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29250"/>
            <a:ext cx="847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Useful nonlinear correction: low noise-only test separation, stronger quadratic-signal recovery, and branch ratio that tracks alpha.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94C4E6-1058-4C2F-9D4B-3CBBF674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1500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Noise-fitting warning: train separation rises while test separation, shuffled checks, or signal recovery do not improve.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891FA0-9051-4478-A2E0-64EA4A00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657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5"/>
                </a:solidFill>
                <a:latin typeface="Aptos"/>
                <a:ea typeface="Aptos"/>
                <a:cs typeface="Aptos"/>
              </a:rPr>
              <a:t>contrastive_encoders / encoder-comparison.ipynb</a:t>
            </a:r>
          </a:p>
        </p:txBody>
      </p:sp>
    </p:spTree>
    <p:extLst>
      <p:ext uri="{BB962C8B-B14F-4D97-AF65-F5344CB8AC3E}">
        <p14:creationId xmlns:p14="http://schemas.microsoft.com/office/powerpoint/2010/main" val="12338816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2026-06-13T15:23:30.9020000Z</dcterms:created>
  <dcterms:modified xsi:type="dcterms:W3CDTF">2026-06-13T15:23:30.9030000Z</dcterms:modified>
</coreProperties>
</file>