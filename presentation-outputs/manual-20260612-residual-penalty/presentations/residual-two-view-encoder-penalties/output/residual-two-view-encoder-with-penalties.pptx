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fe1cff831442a5" /><Relationship Type="http://schemas.openxmlformats.org/officeDocument/2006/relationships/extended-properties" Target="/docProps/app.xml" Id="Raf406dc649cb46ce" /><Relationship Type="http://schemas.openxmlformats.org/officeDocument/2006/relationships/officeDocument" Target="/ppt/presentation.xml" Id="R9cf2df8528064f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ee8a4efa2747b6"/>
  </p:sldMasterIdLst>
  <p:notesMasterIdLst>
    <p:notesMasterId xmlns:r="http://schemas.openxmlformats.org/officeDocument/2006/relationships" r:id="Rc8e6d0190ed04e6c"/>
  </p:notesMasterIdLst>
  <p:sldIdLst>
    <p:sldId xmlns:r="http://schemas.openxmlformats.org/officeDocument/2006/relationships" id="256" r:id="R41945d33c8eb495e"/>
    <p:sldId xmlns:r="http://schemas.openxmlformats.org/officeDocument/2006/relationships" id="257" r:id="Ra7119cb167e949c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3969e5276a4393" /><Relationship Type="http://schemas.openxmlformats.org/officeDocument/2006/relationships/slideMaster" Target="/ppt/slideMasters/slideMaster1.xml" Id="R62ee8a4efa2747b6" /><Relationship Type="http://schemas.openxmlformats.org/officeDocument/2006/relationships/notesMaster" Target="/ppt/notesMasters/notesMaster1.xml" Id="Rc8e6d0190ed04e6c" /><Relationship Type="http://schemas.openxmlformats.org/officeDocument/2006/relationships/presProps" Target="/ppt/presProps.xml" Id="Rc7a800ee571f495f" /><Relationship Type="http://schemas.openxmlformats.org/officeDocument/2006/relationships/viewProps" Target="/ppt/viewProps.xml" Id="R05ede61dfcb14309" /><Relationship Type="http://schemas.openxmlformats.org/officeDocument/2006/relationships/tableStyles" Target="/ppt/tableStyles.xml" Id="Re7491657d34c4bbb" /><Relationship Type="http://schemas.openxmlformats.org/officeDocument/2006/relationships/slide" Target="/ppt/slides/slide1.xml" Id="R41945d33c8eb495e" /><Relationship Type="http://schemas.openxmlformats.org/officeDocument/2006/relationships/slide" Target="/ppt/slides/slide2.xml" Id="Ra7119cb167e949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f2249f0df349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3b415696294687" /><Relationship Type="http://schemas.openxmlformats.org/officeDocument/2006/relationships/notesMaster" Target="/ppt/notesMasters/notesMaster1.xml" Id="R74b10e7a1d8e46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f72ce081524b01" /><Relationship Type="http://schemas.openxmlformats.org/officeDocument/2006/relationships/notesMaster" Target="/ppt/notesMasters/notesMaster1.xml" Id="Rd7946556ef9f45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4b421d23aa4d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fed52e5b254eb8" /><Relationship Type="http://schemas.openxmlformats.org/officeDocument/2006/relationships/slideLayout" Target="/ppt/slideLayouts/slideLayout1.xml" Id="R47b555312b0949b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b555312b0949b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01aeb6d5d946ad" /><Relationship Type="http://schemas.openxmlformats.org/officeDocument/2006/relationships/notesSlide" Target="/ppt/notesSlides/notesSlide1.xml" Id="R3ed7a60325cf42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766f8461114129" /><Relationship Type="http://schemas.openxmlformats.org/officeDocument/2006/relationships/notesSlide" Target="/ppt/notesSlides/notesSlide2.xml" Id="Re06ab191fae042c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175978-3A41-4794-A94D-1230E5FE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09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F"/>
          </a:solidFill>
          <a:ln xmlns:a="http://schemas.openxmlformats.org/drawingml/2006/main" w="0">
            <a:solidFill>
              <a:srgbClr val="171A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C915D2-76A1-4366-B8B7-EBD6F30B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381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MODEL</a:t>
            </a:r>
          </a:p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3307B0-C814-4A18-965A-DD7DECB7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314450"/>
            <a:ext cx="15049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Residual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Nonlinear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Encoder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23D37A-BA10-4352-B50F-F359B729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86050"/>
            <a:ext cx="1162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A2B"/>
          </a:solidFill>
          <a:ln xmlns:a="http://schemas.openxmlformats.org/drawingml/2006/main" w="0">
            <a:solidFill>
              <a:srgbClr val="C59A2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D4B7FD-6EF3-4001-86EE-6CCE09FA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990850"/>
            <a:ext cx="14668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D7D3C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D3CA"/>
                </a:solidFill>
                <a:latin typeface="Aptos"/>
                <a:ea typeface="Aptos"/>
                <a:cs typeface="Aptos"/>
              </a:rPr>
              <a:t>TwoViewResidualModel wraps two independent copies, one for X and one for 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8AD2D5-576C-4555-9031-68442530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905375"/>
            <a:ext cx="1562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F0ECE3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0ECE3"/>
                </a:solidFill>
                <a:latin typeface="Aptos Mono"/>
                <a:ea typeface="Aptos Mono"/>
                <a:cs typeface="Aptos Mono"/>
              </a:rPr>
              <a:t>alpha = 0.1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F0ECE3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0ECE3"/>
                </a:solidFill>
                <a:latin typeface="Aptos Mono"/>
                <a:ea typeface="Aptos Mono"/>
                <a:cs typeface="Aptos Mono"/>
              </a:rPr>
              <a:t>activation = GELU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F0ECE3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0ECE3"/>
                </a:solidFill>
                <a:latin typeface="Aptos Mono"/>
                <a:ea typeface="Aptos Mono"/>
                <a:cs typeface="Aptos Mono"/>
              </a:rPr>
              <a:t>init: orthogonal G</a:t>
            </a:r>
          </a:p>
        </p:txBody>
      </p:sp>
      <p:sp>
        <p:nvSpPr>
          <p:cNvPr id="7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791BE9C-571B-4F16-AF8B-CFE74678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1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A2B"/>
          </a:solidFill>
          <a:ln xmlns:a="http://schemas.openxmlformats.org/drawingml/2006/main" w="0">
            <a:solidFill>
              <a:srgbClr val="C59A2B"/>
            </a:solidFill>
            <a:prstDash val="solid"/>
          </a:ln>
        </p:spPr>
      </p:sp>
      <p:sp>
        <p:nvSpPr>
          <p:cNvPr id="8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8C03142-885F-4CEB-A6F3-D34177EC1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5750"/>
            <a:ext cx="2667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D6A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6D6A62"/>
                </a:solidFill>
                <a:latin typeface="Aptos Mono"/>
                <a:ea typeface="Aptos Mono"/>
                <a:cs typeface="Aptos Mono"/>
              </a:rPr>
              <a:t>RESIDUAL TWO-VIEW ENCODER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C7F81E-8F04-452F-B41D-F1B50180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28650"/>
            <a:ext cx="83439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rPr>
              <a:t>A linear backbone carries the embedding; a scaled residual adds controlled nonlinearity.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C607C2-64A4-4B1D-8860-294A5C2E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466850"/>
            <a:ext cx="4819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1A1F"/>
                </a:solidFill>
                <a:latin typeface="Aptos Mono"/>
                <a:ea typeface="Aptos Mono"/>
                <a:cs typeface="Aptos Mono"/>
              </a:defRPr>
            </a:pPr>
            <a:r>
              <a:rPr sz="1500" b="0">
                <a:solidFill>
                  <a:srgbClr val="171A1F"/>
                </a:solidFill>
                <a:latin typeface="Aptos Mono"/>
                <a:ea typeface="Aptos Mono"/>
                <a:cs typeface="Aptos Mono"/>
              </a:rPr>
              <a:t>g(u) = G u + alpha * A1 sigma(A2 u + b)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043550-3930-4C38-87CC-CC7DE267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943100"/>
            <a:ext cx="2609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1A1F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171A1F"/>
                </a:solidFill>
                <a:latin typeface="Aptos Mono"/>
                <a:ea typeface="Aptos Mono"/>
                <a:cs typeface="Aptos Mono"/>
              </a:rPr>
              <a:t>One ResidualNonlinearEncoder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D8156E-293D-483A-BB32-A5F07639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228850"/>
            <a:ext cx="78676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3A7"/>
          </a:solidFill>
          <a:ln xmlns:a="http://schemas.openxmlformats.org/drawingml/2006/main" w="0">
            <a:solidFill>
              <a:srgbClr val="B8B3A7"/>
            </a:solidFill>
            <a:prstDash val="solid"/>
          </a:ln>
        </p:spPr>
      </p:sp>
      <p:sp>
        <p:nvSpPr>
          <p:cNvPr id="13" name="encoder-input-u">
            <a:extLst xmlns:a="http://schemas.openxmlformats.org/drawingml/2006/main">
              <a:ext uri="{FF2B5EF4-FFF2-40B4-BE49-F238E27FC236}">
                <a16:creationId xmlns:a16="http://schemas.microsoft.com/office/drawing/2014/main" id="{FF6DA936-B0BE-423D-8746-F96029DC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743200"/>
            <a:ext cx="685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3A7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1A1F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171A1F"/>
                </a:solidFill>
                <a:latin typeface="Aptos Mono"/>
                <a:ea typeface="Aptos Mono"/>
                <a:cs typeface="Aptos Mono"/>
              </a:rPr>
              <a:t>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D3E520-FCC1-4A20-966B-BF33F2C3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7660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D6A62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6D6A62"/>
                </a:solidFill>
                <a:latin typeface="Aptos Mono"/>
                <a:ea typeface="Aptos Mono"/>
                <a:cs typeface="Aptos Mono"/>
              </a:rPr>
              <a:t>(batch, input_dim)</a:t>
            </a:r>
          </a:p>
        </p:txBody>
      </p:sp>
      <p:sp>
        <p:nvSpPr>
          <p:cNvPr id="15" name="linear-backbone">
            <a:extLst xmlns:a="http://schemas.openxmlformats.org/drawingml/2006/main">
              <a:ext uri="{FF2B5EF4-FFF2-40B4-BE49-F238E27FC236}">
                <a16:creationId xmlns:a16="http://schemas.microsoft.com/office/drawing/2014/main" id="{7A536BAA-1048-4269-9DE3-96F9CB4D6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00300"/>
            <a:ext cx="1409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9525">
            <a:solidFill>
              <a:srgbClr val="178C7A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8C7A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178C7A"/>
                </a:solidFill>
                <a:latin typeface="Aptos Mono"/>
                <a:ea typeface="Aptos Mono"/>
                <a:cs typeface="Aptos Mono"/>
              </a:rPr>
              <a:t>linear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8C7A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178C7A"/>
                </a:solidFill>
                <a:latin typeface="Aptos Mono"/>
                <a:ea typeface="Aptos Mono"/>
                <a:cs typeface="Aptos Mono"/>
              </a:rPr>
              <a:t>G u</a:t>
            </a:r>
          </a:p>
        </p:txBody>
      </p:sp>
      <p:sp>
        <p:nvSpPr>
          <p:cNvPr id="16" name="residual-a2">
            <a:extLst xmlns:a="http://schemas.openxmlformats.org/drawingml/2006/main">
              <a:ext uri="{FF2B5EF4-FFF2-40B4-BE49-F238E27FC236}">
                <a16:creationId xmlns:a16="http://schemas.microsoft.com/office/drawing/2014/main" id="{FF9CCD8D-3D2C-4578-B0BD-568504D6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71850"/>
            <a:ext cx="1409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9E3"/>
          </a:solidFill>
          <a:ln xmlns:a="http://schemas.openxmlformats.org/drawingml/2006/main" w="9525">
            <a:solidFill>
              <a:srgbClr val="D85A3A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D85A3A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D85A3A"/>
                </a:solidFill>
                <a:latin typeface="Aptos Mono"/>
                <a:ea typeface="Aptos Mono"/>
                <a:cs typeface="Aptos Mono"/>
              </a:rPr>
              <a:t>A2 u + b</a:t>
            </a:r>
          </a:p>
        </p:txBody>
      </p:sp>
      <p:sp>
        <p:nvSpPr>
          <p:cNvPr id="17" name="residual-activation">
            <a:extLst xmlns:a="http://schemas.openxmlformats.org/drawingml/2006/main">
              <a:ext uri="{FF2B5EF4-FFF2-40B4-BE49-F238E27FC236}">
                <a16:creationId xmlns:a16="http://schemas.microsoft.com/office/drawing/2014/main" id="{09A34C1F-36F0-4753-88B9-0CF3B123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71850"/>
            <a:ext cx="114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9E3"/>
          </a:solidFill>
          <a:ln xmlns:a="http://schemas.openxmlformats.org/drawingml/2006/main" w="9525">
            <a:solidFill>
              <a:srgbClr val="D85A3A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D85A3A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D85A3A"/>
                </a:solidFill>
                <a:latin typeface="Aptos Mono"/>
                <a:ea typeface="Aptos Mono"/>
                <a:cs typeface="Aptos Mono"/>
              </a:rPr>
              <a:t>sigma(.)</a:t>
            </a:r>
          </a:p>
        </p:txBody>
      </p:sp>
      <p:sp>
        <p:nvSpPr>
          <p:cNvPr id="18" name="residual-a1">
            <a:extLst xmlns:a="http://schemas.openxmlformats.org/drawingml/2006/main">
              <a:ext uri="{FF2B5EF4-FFF2-40B4-BE49-F238E27FC236}">
                <a16:creationId xmlns:a16="http://schemas.microsoft.com/office/drawing/2014/main" id="{770C0430-2BF2-4F99-957B-1FB661D8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71850"/>
            <a:ext cx="876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9E3"/>
          </a:solidFill>
          <a:ln xmlns:a="http://schemas.openxmlformats.org/drawingml/2006/main" w="9525">
            <a:solidFill>
              <a:srgbClr val="D85A3A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D85A3A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D85A3A"/>
                </a:solidFill>
                <a:latin typeface="Aptos Mono"/>
                <a:ea typeface="Aptos Mono"/>
                <a:cs typeface="Aptos Mono"/>
              </a:rPr>
              <a:t>A1</a:t>
            </a:r>
          </a:p>
        </p:txBody>
      </p:sp>
      <p:sp>
        <p:nvSpPr>
          <p:cNvPr id="19" name="residual-scale">
            <a:extLst xmlns:a="http://schemas.openxmlformats.org/drawingml/2006/main">
              <a:ext uri="{FF2B5EF4-FFF2-40B4-BE49-F238E27FC236}">
                <a16:creationId xmlns:a16="http://schemas.microsoft.com/office/drawing/2014/main" id="{4F9D2E95-5562-4157-9A38-3E5BF0B7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71850"/>
            <a:ext cx="914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1"/>
          </a:solidFill>
          <a:ln xmlns:a="http://schemas.openxmlformats.org/drawingml/2006/main" w="9525">
            <a:solidFill>
              <a:srgbClr val="C59A2B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C59A2B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C59A2B"/>
                </a:solidFill>
                <a:latin typeface="Aptos Mono"/>
                <a:ea typeface="Aptos Mono"/>
                <a:cs typeface="Aptos Mono"/>
              </a:rPr>
              <a:t>x alpha</a:t>
            </a:r>
          </a:p>
        </p:txBody>
      </p:sp>
      <p:sp>
        <p:nvSpPr>
          <p:cNvPr id="20" name="residual-sum">
            <a:extLst xmlns:a="http://schemas.openxmlformats.org/drawingml/2006/main">
              <a:ext uri="{FF2B5EF4-FFF2-40B4-BE49-F238E27FC236}">
                <a16:creationId xmlns:a16="http://schemas.microsoft.com/office/drawing/2014/main" id="{9C5EF217-C87C-49C7-A20B-C231982F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87655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1A1F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71A1F"/>
                </a:solidFill>
                <a:latin typeface="Aptos Mono"/>
                <a:ea typeface="Aptos Mono"/>
                <a:cs typeface="Aptos Mono"/>
              </a:defRPr>
            </a:pPr>
            <a:r>
              <a:rPr sz="2100" b="1">
                <a:solidFill>
                  <a:srgbClr val="171A1F"/>
                </a:solidFill>
                <a:latin typeface="Aptos Mono"/>
                <a:ea typeface="Aptos Mono"/>
                <a:cs typeface="Aptos Mono"/>
              </a:rPr>
              <a:t>+</a:t>
            </a:r>
          </a:p>
        </p:txBody>
      </p:sp>
      <p:sp>
        <p:nvSpPr>
          <p:cNvPr id="21" name="encoder-output-gu">
            <a:extLst xmlns:a="http://schemas.openxmlformats.org/drawingml/2006/main">
              <a:ext uri="{FF2B5EF4-FFF2-40B4-BE49-F238E27FC236}">
                <a16:creationId xmlns:a16="http://schemas.microsoft.com/office/drawing/2014/main" id="{9DBD80A7-8361-4E7C-897C-0A662CA6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2914650"/>
            <a:ext cx="781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EFF"/>
          </a:solidFill>
          <a:ln xmlns:a="http://schemas.openxmlformats.org/drawingml/2006/main" w="9525">
            <a:solidFill>
              <a:srgbClr val="4257D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4257D6"/>
                </a:solidFill>
                <a:latin typeface="Aptos Mono"/>
                <a:ea typeface="Aptos Mono"/>
                <a:cs typeface="Aptos Mono"/>
              </a:defRPr>
            </a:pPr>
            <a:r>
              <a:rPr sz="1425" b="1">
                <a:solidFill>
                  <a:srgbClr val="4257D6"/>
                </a:solidFill>
                <a:latin typeface="Aptos Mono"/>
                <a:ea typeface="Aptos Mono"/>
                <a:cs typeface="Aptos Mono"/>
              </a:rPr>
              <a:t>g(u)</a:t>
            </a:r>
          </a:p>
        </p:txBody>
      </p:sp>
      <p:cxnSp>
        <p:nvCxnSpPr>
          <p:cNvPr id="22" name=""/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 flipV="1">
            <a:off x="3371850" y="2695575"/>
            <a:ext cx="800100" cy="27622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178C7A"/>
            </a:solidFill>
            <a:prstDash val="solid"/>
            <a:headEnd type="none" w="med" len="med"/>
          </a:ln>
        </p:spPr>
      </p:cxnSp>
      <p:cxnSp>
        <p:nvCxnSpPr>
          <p:cNvPr id="23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3371850" y="2971800"/>
            <a:ext cx="800100" cy="638175"/>
          </a:xfrm>
          <a:prstGeom xmlns:a="http://schemas.openxmlformats.org/drawingml/2006/main" prst="bentConnector3">
            <a:avLst>
              <a:gd name="adj1" fmla="val 71429"/>
            </a:avLst>
          </a:prstGeom>
          <a:ln xmlns:a="http://schemas.openxmlformats.org/drawingml/2006/main" w="20003">
            <a:solidFill>
              <a:srgbClr val="D85A3A"/>
            </a:solidFill>
            <a:prstDash val="solid"/>
            <a:headEnd type="none" w="med" len="med"/>
          </a:ln>
        </p:spPr>
      </p:cxnSp>
      <p:cxnSp>
        <p:nvCxnSpPr>
          <p:cNvPr id="24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5581650" y="36099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D85A3A"/>
            </a:solidFill>
            <a:prstDash val="solid"/>
            <a:headEnd type="none" w="med" len="med"/>
          </a:ln>
        </p:spPr>
      </p:cxnSp>
      <p:cxnSp>
        <p:nvCxnSpPr>
          <p:cNvPr id="25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124700" y="3609975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D85A3A"/>
            </a:solidFill>
            <a:prstDash val="solid"/>
            <a:headEnd type="none" w="med" len="med"/>
          </a:ln>
        </p:spPr>
      </p:cxnSp>
      <p:cxnSp>
        <p:nvCxnSpPr>
          <p:cNvPr id="26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8401050" y="3609975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D85A3A"/>
            </a:solidFill>
            <a:prstDash val="solid"/>
            <a:headEnd type="none" w="med" len="med"/>
          </a:ln>
        </p:spPr>
      </p:cxnSp>
      <p:cxnSp>
        <p:nvCxnSpPr>
          <p:cNvPr id="27" name=""/>
          <p:cNvCxnSpPr>
            <a:stCxn xmlns:a="http://schemas.openxmlformats.org/drawingml/2006/main" id="15" idx="3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5581650" y="2647950"/>
            <a:ext cx="4552950" cy="228600"/>
          </a:xfrm>
          <a:prstGeom xmlns:a="http://schemas.openxmlformats.org/drawingml/2006/main" prst="bentConnector4">
            <a:avLst/>
          </a:prstGeom>
          <a:ln xmlns:a="http://schemas.openxmlformats.org/drawingml/2006/main" w="20003">
            <a:solidFill>
              <a:srgbClr val="178C7A"/>
            </a:solidFill>
            <a:prstDash val="solid"/>
            <a:headEnd type="none" w="med" len="med"/>
          </a:ln>
        </p:spPr>
      </p:cxnSp>
      <p:cxnSp>
        <p:nvCxnSpPr>
          <p:cNvPr id="28" name=""/>
          <p:cNvCxnSpPr>
            <a:stCxn xmlns:a="http://schemas.openxmlformats.org/drawingml/2006/main" id="19" idx="3"/>
            <a:endCxn xmlns:a="http://schemas.openxmlformats.org/drawingml/2006/main" id="20" idx="2"/>
          </p:cNvCxnSpPr>
          <p:nvPr/>
        </p:nvCxnSpPr>
        <p:spPr>
          <a:xfrm xmlns:a="http://schemas.openxmlformats.org/drawingml/2006/main" flipV="1">
            <a:off x="9658350" y="3409950"/>
            <a:ext cx="476250" cy="228600"/>
          </a:xfrm>
          <a:prstGeom xmlns:a="http://schemas.openxmlformats.org/drawingml/2006/main" prst="bentConnector4">
            <a:avLst/>
          </a:prstGeom>
          <a:ln xmlns:a="http://schemas.openxmlformats.org/drawingml/2006/main" w="20003">
            <a:solidFill>
              <a:srgbClr val="D85A3A"/>
            </a:solidFill>
            <a:prstDash val="solid"/>
            <a:headEnd type="none" w="med" len="med"/>
          </a:ln>
        </p:spPr>
      </p:cxnSp>
      <p:cxnSp>
        <p:nvCxnSpPr>
          <p:cNvPr id="29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10401300" y="31432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4257D6"/>
            </a:solidFill>
            <a:prstDash val="solid"/>
            <a:headEnd type="none" w="med" len="me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EB416F-3FE3-40D8-B7B0-E50B1E2E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48000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178C7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178C7A"/>
                </a:solidFill>
                <a:latin typeface="Aptos Mono"/>
                <a:ea typeface="Aptos Mono"/>
                <a:cs typeface="Aptos Mono"/>
              </a:rPr>
              <a:t>G: d x input_dim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AD6DA0-5EEB-4D74-995D-75500B3F1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943350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D85A3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85A3A"/>
                </a:solidFill>
                <a:latin typeface="Aptos Mono"/>
                <a:ea typeface="Aptos Mono"/>
                <a:cs typeface="Aptos Mono"/>
              </a:rPr>
              <a:t>A2: h x input_dim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C3F965-39C4-4127-93F9-B9994DAD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943350"/>
            <a:ext cx="1104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D85A3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85A3A"/>
                </a:solidFill>
                <a:latin typeface="Aptos Mono"/>
                <a:ea typeface="Aptos Mono"/>
                <a:cs typeface="Aptos Mono"/>
              </a:rPr>
              <a:t>A1: d x 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8E0F2B-BE57-41E4-959A-23FE6332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457575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57150" rIns="76200" bIns="57150" anchor="ctr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4257D6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4257D6"/>
                </a:solidFill>
                <a:latin typeface="Aptos Mono"/>
                <a:ea typeface="Aptos Mono"/>
                <a:cs typeface="Aptos Mono"/>
              </a:rPr>
              <a:t>(batch, d)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EB34FA-5F79-46FE-B69B-5E453075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57700"/>
            <a:ext cx="927735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3A7"/>
          </a:solidFill>
          <a:ln xmlns:a="http://schemas.openxmlformats.org/drawingml/2006/main" w="0">
            <a:solidFill>
              <a:srgbClr val="B8B3A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531380-B5F4-4A27-B734-5A1DC89B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667250"/>
            <a:ext cx="2247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1A1F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171A1F"/>
                </a:solidFill>
                <a:latin typeface="Aptos Mono"/>
                <a:ea typeface="Aptos Mono"/>
                <a:cs typeface="Aptos Mono"/>
              </a:rPr>
              <a:t>TwoViewResidualModel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242204-1E9E-4795-AE7E-EC4636CE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972050"/>
            <a:ext cx="6419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7E1D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B8B3F69-5BAF-4D9C-8C3E-110443AD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086350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78C7A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78C7A"/>
                </a:solidFill>
                <a:latin typeface="Aptos Mono"/>
                <a:ea typeface="Aptos Mono"/>
                <a:cs typeface="Aptos Mono"/>
              </a:rPr>
              <a:t>encoder_x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A4D0527-B432-4672-ADB3-A46F19D0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295900"/>
            <a:ext cx="1333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D6A62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6D6A62"/>
                </a:solidFill>
                <a:latin typeface="Aptos Mono"/>
                <a:ea typeface="Aptos Mono"/>
                <a:cs typeface="Aptos Mono"/>
              </a:rPr>
              <a:t>X: (batch, p)</a:t>
            </a:r>
          </a:p>
        </p:txBody>
      </p:sp>
      <p:sp>
        <p:nvSpPr>
          <p:cNvPr id="39" name="encoder_x-input">
            <a:extLst xmlns:a="http://schemas.openxmlformats.org/drawingml/2006/main">
              <a:ext uri="{FF2B5EF4-FFF2-40B4-BE49-F238E27FC236}">
                <a16:creationId xmlns:a16="http://schemas.microsoft.com/office/drawing/2014/main" id="{90E25AE6-4C64-4D55-BBDB-59FF5A5B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143500"/>
            <a:ext cx="87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3A7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1A1F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171A1F"/>
                </a:solidFill>
                <a:latin typeface="Aptos Mono"/>
                <a:ea typeface="Aptos Mono"/>
                <a:cs typeface="Aptos Mono"/>
              </a:rPr>
              <a:t>X</a:t>
            </a:r>
          </a:p>
        </p:txBody>
      </p:sp>
      <p:sp>
        <p:nvSpPr>
          <p:cNvPr id="40" name="encoder_x-encoder">
            <a:extLst xmlns:a="http://schemas.openxmlformats.org/drawingml/2006/main">
              <a:ext uri="{FF2B5EF4-FFF2-40B4-BE49-F238E27FC236}">
                <a16:creationId xmlns:a16="http://schemas.microsoft.com/office/drawing/2014/main" id="{DDFDA8EE-A456-4471-8684-55B0B9B4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10540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9525">
            <a:solidFill>
              <a:srgbClr val="178C7A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Residual encoder X</a:t>
            </a:r>
          </a:p>
        </p:txBody>
      </p:sp>
      <p:sp>
        <p:nvSpPr>
          <p:cNvPr id="41" name="encoder_x-output">
            <a:extLst xmlns:a="http://schemas.openxmlformats.org/drawingml/2006/main">
              <a:ext uri="{FF2B5EF4-FFF2-40B4-BE49-F238E27FC236}">
                <a16:creationId xmlns:a16="http://schemas.microsoft.com/office/drawing/2014/main" id="{2D7E0D6C-81A0-4A3C-B15D-C8F9D8D85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143500"/>
            <a:ext cx="87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EFF"/>
          </a:solidFill>
          <a:ln xmlns:a="http://schemas.openxmlformats.org/drawingml/2006/main" w="9525">
            <a:solidFill>
              <a:srgbClr val="4257D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4257D6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4257D6"/>
                </a:solidFill>
                <a:latin typeface="Aptos Mono"/>
                <a:ea typeface="Aptos Mono"/>
                <a:cs typeface="Aptos Mono"/>
              </a:rPr>
              <a:t>z_x</a:t>
            </a:r>
          </a:p>
        </p:txBody>
      </p:sp>
      <p:cxnSp>
        <p:nvCxnSpPr>
          <p:cNvPr id="42" name=""/>
          <p:cNvCxnSpPr>
            <a:stCxn xmlns:a="http://schemas.openxmlformats.org/drawingml/2006/main" id="39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6096000" y="534352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B8B3A7"/>
            </a:solidFill>
            <a:prstDash val="solid"/>
            <a:headEnd type="none" w="med" len="med"/>
          </a:ln>
        </p:spPr>
      </p:cxnSp>
      <p:cxnSp>
        <p:nvCxnSpPr>
          <p:cNvPr id="43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8210550" y="5343525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4257D6"/>
            </a:solidFill>
            <a:prstDash val="solid"/>
            <a:headEnd type="none" w="med" len="med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7691AAD-FB4F-41D8-923F-4C608B50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772150"/>
            <a:ext cx="6419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7E1D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D5A5F68-24CD-470F-B16E-E68A2689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886450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85A3A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85A3A"/>
                </a:solidFill>
                <a:latin typeface="Aptos Mono"/>
                <a:ea typeface="Aptos Mono"/>
                <a:cs typeface="Aptos Mono"/>
              </a:rPr>
              <a:t>encoder_y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19691A5-877E-414D-A9B0-DFBE660C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6096000"/>
            <a:ext cx="1333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D6A62"/>
                </a:solidFill>
                <a:latin typeface="Aptos Mono"/>
                <a:ea typeface="Aptos Mono"/>
                <a:cs typeface="Aptos Mono"/>
              </a:defRPr>
            </a:pPr>
            <a:r>
              <a:rPr sz="1125" b="0">
                <a:solidFill>
                  <a:srgbClr val="6D6A62"/>
                </a:solidFill>
                <a:latin typeface="Aptos Mono"/>
                <a:ea typeface="Aptos Mono"/>
                <a:cs typeface="Aptos Mono"/>
              </a:rPr>
              <a:t>Y: (batch, q)</a:t>
            </a:r>
          </a:p>
        </p:txBody>
      </p:sp>
      <p:sp>
        <p:nvSpPr>
          <p:cNvPr id="47" name="encoder_y-input">
            <a:extLst xmlns:a="http://schemas.openxmlformats.org/drawingml/2006/main">
              <a:ext uri="{FF2B5EF4-FFF2-40B4-BE49-F238E27FC236}">
                <a16:creationId xmlns:a16="http://schemas.microsoft.com/office/drawing/2014/main" id="{D2D47B37-8BE5-4E06-A18B-85432C2B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943600"/>
            <a:ext cx="87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3A7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1A1F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171A1F"/>
                </a:solidFill>
                <a:latin typeface="Aptos Mono"/>
                <a:ea typeface="Aptos Mono"/>
                <a:cs typeface="Aptos Mono"/>
              </a:rPr>
              <a:t>Y</a:t>
            </a:r>
          </a:p>
        </p:txBody>
      </p:sp>
      <p:sp>
        <p:nvSpPr>
          <p:cNvPr id="48" name="encoder_y-encoder">
            <a:extLst xmlns:a="http://schemas.openxmlformats.org/drawingml/2006/main">
              <a:ext uri="{FF2B5EF4-FFF2-40B4-BE49-F238E27FC236}">
                <a16:creationId xmlns:a16="http://schemas.microsoft.com/office/drawing/2014/main" id="{2655EA1C-1670-4438-8D92-1C285AEA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90550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9E3"/>
          </a:solidFill>
          <a:ln xmlns:a="http://schemas.openxmlformats.org/drawingml/2006/main" w="9525">
            <a:solidFill>
              <a:srgbClr val="D85A3A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1A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1A1F"/>
                </a:solidFill>
                <a:latin typeface="Aptos"/>
                <a:ea typeface="Aptos"/>
                <a:cs typeface="Aptos"/>
              </a:rPr>
              <a:t>Residual encoder Y</a:t>
            </a:r>
          </a:p>
        </p:txBody>
      </p:sp>
      <p:sp>
        <p:nvSpPr>
          <p:cNvPr id="49" name="encoder_y-output">
            <a:extLst xmlns:a="http://schemas.openxmlformats.org/drawingml/2006/main">
              <a:ext uri="{FF2B5EF4-FFF2-40B4-BE49-F238E27FC236}">
                <a16:creationId xmlns:a16="http://schemas.microsoft.com/office/drawing/2014/main" id="{98F24E75-695E-454F-B17B-D5694424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943600"/>
            <a:ext cx="87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EFF"/>
          </a:solidFill>
          <a:ln xmlns:a="http://schemas.openxmlformats.org/drawingml/2006/main" w="9525">
            <a:solidFill>
              <a:srgbClr val="4257D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4257D6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4257D6"/>
                </a:solidFill>
                <a:latin typeface="Aptos Mono"/>
                <a:ea typeface="Aptos Mono"/>
                <a:cs typeface="Aptos Mono"/>
              </a:rPr>
              <a:t>z_y</a:t>
            </a:r>
          </a:p>
        </p:txBody>
      </p:sp>
      <p:cxnSp>
        <p:nvCxnSpPr>
          <p:cNvPr id="50" name=""/>
          <p:cNvCxnSpPr>
            <a:stCxn xmlns:a="http://schemas.openxmlformats.org/drawingml/2006/main" id="4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6096000" y="614362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B8B3A7"/>
            </a:solidFill>
            <a:prstDash val="solid"/>
            <a:headEnd type="none" w="med" len="med"/>
          </a:ln>
        </p:spPr>
      </p:cxnSp>
      <p:cxnSp>
        <p:nvCxnSpPr>
          <p:cNvPr id="51" name=""/>
          <p:cNvCxnSpPr>
            <a:stCxn xmlns:a="http://schemas.openxmlformats.org/drawingml/2006/main" id="48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8210550" y="6143625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8098">
            <a:solidFill>
              <a:srgbClr val="4257D6"/>
            </a:solidFill>
            <a:prstDash val="solid"/>
            <a:headEnd type="none" w="med" len="med"/>
          </a:ln>
        </p:spPr>
      </p:cxnSp>
      <p:sp>
        <p:nvSpPr>
          <p:cNvPr id="52" name="shared-embedding-space">
            <a:extLst xmlns:a="http://schemas.openxmlformats.org/drawingml/2006/main">
              <a:ext uri="{FF2B5EF4-FFF2-40B4-BE49-F238E27FC236}">
                <a16:creationId xmlns:a16="http://schemas.microsoft.com/office/drawing/2014/main" id="{767D08F1-4784-485A-94B0-964A3F4D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305425"/>
            <a:ext cx="13335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7D6"/>
          </a:solidFill>
          <a:ln xmlns:a="http://schemas.openxmlformats.org/drawingml/2006/main" w="9525">
            <a:solidFill>
              <a:srgbClr val="4257D6"/>
            </a:solidFill>
            <a:prstDash val="solid"/>
          </a:ln>
        </p:spPr>
        <p:txBody>
          <a:bodyPr xmlns:a="http://schemas.openxmlformats.org/drawingml/2006/main" lIns="114300" tIns="76200" rIns="11430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shared embedding_dim d</a:t>
            </a:r>
          </a:p>
        </p:txBody>
      </p:sp>
      <p:cxnSp>
        <p:nvCxnSpPr>
          <p:cNvPr id="53" name=""/>
          <p:cNvCxnSpPr>
            <a:stCxn xmlns:a="http://schemas.openxmlformats.org/drawingml/2006/main" id="41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9677400" y="5343525"/>
            <a:ext cx="323850" cy="476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4257D6"/>
            </a:solidFill>
            <a:prstDash val="solid"/>
            <a:headEnd type="none" w="med" len="med"/>
          </a:ln>
        </p:spPr>
      </p:cxnSp>
      <p:cxnSp>
        <p:nvCxnSpPr>
          <p:cNvPr id="54" name=""/>
          <p:cNvCxnSpPr>
            <a:stCxn xmlns:a="http://schemas.openxmlformats.org/drawingml/2006/main" id="49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 flipV="1">
            <a:off x="9677400" y="5819775"/>
            <a:ext cx="323850" cy="3238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4257D6"/>
            </a:solidFill>
            <a:prstDash val="solid"/>
            <a:headEnd type="none" w="med" len="med"/>
          </a:ln>
        </p:spPr>
      </p:cxn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91DED44-0B66-4667-AC71-15C62AA2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572250"/>
            <a:ext cx="72390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D6A6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D6A62"/>
                </a:solidFill>
                <a:latin typeface="Aptos"/>
                <a:ea typeface="Aptos"/>
                <a:cs typeface="Aptos"/>
              </a:rPr>
              <a:t>Source: user-provided PyTorch classes. Output tensors z_x and z_y both have shape (batch, embedding_dim).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B8762B2-7141-4A05-B615-EC56755C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553200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825" b="1">
                <a:solidFill>
                  <a:srgbClr val="6D6A6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D6A62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663297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B8DDF5-F52B-4B77-9164-F15BF3B4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09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1F"/>
          </a:solidFill>
          <a:ln xmlns:a="http://schemas.openxmlformats.org/drawingml/2006/main" w="0">
            <a:solidFill>
              <a:srgbClr val="171A1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EA01D0-28D3-48FA-8A2E-885833F3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381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TRAINING</a:t>
            </a:r>
          </a:p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LOGIC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5AA4C0-4784-4EA2-8221-6C422987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314450"/>
            <a:ext cx="1504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Penalty</a:t>
            </a:r>
          </a:p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Terms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693AC5-BE8A-4BE9-A901-9E9F3011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86050"/>
            <a:ext cx="1162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A2B"/>
          </a:solidFill>
          <a:ln xmlns:a="http://schemas.openxmlformats.org/drawingml/2006/main" w="0">
            <a:solidFill>
              <a:srgbClr val="C59A2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ABD054-0716-4C06-8A6F-59C54606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990850"/>
            <a:ext cx="15049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7D3C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7D3CA"/>
                </a:solidFill>
                <a:latin typeface="Aptos"/>
                <a:ea typeface="Aptos"/>
                <a:cs typeface="Aptos"/>
              </a:rPr>
              <a:t>The first two penalties shrink weights. The output penalty shrinks the realized nonlinear correction on each batch.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6384B6-468D-49A4-8F8B-7BFAF939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914900"/>
            <a:ext cx="15621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0ECE3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0ECE3"/>
                </a:solidFill>
                <a:latin typeface="Aptos Mono"/>
                <a:ea typeface="Aptos Mono"/>
                <a:cs typeface="Aptos Mono"/>
              </a:rPr>
              <a:t>l1_* / l2_* = 0</a:t>
            </a:r>
          </a:p>
          <a:p xmlns:a="http://schemas.openxmlformats.org/drawingml/2006/main">
            <a:pPr algn="l">
              <a:defRPr sz="975" b="0">
                <a:solidFill>
                  <a:srgbClr val="F0ECE3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0ECE3"/>
                </a:solidFill>
                <a:latin typeface="Aptos Mono"/>
                <a:ea typeface="Aptos Mono"/>
                <a:cs typeface="Aptos Mono"/>
              </a:rPr>
              <a:t>turns that stream off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F0ECE3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0ECE3"/>
                </a:solidFill>
                <a:latin typeface="Aptos Mono"/>
                <a:ea typeface="Aptos Mono"/>
                <a:cs typeface="Aptos Mono"/>
              </a:rPr>
              <a:t>strength &lt;= 0</a:t>
            </a:r>
          </a:p>
          <a:p xmlns:a="http://schemas.openxmlformats.org/drawingml/2006/main">
            <a:pPr algn="l">
              <a:defRPr sz="975" b="0">
                <a:solidFill>
                  <a:srgbClr val="F0ECE3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0ECE3"/>
                </a:solidFill>
                <a:latin typeface="Aptos Mono"/>
                <a:ea typeface="Aptos Mono"/>
                <a:cs typeface="Aptos Mono"/>
              </a:rPr>
              <a:t>returns zero</a:t>
            </a:r>
          </a:p>
        </p:txBody>
      </p:sp>
      <p:sp>
        <p:nvSpPr>
          <p:cNvPr id="7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CB94260-5256-4F45-9A87-3B65474A8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1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9A2B"/>
          </a:solidFill>
          <a:ln xmlns:a="http://schemas.openxmlformats.org/drawingml/2006/main" w="0">
            <a:solidFill>
              <a:srgbClr val="C59A2B"/>
            </a:solidFill>
            <a:prstDash val="solid"/>
          </a:ln>
        </p:spPr>
      </p:sp>
      <p:sp>
        <p:nvSpPr>
          <p:cNvPr id="8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FD0C5DC-BBCB-4B13-8DD2-A3F542B9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57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6A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6D6A62"/>
                </a:solidFill>
                <a:latin typeface="Aptos Mono"/>
                <a:ea typeface="Aptos Mono"/>
                <a:cs typeface="Aptos Mono"/>
              </a:rPr>
              <a:t>REGULARIZATION LOGIC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3A6C00-9A05-4F3A-AC68-E32BC771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28650"/>
            <a:ext cx="8477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71A1F"/>
                </a:solidFill>
                <a:latin typeface="Aptos Display"/>
                <a:ea typeface="Aptos Display"/>
                <a:cs typeface="Aptos Display"/>
              </a:rPr>
              <a:t>Weight penalties shrink parameters; the output penalty directly shrinks the residual correction.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361F8E-A5EC-4F24-A3AE-218B10DD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466850"/>
            <a:ext cx="5314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A1F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171A1F"/>
                </a:solidFill>
                <a:latin typeface="Aptos Mono"/>
                <a:ea typeface="Aptos Mono"/>
                <a:cs typeface="Aptos Mono"/>
              </a:rPr>
              <a:t>loss_total = loss_align + R_l1 + R_l2 + R_output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FBF42F-1C96-44C7-A0D3-DE3CDDBF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98120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1A1F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171A1F"/>
                </a:solidFill>
                <a:latin typeface="Aptos Mono"/>
                <a:ea typeface="Aptos Mono"/>
                <a:cs typeface="Aptos Mono"/>
              </a:rPr>
              <a:t>Three streams feed the training 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8A25B2-DFDB-4FF2-A891-A161D3F9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266950"/>
            <a:ext cx="81915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3A7"/>
          </a:solidFill>
          <a:ln xmlns:a="http://schemas.openxmlformats.org/drawingml/2006/main" w="0">
            <a:solidFill>
              <a:srgbClr val="B8B3A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FE1275-0063-4234-8395-9F5306C5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19350"/>
            <a:ext cx="65913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E7E1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547846-989E-44C9-ABE2-997A2ADF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43175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8C7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178C7A"/>
                </a:solidFill>
                <a:latin typeface="Aptos Mono"/>
                <a:ea typeface="Aptos Mono"/>
                <a:cs typeface="Aptos Mono"/>
              </a:rPr>
              <a:t>LINEAR BACKBONE</a:t>
            </a:r>
          </a:p>
        </p:txBody>
      </p:sp>
      <p:sp>
        <p:nvSpPr>
          <p:cNvPr id="15" name="linear-source">
            <a:extLst xmlns:a="http://schemas.openxmlformats.org/drawingml/2006/main">
              <a:ext uri="{FF2B5EF4-FFF2-40B4-BE49-F238E27FC236}">
                <a16:creationId xmlns:a16="http://schemas.microsoft.com/office/drawing/2014/main" id="{E0234816-8AA6-407F-9F58-BDCA7F40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194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11430">
            <a:solidFill>
              <a:srgbClr val="178C7A"/>
            </a:solidFill>
            <a:prstDash val="solid"/>
          </a:ln>
        </p:spPr>
        <p:txBody>
          <a:bodyPr xmlns:a="http://schemas.openxmlformats.org/drawingml/2006/main" lIns="114300" tIns="85725" rIns="114300" bIns="85725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A1F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71A1F"/>
                </a:solidFill>
                <a:latin typeface="Aptos Mono"/>
                <a:ea typeface="Aptos Mono"/>
                <a:cs typeface="Aptos Mono"/>
              </a:rPr>
              <a:t>G_X, G_Y</a:t>
            </a:r>
          </a:p>
        </p:txBody>
      </p:sp>
      <p:sp>
        <p:nvSpPr>
          <p:cNvPr id="16" name="linear-calc">
            <a:extLst xmlns:a="http://schemas.openxmlformats.org/drawingml/2006/main">
              <a:ext uri="{FF2B5EF4-FFF2-40B4-BE49-F238E27FC236}">
                <a16:creationId xmlns:a16="http://schemas.microsoft.com/office/drawing/2014/main" id="{B932BB9B-26B5-4092-B7AE-975FBF65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57475"/>
            <a:ext cx="2343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78C7A"/>
            </a:solidFill>
            <a:prstDash val="solid"/>
          </a:ln>
        </p:spPr>
        <p:txBody>
          <a:bodyPr xmlns:a="http://schemas.openxmlformats.org/drawingml/2006/main" lIns="133350" tIns="95250" rIns="114300" bIns="9525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A1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71A1F"/>
                </a:solidFill>
                <a:latin typeface="Aptos Mono"/>
                <a:ea typeface="Aptos Mono"/>
                <a:cs typeface="Aptos Mono"/>
              </a:rPr>
              <a:t>l1_linear * sum |G|</a:t>
            </a:r>
          </a:p>
          <a:p xmlns:a="http://schemas.openxmlformats.org/drawingml/2006/main">
            <a:pPr algn="l">
              <a:defRPr sz="975" b="1">
                <a:solidFill>
                  <a:srgbClr val="171A1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71A1F"/>
                </a:solidFill>
                <a:latin typeface="Aptos Mono"/>
                <a:ea typeface="Aptos Mono"/>
                <a:cs typeface="Aptos Mono"/>
              </a:rPr>
              <a:t>l2_linear * sum G^2</a:t>
            </a:r>
          </a:p>
        </p:txBody>
      </p:sp>
      <p:sp>
        <p:nvSpPr>
          <p:cNvPr id="17" name="linear-effect">
            <a:extLst xmlns:a="http://schemas.openxmlformats.org/drawingml/2006/main">
              <a:ext uri="{FF2B5EF4-FFF2-40B4-BE49-F238E27FC236}">
                <a16:creationId xmlns:a16="http://schemas.microsoft.com/office/drawing/2014/main" id="{55A1C955-889D-469B-9884-5AB63011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43200"/>
            <a:ext cx="1181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11430">
            <a:solidFill>
              <a:srgbClr val="178C7A"/>
            </a:solidFill>
            <a:prstDash val="solid"/>
          </a:ln>
        </p:spPr>
        <p:txBody>
          <a:bodyPr xmlns:a="http://schemas.openxmlformats.org/drawingml/2006/main" lIns="114300" tIns="85725" rIns="114300" bIns="857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8C7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8C7A"/>
                </a:solidFill>
                <a:latin typeface="Aptos"/>
                <a:ea typeface="Aptos"/>
                <a:cs typeface="Aptos"/>
              </a:rPr>
              <a:t>sparse / small</a:t>
            </a:r>
          </a:p>
          <a:p xmlns:a="http://schemas.openxmlformats.org/drawingml/2006/main">
            <a:pPr algn="ctr">
              <a:defRPr sz="1050" b="1">
                <a:solidFill>
                  <a:srgbClr val="178C7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8C7A"/>
                </a:solidFill>
                <a:latin typeface="Aptos"/>
                <a:ea typeface="Aptos"/>
                <a:cs typeface="Aptos"/>
              </a:rPr>
              <a:t>linear maps</a:t>
            </a:r>
          </a:p>
        </p:txBody>
      </p:sp>
      <p:cxnSp>
        <p:nvCxnSpPr>
          <p:cNvPr id="18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514850" y="301942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8C7A"/>
            </a:solidFill>
            <a:prstDash val="solid"/>
            <a:headEnd type="none" w="med" len="med"/>
          </a:ln>
        </p:spPr>
      </p:cxnSp>
      <p:cxnSp>
        <p:nvCxnSpPr>
          <p:cNvPr id="19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353300" y="30194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8C7A"/>
            </a:solidFill>
            <a:prstDash val="solid"/>
            <a:headEnd type="none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483401-1BB8-492E-AE4E-FC857926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638550"/>
            <a:ext cx="65913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E7E1D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E2744A-4217-4337-A1BE-9985AF96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62375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85A3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D85A3A"/>
                </a:solidFill>
                <a:latin typeface="Aptos Mono"/>
                <a:ea typeface="Aptos Mono"/>
                <a:cs typeface="Aptos Mono"/>
              </a:rPr>
              <a:t>NONLINEAR WEIGHTS</a:t>
            </a:r>
          </a:p>
        </p:txBody>
      </p:sp>
      <p:sp>
        <p:nvSpPr>
          <p:cNvPr id="22" name="nonlinear-source">
            <a:extLst xmlns:a="http://schemas.openxmlformats.org/drawingml/2006/main">
              <a:ext uri="{FF2B5EF4-FFF2-40B4-BE49-F238E27FC236}">
                <a16:creationId xmlns:a16="http://schemas.microsoft.com/office/drawing/2014/main" id="{224188A7-DD95-4303-AD3B-423429048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0386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9E3"/>
          </a:solidFill>
          <a:ln xmlns:a="http://schemas.openxmlformats.org/drawingml/2006/main" w="11430">
            <a:solidFill>
              <a:srgbClr val="D85A3A"/>
            </a:solidFill>
            <a:prstDash val="solid"/>
          </a:ln>
        </p:spPr>
        <p:txBody>
          <a:bodyPr xmlns:a="http://schemas.openxmlformats.org/drawingml/2006/main" lIns="114300" tIns="85725" rIns="114300" bIns="85725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A1F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71A1F"/>
                </a:solidFill>
                <a:latin typeface="Aptos Mono"/>
                <a:ea typeface="Aptos Mono"/>
                <a:cs typeface="Aptos Mono"/>
              </a:rPr>
              <a:t>A1_X, A2_X</a:t>
            </a:r>
          </a:p>
          <a:p xmlns:a="http://schemas.openxmlformats.org/drawingml/2006/main">
            <a:pPr algn="ctr">
              <a:defRPr sz="1125" b="1">
                <a:solidFill>
                  <a:srgbClr val="171A1F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71A1F"/>
                </a:solidFill>
                <a:latin typeface="Aptos Mono"/>
                <a:ea typeface="Aptos Mono"/>
                <a:cs typeface="Aptos Mono"/>
              </a:rPr>
              <a:t>A1_Y, A2_Y</a:t>
            </a:r>
          </a:p>
        </p:txBody>
      </p:sp>
      <p:sp>
        <p:nvSpPr>
          <p:cNvPr id="23" name="nonlinear-calc">
            <a:extLst xmlns:a="http://schemas.openxmlformats.org/drawingml/2006/main">
              <a:ext uri="{FF2B5EF4-FFF2-40B4-BE49-F238E27FC236}">
                <a16:creationId xmlns:a16="http://schemas.microsoft.com/office/drawing/2014/main" id="{F5B4D89B-6E12-47D6-892A-24042964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876675"/>
            <a:ext cx="2343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5A3A"/>
            </a:solidFill>
            <a:prstDash val="solid"/>
          </a:ln>
        </p:spPr>
        <p:txBody>
          <a:bodyPr xmlns:a="http://schemas.openxmlformats.org/drawingml/2006/main" lIns="133350" tIns="95250" rIns="114300" bIns="9525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A1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71A1F"/>
                </a:solidFill>
                <a:latin typeface="Aptos Mono"/>
                <a:ea typeface="Aptos Mono"/>
                <a:cs typeface="Aptos Mono"/>
              </a:rPr>
              <a:t>l1_nonlinear * sum |A|</a:t>
            </a:r>
          </a:p>
          <a:p xmlns:a="http://schemas.openxmlformats.org/drawingml/2006/main">
            <a:pPr algn="l">
              <a:defRPr sz="975" b="1">
                <a:solidFill>
                  <a:srgbClr val="171A1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71A1F"/>
                </a:solidFill>
                <a:latin typeface="Aptos Mono"/>
                <a:ea typeface="Aptos Mono"/>
                <a:cs typeface="Aptos Mono"/>
              </a:rPr>
              <a:t>l2_nonlinear * sum A^2</a:t>
            </a:r>
          </a:p>
        </p:txBody>
      </p:sp>
      <p:sp>
        <p:nvSpPr>
          <p:cNvPr id="24" name="nonlinear-effect">
            <a:extLst xmlns:a="http://schemas.openxmlformats.org/drawingml/2006/main">
              <a:ext uri="{FF2B5EF4-FFF2-40B4-BE49-F238E27FC236}">
                <a16:creationId xmlns:a16="http://schemas.microsoft.com/office/drawing/2014/main" id="{72E525FB-862A-4813-959F-59ADE351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62400"/>
            <a:ext cx="1181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9E3"/>
          </a:solidFill>
          <a:ln xmlns:a="http://schemas.openxmlformats.org/drawingml/2006/main" w="11430">
            <a:solidFill>
              <a:srgbClr val="D85A3A"/>
            </a:solidFill>
            <a:prstDash val="solid"/>
          </a:ln>
        </p:spPr>
        <p:txBody>
          <a:bodyPr xmlns:a="http://schemas.openxmlformats.org/drawingml/2006/main" lIns="114300" tIns="85725" rIns="114300" bIns="857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85A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5A3A"/>
                </a:solidFill>
                <a:latin typeface="Aptos"/>
                <a:ea typeface="Aptos"/>
                <a:cs typeface="Aptos"/>
              </a:rPr>
              <a:t>small residual</a:t>
            </a:r>
          </a:p>
          <a:p xmlns:a="http://schemas.openxmlformats.org/drawingml/2006/main">
            <a:pPr algn="ctr">
              <a:defRPr sz="1050" b="1">
                <a:solidFill>
                  <a:srgbClr val="D85A3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85A3A"/>
                </a:solidFill>
                <a:latin typeface="Aptos"/>
                <a:ea typeface="Aptos"/>
                <a:cs typeface="Aptos"/>
              </a:rPr>
              <a:t>subnet</a:t>
            </a:r>
          </a:p>
        </p:txBody>
      </p:sp>
      <p:cxnSp>
        <p:nvCxnSpPr>
          <p:cNvPr id="25" name="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4514850" y="423862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D85A3A"/>
            </a:solidFill>
            <a:prstDash val="solid"/>
            <a:headEnd type="none" w="med" len="med"/>
          </a:ln>
        </p:spPr>
      </p:cxnSp>
      <p:cxnSp>
        <p:nvCxnSpPr>
          <p:cNvPr id="26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7353300" y="42386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D85A3A"/>
            </a:solidFill>
            <a:prstDash val="solid"/>
            <a:headEnd type="none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93ED6E-9D84-494F-921D-57C33323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857750"/>
            <a:ext cx="65913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E7E1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F85F79-986F-4AFE-B186-171FE2ED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981575"/>
            <a:ext cx="1676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257D6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4257D6"/>
                </a:solidFill>
                <a:latin typeface="Aptos Mono"/>
                <a:ea typeface="Aptos Mono"/>
                <a:cs typeface="Aptos Mono"/>
              </a:rPr>
              <a:t>REALIZED CORRECTION</a:t>
            </a:r>
          </a:p>
        </p:txBody>
      </p:sp>
      <p:sp>
        <p:nvSpPr>
          <p:cNvPr id="29" name="output-source">
            <a:extLst xmlns:a="http://schemas.openxmlformats.org/drawingml/2006/main">
              <a:ext uri="{FF2B5EF4-FFF2-40B4-BE49-F238E27FC236}">
                <a16:creationId xmlns:a16="http://schemas.microsoft.com/office/drawing/2014/main" id="{2DAEE63A-840D-4F63-8CB7-53FAA9F7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578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EFF"/>
          </a:solidFill>
          <a:ln xmlns:a="http://schemas.openxmlformats.org/drawingml/2006/main" w="11430">
            <a:solidFill>
              <a:srgbClr val="4257D6"/>
            </a:solidFill>
            <a:prstDash val="solid"/>
          </a:ln>
        </p:spPr>
        <p:txBody>
          <a:bodyPr xmlns:a="http://schemas.openxmlformats.org/drawingml/2006/main" lIns="114300" tIns="85725" rIns="114300" bIns="85725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A1F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71A1F"/>
                </a:solidFill>
                <a:latin typeface="Aptos Mono"/>
                <a:ea typeface="Aptos Mono"/>
                <a:cs typeface="Aptos Mono"/>
              </a:rPr>
              <a:t>X, Y through</a:t>
            </a:r>
          </a:p>
          <a:p xmlns:a="http://schemas.openxmlformats.org/drawingml/2006/main">
            <a:pPr algn="ctr">
              <a:defRPr sz="1125" b="1">
                <a:solidFill>
                  <a:srgbClr val="171A1F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71A1F"/>
                </a:solidFill>
                <a:latin typeface="Aptos Mono"/>
                <a:ea typeface="Aptos Mono"/>
                <a:cs typeface="Aptos Mono"/>
              </a:rPr>
              <a:t>residual branch</a:t>
            </a:r>
          </a:p>
        </p:txBody>
      </p:sp>
      <p:sp>
        <p:nvSpPr>
          <p:cNvPr id="30" name="output-calc">
            <a:extLst xmlns:a="http://schemas.openxmlformats.org/drawingml/2006/main">
              <a:ext uri="{FF2B5EF4-FFF2-40B4-BE49-F238E27FC236}">
                <a16:creationId xmlns:a16="http://schemas.microsoft.com/office/drawing/2014/main" id="{DAC269EB-76DA-41CB-8795-44E1FF58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095875"/>
            <a:ext cx="2343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4257D6"/>
            </a:solidFill>
            <a:prstDash val="solid"/>
          </a:ln>
        </p:spPr>
        <p:txBody>
          <a:bodyPr xmlns:a="http://schemas.openxmlformats.org/drawingml/2006/main" lIns="133350" tIns="95250" rIns="114300" bIns="9525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A1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71A1F"/>
                </a:solidFill>
                <a:latin typeface="Aptos Mono"/>
                <a:ea typeface="Aptos Mono"/>
                <a:cs typeface="Aptos Mono"/>
              </a:rPr>
              <a:t>c_v = alpha A1_v sigma(A2_v U_v+b_v)</a:t>
            </a:r>
          </a:p>
          <a:p xmlns:a="http://schemas.openxmlformats.org/drawingml/2006/main">
            <a:pPr algn="l">
              <a:defRPr sz="975" b="1">
                <a:solidFill>
                  <a:srgbClr val="171A1F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171A1F"/>
                </a:solidFill>
                <a:latin typeface="Aptos Mono"/>
                <a:ea typeface="Aptos Mono"/>
                <a:cs typeface="Aptos Mono"/>
              </a:rPr>
              <a:t>strength * mean(c_X^2 + c_Y^2)</a:t>
            </a:r>
          </a:p>
        </p:txBody>
      </p:sp>
      <p:sp>
        <p:nvSpPr>
          <p:cNvPr id="31" name="output-effect">
            <a:extLst xmlns:a="http://schemas.openxmlformats.org/drawingml/2006/main">
              <a:ext uri="{FF2B5EF4-FFF2-40B4-BE49-F238E27FC236}">
                <a16:creationId xmlns:a16="http://schemas.microsoft.com/office/drawing/2014/main" id="{73709C5E-5B13-406F-8171-0D71D0B6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81600"/>
            <a:ext cx="1181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EFF"/>
          </a:solidFill>
          <a:ln xmlns:a="http://schemas.openxmlformats.org/drawingml/2006/main" w="11430">
            <a:solidFill>
              <a:srgbClr val="4257D6"/>
            </a:solidFill>
            <a:prstDash val="solid"/>
          </a:ln>
        </p:spPr>
        <p:txBody>
          <a:bodyPr xmlns:a="http://schemas.openxmlformats.org/drawingml/2006/main" lIns="114300" tIns="85725" rIns="114300" bIns="85725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257D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57D6"/>
                </a:solidFill>
                <a:latin typeface="Aptos"/>
                <a:ea typeface="Aptos"/>
                <a:cs typeface="Aptos"/>
              </a:rPr>
              <a:t>small actual</a:t>
            </a:r>
          </a:p>
          <a:p xmlns:a="http://schemas.openxmlformats.org/drawingml/2006/main">
            <a:pPr algn="ctr">
              <a:defRPr sz="1050" b="1">
                <a:solidFill>
                  <a:srgbClr val="4257D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57D6"/>
                </a:solidFill>
                <a:latin typeface="Aptos"/>
                <a:ea typeface="Aptos"/>
                <a:cs typeface="Aptos"/>
              </a:rPr>
              <a:t>nonlinear shift</a:t>
            </a:r>
          </a:p>
        </p:txBody>
      </p:sp>
      <p:cxnSp>
        <p:nvCxnSpPr>
          <p:cNvPr id="32" name="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4514850" y="545782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257D6"/>
            </a:solidFill>
            <a:prstDash val="solid"/>
            <a:headEnd type="none" w="med" len="med"/>
          </a:ln>
        </p:spPr>
      </p:cxnSp>
      <p:cxnSp>
        <p:nvCxnSpPr>
          <p:cNvPr id="33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7353300" y="54578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4257D6"/>
            </a:solidFill>
            <a:prstDash val="solid"/>
            <a:headEnd type="none" w="med" len="med"/>
          </a:ln>
        </p:spPr>
      </p:cxnSp>
      <p:sp>
        <p:nvSpPr>
          <p:cNvPr id="34" name="loss-total">
            <a:extLst xmlns:a="http://schemas.openxmlformats.org/drawingml/2006/main">
              <a:ext uri="{FF2B5EF4-FFF2-40B4-BE49-F238E27FC236}">
                <a16:creationId xmlns:a16="http://schemas.microsoft.com/office/drawing/2014/main" id="{2887BD8F-80B7-433E-884B-95BE4766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95650"/>
            <a:ext cx="14287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7D6"/>
          </a:solidFill>
          <a:ln xmlns:a="http://schemas.openxmlformats.org/drawingml/2006/main" w="11430">
            <a:solidFill>
              <a:srgbClr val="4257D6"/>
            </a:solidFill>
            <a:prstDash val="solid"/>
          </a:ln>
        </p:spPr>
        <p:txBody>
          <a:bodyPr xmlns:a="http://schemas.openxmlformats.org/drawingml/2006/main" lIns="114300" tIns="85725" rIns="114300" bIns="85725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add to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training loss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R_l1 + R_l2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+ R_output</a:t>
            </a:r>
          </a:p>
        </p:txBody>
      </p:sp>
      <p:cxnSp>
        <p:nvCxnSpPr>
          <p:cNvPr id="35" name=""/>
          <p:cNvCxnSpPr>
            <a:stCxn xmlns:a="http://schemas.openxmlformats.org/drawingml/2006/main" id="17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8991600" y="3019425"/>
            <a:ext cx="857250" cy="11144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8098">
            <a:solidFill>
              <a:srgbClr val="178C7A"/>
            </a:solidFill>
            <a:prstDash val="solid"/>
            <a:headEnd type="none" w="med" len="med"/>
          </a:ln>
        </p:spPr>
      </p:cxnSp>
      <p:cxnSp>
        <p:nvCxnSpPr>
          <p:cNvPr id="36" name=""/>
          <p:cNvCxnSpPr>
            <a:stCxn xmlns:a="http://schemas.openxmlformats.org/drawingml/2006/main" id="24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 flipV="1">
            <a:off x="8991600" y="4133850"/>
            <a:ext cx="857250" cy="1047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8098">
            <a:solidFill>
              <a:srgbClr val="D85A3A"/>
            </a:solidFill>
            <a:prstDash val="solid"/>
            <a:headEnd type="none" w="med" len="med"/>
          </a:ln>
        </p:spPr>
      </p:cxnSp>
      <p:cxnSp>
        <p:nvCxnSpPr>
          <p:cNvPr id="37" name=""/>
          <p:cNvCxnSpPr>
            <a:stCxn xmlns:a="http://schemas.openxmlformats.org/drawingml/2006/main" id="31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 flipV="1">
            <a:off x="8991600" y="4133850"/>
            <a:ext cx="857250" cy="13239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8098">
            <a:solidFill>
              <a:srgbClr val="4257D6"/>
            </a:solidFill>
            <a:prstDash val="solid"/>
            <a:headEnd type="none" w="med" len="me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9951178-7FC8-46DD-AEF6-2D4E7754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19350"/>
            <a:ext cx="12383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3A7"/>
          </a:solidFill>
          <a:ln xmlns:a="http://schemas.openxmlformats.org/drawingml/2006/main" w="0">
            <a:solidFill>
              <a:srgbClr val="B8B3A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BCFB7EB-CA8C-4B68-925F-EB9B60E6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47650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6A62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6D6A62"/>
                </a:solidFill>
                <a:latin typeface="Aptos Mono"/>
                <a:ea typeface="Aptos Mono"/>
                <a:cs typeface="Aptos Mono"/>
              </a:rPr>
              <a:t>Key distinction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771A32-3F9A-437D-8AF4-70B1C0287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686050"/>
            <a:ext cx="1485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6A6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D6A62"/>
                </a:solidFill>
                <a:latin typeface="Aptos"/>
                <a:ea typeface="Aptos"/>
                <a:cs typeface="Aptos"/>
              </a:rPr>
              <a:t>Weights act on parameters. R_output acts on c_X and c_Y.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5D215E4-22A8-43B8-87A6-FC8E9041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572250"/>
            <a:ext cx="61912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D6A6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D6A62"/>
                </a:solidFill>
                <a:latin typeface="Aptos"/>
                <a:ea typeface="Aptos"/>
                <a:cs typeface="Aptos"/>
              </a:rPr>
              <a:t>Source: user-provided PyTorch penalty functions. A denotes A1/A2 across both encoders.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9045809-EF33-48DF-B3B2-C173F869B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553200"/>
            <a:ext cx="28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D6A62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6D6A62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275770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2026-06-12T19:04:53.2130000Z</dcterms:created>
  <dcterms:modified xsi:type="dcterms:W3CDTF">2026-06-12T19:04:53.2130000Z</dcterms:modified>
</coreProperties>
</file>