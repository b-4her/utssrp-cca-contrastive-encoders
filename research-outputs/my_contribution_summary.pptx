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1836aa2f82493f" /><Relationship Type="http://schemas.openxmlformats.org/officeDocument/2006/relationships/extended-properties" Target="/docProps/app.xml" Id="R814b814b173d422a" /><Relationship Type="http://schemas.openxmlformats.org/officeDocument/2006/relationships/officeDocument" Target="/ppt/presentation.xml" Id="R1d7a7928119744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6322d8e8d04e1b"/>
  </p:sldMasterIdLst>
  <p:notesMasterIdLst>
    <p:notesMasterId xmlns:r="http://schemas.openxmlformats.org/officeDocument/2006/relationships" r:id="Rf04640d993cf4fe9"/>
  </p:notesMasterIdLst>
  <p:sldIdLst>
    <p:sldId xmlns:r="http://schemas.openxmlformats.org/officeDocument/2006/relationships" id="256" r:id="Rebc4375519514cba"/>
    <p:sldId xmlns:r="http://schemas.openxmlformats.org/officeDocument/2006/relationships" id="257" r:id="R758023c449594452"/>
    <p:sldId xmlns:r="http://schemas.openxmlformats.org/officeDocument/2006/relationships" id="258" r:id="Rb1f5ebc3cb26437a"/>
    <p:sldId xmlns:r="http://schemas.openxmlformats.org/officeDocument/2006/relationships" id="259" r:id="Rf2819727291842d6"/>
    <p:sldId xmlns:r="http://schemas.openxmlformats.org/officeDocument/2006/relationships" id="260" r:id="R32b43a94487e4661"/>
    <p:sldId xmlns:r="http://schemas.openxmlformats.org/officeDocument/2006/relationships" id="261" r:id="R08cdbbd5e4db4171"/>
    <p:sldId xmlns:r="http://schemas.openxmlformats.org/officeDocument/2006/relationships" id="262" r:id="R33e570c4e56445f6"/>
    <p:sldId xmlns:r="http://schemas.openxmlformats.org/officeDocument/2006/relationships" id="263" r:id="R9c551ec637d245fd"/>
    <p:sldId xmlns:r="http://schemas.openxmlformats.org/officeDocument/2006/relationships" id="264" r:id="R6fc3485e3fb2449b"/>
    <p:sldId xmlns:r="http://schemas.openxmlformats.org/officeDocument/2006/relationships" id="265" r:id="R9a37760459aa429b"/>
    <p:sldId xmlns:r="http://schemas.openxmlformats.org/officeDocument/2006/relationships" id="266" r:id="R78cc5bfb09aa4471"/>
    <p:sldId xmlns:r="http://schemas.openxmlformats.org/officeDocument/2006/relationships" id="267" r:id="R6b9c2d182b324860"/>
    <p:sldId xmlns:r="http://schemas.openxmlformats.org/officeDocument/2006/relationships" id="268" r:id="Rc013ac841cfa4eba"/>
    <p:sldId xmlns:r="http://schemas.openxmlformats.org/officeDocument/2006/relationships" id="269" r:id="Ree50eafccdb74aea"/>
    <p:sldId xmlns:r="http://schemas.openxmlformats.org/officeDocument/2006/relationships" id="270" r:id="Rcfee935a94a042ce"/>
    <p:sldId xmlns:r="http://schemas.openxmlformats.org/officeDocument/2006/relationships" id="271" r:id="Radd5cb63660c42a9"/>
    <p:sldId xmlns:r="http://schemas.openxmlformats.org/officeDocument/2006/relationships" id="272" r:id="Ref392b02191e4d33"/>
    <p:sldId xmlns:r="http://schemas.openxmlformats.org/officeDocument/2006/relationships" id="273" r:id="Ra4534888ca964388"/>
    <p:sldId xmlns:r="http://schemas.openxmlformats.org/officeDocument/2006/relationships" id="274" r:id="R7b247ee5a39e4d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2cd189fd8b4584" /><Relationship Type="http://schemas.openxmlformats.org/officeDocument/2006/relationships/slideMaster" Target="/ppt/slideMasters/slideMaster1.xml" Id="R106322d8e8d04e1b" /><Relationship Type="http://schemas.openxmlformats.org/officeDocument/2006/relationships/notesMaster" Target="/ppt/notesMasters/notesMaster1.xml" Id="Rf04640d993cf4fe9" /><Relationship Type="http://schemas.openxmlformats.org/officeDocument/2006/relationships/presProps" Target="/ppt/presProps.xml" Id="Rd5b029aae667465a" /><Relationship Type="http://schemas.openxmlformats.org/officeDocument/2006/relationships/tableStyles" Target="/ppt/tableStyles.xml" Id="Re9382c4754084881" /><Relationship Type="http://schemas.openxmlformats.org/officeDocument/2006/relationships/slide" Target="/ppt/slides/slide1.xml" Id="Rebc4375519514cba" /><Relationship Type="http://schemas.openxmlformats.org/officeDocument/2006/relationships/slide" Target="/ppt/slides/slide2.xml" Id="R758023c449594452" /><Relationship Type="http://schemas.openxmlformats.org/officeDocument/2006/relationships/slide" Target="/ppt/slides/slide3.xml" Id="Rb1f5ebc3cb26437a" /><Relationship Type="http://schemas.openxmlformats.org/officeDocument/2006/relationships/slide" Target="/ppt/slides/slide4.xml" Id="Rf2819727291842d6" /><Relationship Type="http://schemas.openxmlformats.org/officeDocument/2006/relationships/slide" Target="/ppt/slides/slide5.xml" Id="R32b43a94487e4661" /><Relationship Type="http://schemas.openxmlformats.org/officeDocument/2006/relationships/slide" Target="/ppt/slides/slide6.xml" Id="R08cdbbd5e4db4171" /><Relationship Type="http://schemas.openxmlformats.org/officeDocument/2006/relationships/slide" Target="/ppt/slides/slide7.xml" Id="R33e570c4e56445f6" /><Relationship Type="http://schemas.openxmlformats.org/officeDocument/2006/relationships/slide" Target="/ppt/slides/slide8.xml" Id="R9c551ec637d245fd" /><Relationship Type="http://schemas.openxmlformats.org/officeDocument/2006/relationships/slide" Target="/ppt/slides/slide9.xml" Id="R6fc3485e3fb2449b" /><Relationship Type="http://schemas.openxmlformats.org/officeDocument/2006/relationships/slide" Target="/ppt/slides/slide10.xml" Id="R9a37760459aa429b" /><Relationship Type="http://schemas.openxmlformats.org/officeDocument/2006/relationships/slide" Target="/ppt/slides/slide11.xml" Id="R78cc5bfb09aa4471" /><Relationship Type="http://schemas.openxmlformats.org/officeDocument/2006/relationships/slide" Target="/ppt/slides/slide12.xml" Id="R6b9c2d182b324860" /><Relationship Type="http://schemas.openxmlformats.org/officeDocument/2006/relationships/slide" Target="/ppt/slides/slide13.xml" Id="Rc013ac841cfa4eba" /><Relationship Type="http://schemas.openxmlformats.org/officeDocument/2006/relationships/slide" Target="/ppt/slides/slide14.xml" Id="Ree50eafccdb74aea" /><Relationship Type="http://schemas.openxmlformats.org/officeDocument/2006/relationships/slide" Target="/ppt/slides/slide15.xml" Id="Rcfee935a94a042ce" /><Relationship Type="http://schemas.openxmlformats.org/officeDocument/2006/relationships/slide" Target="/ppt/slides/slide16.xml" Id="Radd5cb63660c42a9" /><Relationship Type="http://schemas.openxmlformats.org/officeDocument/2006/relationships/slide" Target="/ppt/slides/slide17.xml" Id="Ref392b02191e4d33" /><Relationship Type="http://schemas.openxmlformats.org/officeDocument/2006/relationships/slide" Target="/ppt/slides/slide18.xml" Id="Ra4534888ca964388" /><Relationship Type="http://schemas.openxmlformats.org/officeDocument/2006/relationships/slide" Target="/ppt/slides/slide19.xml" Id="R7b247ee5a39e4d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14e6224a1443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a55dc0fed54741" /><Relationship Type="http://schemas.openxmlformats.org/officeDocument/2006/relationships/notesMaster" Target="/ppt/notesMasters/notesMaster1.xml" Id="Re31e29edcef34b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de8f4610d14f07" /><Relationship Type="http://schemas.openxmlformats.org/officeDocument/2006/relationships/notesMaster" Target="/ppt/notesMasters/notesMaster1.xml" Id="R5665f9728b2746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33fa69ab7c4d33" /><Relationship Type="http://schemas.openxmlformats.org/officeDocument/2006/relationships/notesMaster" Target="/ppt/notesMasters/notesMaster1.xml" Id="R1f21e5b9adcc4c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a64df6fdeb405f" /><Relationship Type="http://schemas.openxmlformats.org/officeDocument/2006/relationships/notesMaster" Target="/ppt/notesMasters/notesMaster1.xml" Id="Ref5c30fcb6e740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7f76c479b745a6" /><Relationship Type="http://schemas.openxmlformats.org/officeDocument/2006/relationships/notesMaster" Target="/ppt/notesMasters/notesMaster1.xml" Id="Ra691103abc334e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2ceeb6c9194789" /><Relationship Type="http://schemas.openxmlformats.org/officeDocument/2006/relationships/notesMaster" Target="/ppt/notesMasters/notesMaster1.xml" Id="R823891bd82074e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179823d83242fd" /><Relationship Type="http://schemas.openxmlformats.org/officeDocument/2006/relationships/notesMaster" Target="/ppt/notesMasters/notesMaster1.xml" Id="R1813406a939641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fdb6b352644a73" /><Relationship Type="http://schemas.openxmlformats.org/officeDocument/2006/relationships/notesMaster" Target="/ppt/notesMasters/notesMaster1.xml" Id="Re42792c3cbdb4f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cf5747d3c84c27" /><Relationship Type="http://schemas.openxmlformats.org/officeDocument/2006/relationships/notesMaster" Target="/ppt/notesMasters/notesMaster1.xml" Id="R06e17506d01544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e714719db2406c" /><Relationship Type="http://schemas.openxmlformats.org/officeDocument/2006/relationships/notesMaster" Target="/ppt/notesMasters/notesMaster1.xml" Id="Rd612ca56f03249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7a5df300974718" /><Relationship Type="http://schemas.openxmlformats.org/officeDocument/2006/relationships/notesMaster" Target="/ppt/notesMasters/notesMaster1.xml" Id="R1cea0d7ee74b4d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5bf4cb8fc44ff3" /><Relationship Type="http://schemas.openxmlformats.org/officeDocument/2006/relationships/notesMaster" Target="/ppt/notesMasters/notesMaster1.xml" Id="R736df7481ddb44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01feb5a77424914" /><Relationship Type="http://schemas.openxmlformats.org/officeDocument/2006/relationships/notesMaster" Target="/ppt/notesMasters/notesMaster1.xml" Id="R518793bf02574b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b82e3401f947c2" /><Relationship Type="http://schemas.openxmlformats.org/officeDocument/2006/relationships/notesMaster" Target="/ppt/notesMasters/notesMaster1.xml" Id="R3d48b6c37d0c49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b88cc98d9d4cb8" /><Relationship Type="http://schemas.openxmlformats.org/officeDocument/2006/relationships/notesMaster" Target="/ppt/notesMasters/notesMaster1.xml" Id="Rda675b0a85e749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eb5ea20c614254" /><Relationship Type="http://schemas.openxmlformats.org/officeDocument/2006/relationships/notesMaster" Target="/ppt/notesMasters/notesMaster1.xml" Id="R611e8910456949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346044877c4a8a" /><Relationship Type="http://schemas.openxmlformats.org/officeDocument/2006/relationships/notesMaster" Target="/ppt/notesMasters/notesMaster1.xml" Id="R621e2da00fa249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d19f2cfb36c48e3" /><Relationship Type="http://schemas.openxmlformats.org/officeDocument/2006/relationships/notesMaster" Target="/ppt/notesMasters/notesMaster1.xml" Id="Rd90884287f624af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9b17de8b7124944" /><Relationship Type="http://schemas.openxmlformats.org/officeDocument/2006/relationships/notesMaster" Target="/ppt/notesMasters/notesMaster1.xml" Id="R8ebb62522a6e4f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f4645d71b43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85df0968c1486a" /><Relationship Type="http://schemas.openxmlformats.org/officeDocument/2006/relationships/slideLayout" Target="/ppt/slideLayouts/slideLayout1.xml" Id="R5278cc59dbf74c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78cc59dbf74c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d23144e5743fc" /><Relationship Type="http://schemas.openxmlformats.org/officeDocument/2006/relationships/notesSlide" Target="/ppt/notesSlides/notesSlide1.xml" Id="R2e6891345b6848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2e4b73c094bb1" /><Relationship Type="http://schemas.openxmlformats.org/officeDocument/2006/relationships/notesSlide" Target="/ppt/notesSlides/notesSlide2.xml" Id="R1c5194138d4e44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5e8f69bc04e7e" /><Relationship Type="http://schemas.openxmlformats.org/officeDocument/2006/relationships/notesSlide" Target="/ppt/notesSlides/notesSlide3.xml" Id="R8df3623c9fcb46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03b2266474364" /><Relationship Type="http://schemas.openxmlformats.org/officeDocument/2006/relationships/notesSlide" Target="/ppt/notesSlides/notesSlide4.xml" Id="Re38dcea52d6d43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88e9da377465d" /><Relationship Type="http://schemas.openxmlformats.org/officeDocument/2006/relationships/image" Target="/ppt/media/image.png" Id="R3a4e5907e65542a8" /><Relationship Type="http://schemas.openxmlformats.org/officeDocument/2006/relationships/notesSlide" Target="/ppt/notesSlides/notesSlide5.xml" Id="R4060b5ee0d9944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ce0961ad44074" /><Relationship Type="http://schemas.openxmlformats.org/officeDocument/2006/relationships/image" Target="/ppt/media/image2.png" Id="R075c7b1433254ed0" /><Relationship Type="http://schemas.openxmlformats.org/officeDocument/2006/relationships/notesSlide" Target="/ppt/notesSlides/notesSlide6.xml" Id="Rb7b30f71b0284a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6b41ce246477a" /><Relationship Type="http://schemas.openxmlformats.org/officeDocument/2006/relationships/image" Target="/ppt/media/image3.png" Id="Rd5359006e84344d2" /><Relationship Type="http://schemas.openxmlformats.org/officeDocument/2006/relationships/notesSlide" Target="/ppt/notesSlides/notesSlide7.xml" Id="R29a235d5ff104a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06298f2ec4a14" /><Relationship Type="http://schemas.openxmlformats.org/officeDocument/2006/relationships/image" Target="/ppt/media/image4.png" Id="R0c454b6bf2094b5c" /><Relationship Type="http://schemas.openxmlformats.org/officeDocument/2006/relationships/notesSlide" Target="/ppt/notesSlides/notesSlide8.xml" Id="R9d6775c64f5846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96fce1b9848ae" /><Relationship Type="http://schemas.openxmlformats.org/officeDocument/2006/relationships/image" Target="/ppt/media/image5.png" Id="R8a9a1bc72f34453e" /><Relationship Type="http://schemas.openxmlformats.org/officeDocument/2006/relationships/notesSlide" Target="/ppt/notesSlides/notesSlide9.xml" Id="R52189631eb7e48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c7e033bd14c49" /><Relationship Type="http://schemas.openxmlformats.org/officeDocument/2006/relationships/image" Target="/ppt/media/image6.png" Id="Rc956db09d5254e3a" /><Relationship Type="http://schemas.openxmlformats.org/officeDocument/2006/relationships/notesSlide" Target="/ppt/notesSlides/notesSlide10.xml" Id="Rb063c388c4d146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8de3e5b3a491a" /><Relationship Type="http://schemas.openxmlformats.org/officeDocument/2006/relationships/image" Target="/ppt/media/image7.png" Id="R3cb2bc2319f74f38" /><Relationship Type="http://schemas.openxmlformats.org/officeDocument/2006/relationships/notesSlide" Target="/ppt/notesSlides/notesSlide11.xml" Id="R4f46e29a46fe43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327b3db5a4960" /><Relationship Type="http://schemas.openxmlformats.org/officeDocument/2006/relationships/image" Target="/ppt/media/image8.png" Id="R92ec4bef2a3545fe" /><Relationship Type="http://schemas.openxmlformats.org/officeDocument/2006/relationships/notesSlide" Target="/ppt/notesSlides/notesSlide12.xml" Id="Ra85165cabc2b4e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692570505460c" /><Relationship Type="http://schemas.openxmlformats.org/officeDocument/2006/relationships/image" Target="/ppt/media/image9.png" Id="R8ce8a66def234112" /><Relationship Type="http://schemas.openxmlformats.org/officeDocument/2006/relationships/notesSlide" Target="/ppt/notesSlides/notesSlide13.xml" Id="R6e12341dc3a643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6788b98bf4561" /><Relationship Type="http://schemas.openxmlformats.org/officeDocument/2006/relationships/image" Target="/ppt/media/image10.png" Id="R68a908e8d12546c2" /><Relationship Type="http://schemas.openxmlformats.org/officeDocument/2006/relationships/notesSlide" Target="/ppt/notesSlides/notesSlide14.xml" Id="R60003cf9c04f49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f686aab70443a" /><Relationship Type="http://schemas.openxmlformats.org/officeDocument/2006/relationships/image" Target="/ppt/media/image11.png" Id="Re262eb73843f42b5" /><Relationship Type="http://schemas.openxmlformats.org/officeDocument/2006/relationships/notesSlide" Target="/ppt/notesSlides/notesSlide15.xml" Id="R9f76e2dcfe8041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1393e2b8b4986" /><Relationship Type="http://schemas.openxmlformats.org/officeDocument/2006/relationships/notesSlide" Target="/ppt/notesSlides/notesSlide16.xml" Id="R0afc8e1009384d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7aab60e8a44dc" /><Relationship Type="http://schemas.openxmlformats.org/officeDocument/2006/relationships/image" Target="/ppt/media/image12.png" Id="Rff27775eadcb445d" /><Relationship Type="http://schemas.openxmlformats.org/officeDocument/2006/relationships/image" Target="/ppt/media/image13.png" Id="R00d0b77ef0ce4d3d" /><Relationship Type="http://schemas.openxmlformats.org/officeDocument/2006/relationships/image" Target="/ppt/media/image14.png" Id="Re2883b2510e94e9e" /><Relationship Type="http://schemas.openxmlformats.org/officeDocument/2006/relationships/notesSlide" Target="/ppt/notesSlides/notesSlide17.xml" Id="Rd7b1d5a7cabd4a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86bcd4b30427b" /><Relationship Type="http://schemas.openxmlformats.org/officeDocument/2006/relationships/notesSlide" Target="/ppt/notesSlides/notesSlide18.xml" Id="R625ce7fb9e9a4ef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97625bb3d4600" /><Relationship Type="http://schemas.openxmlformats.org/officeDocument/2006/relationships/notesSlide" Target="/ppt/notesSlides/notesSlide19.xml" Id="Rc808c1e5f9284f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A96888-1036-4A82-B565-4DA80665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1A57E-8355-4DE4-8479-91FCB67A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95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Linear vs Nonlinear Contrastive Encoders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632F8-AF50-43CF-A585-2A076414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Main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DEFD6-7B15-4530-AE0B-A26D28D5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When Y is a known deterministic function of X plus noise, does the nonlinear encoder move toward the ideal PVE reference or mostly memorize training pairs?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7EFD2-A42C-48F8-890F-02481815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We keep the noise-only sanity check, then focus on deterministic linear and cubic SNR sweeps, log-scale overfitting diagnostics, and the final probe experiment.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726A9-F51C-4B94-931E-0966F2F3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Contrastive encoder experiment | 1/12</a:t>
            </a:r>
          </a:p>
        </p:txBody>
      </p:sp>
      <p:sp>
        <p:nvSpPr>
          <p:cNvPr id="8" name="cover-byline-date">
            <a:extLst xmlns:a="http://schemas.openxmlformats.org/drawingml/2006/main">
              <a:ext uri="{FF2B5EF4-FFF2-40B4-BE49-F238E27FC236}">
                <a16:creationId xmlns:a16="http://schemas.microsoft.com/office/drawing/2014/main" id="{01F5FB11-2593-4BE9-9B77-6E81556B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Baher Alabbar | June 18</a:t>
            </a:r>
          </a:p>
        </p:txBody>
      </p:sp>
    </p:spTree>
    <p:extLst>
      <p:ext uri="{BB962C8B-B14F-4D97-AF65-F5344CB8AC3E}">
        <p14:creationId xmlns:p14="http://schemas.microsoft.com/office/powerpoint/2010/main" val="9804867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CAB702-AAAD-4937-96E0-3B16CB2E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BA639-8B97-4344-9F9B-DB084336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Three checks, one training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AAA77-9DE4-4614-851B-9409DE9D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updated deck separates pure memorization from deterministic signal recovery and probe-readout interpretability.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2283B-3881-4AC3-8831-16E8FE1A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Contrastive encoder experiment | 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996C1-6AB5-422A-ABB9-ADC198DA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3143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BD74C-A1D6-498F-A031-4C61B75B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E"/>
          </a:solidFill>
          <a:ln xmlns:a="http://schemas.openxmlformats.org/drawingml/2006/main" w="0">
            <a:solidFill>
              <a:srgbClr val="2F6F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1019C-79ED-44F2-AD58-819CF958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Noise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FA2A3-D200-47A7-84F9-3E4FB5B1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2743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X and Y are independent Gaussian noise. Any train-only alignment is memorization.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214D8-26BE-4FE2-B4E3-6A77A1CE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3143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7CFDF-947A-482F-B533-843068A7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048B6-F2B8-4F3A-8FD0-0F76ADA3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812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Deterministic linear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442C4-063A-4ACE-B07E-FD6C7605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33675"/>
            <a:ext cx="2743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Y = f(X) + epsilon with f(X)=X. Target SNR controls the clean signal versus noise.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362BB-2CA1-4C4B-B4BC-78229961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3143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D4070-B048-4AAF-AB2A-E0610DE5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2F8F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600B8-91B6-4A83-B55B-6A35B6EA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Deterministic cubic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9F208-7C91-4136-83A9-6A581FD1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33675"/>
            <a:ext cx="2743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Y = f(X) + epsilon with f(X)=X^3. This stresses nonlinear recovery.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BAAAF-EA19-4F67-B83B-D5504282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48196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B65EF-C76D-499E-9E0D-33671A69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2A2A"/>
          </a:solidFill>
          <a:ln xmlns:a="http://schemas.openxmlformats.org/drawingml/2006/main" w="0">
            <a:solidFill>
              <a:srgbClr val="D12A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97D55-9747-4B85-BC08-BDC3CFAF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SNR/PVE reference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45F77-93F7-4F81-B5C6-DD493C3C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86325"/>
            <a:ext cx="441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red reference line is the ideal clean/noisy cosine separation implied by SNR; the log x-axis uses the same SNR values.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FA1A0-4B8F-4A32-A618-4C4FC140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62450"/>
            <a:ext cx="48196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A0CC70-2699-4B86-BF4E-9228FAAA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624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C2C"/>
          </a:solidFill>
          <a:ln xmlns:a="http://schemas.openxmlformats.org/drawingml/2006/main" w="0">
            <a:solidFill>
              <a:srgbClr val="D46C2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AC7E9-3B77-450D-B77A-B448FF4C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3390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Probe experiment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D379C9-684B-4AF5-BCFF-F468B7F8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86325"/>
            <a:ext cx="441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Freeze the trained encoder, fit ridge readouts from branch embeddings to the clean target, and sweep one raw coordinate.</a:t>
            </a:r>
          </a:p>
        </p:txBody>
      </p:sp>
    </p:spTree>
    <p:extLst>
      <p:ext uri="{BB962C8B-B14F-4D97-AF65-F5344CB8AC3E}">
        <p14:creationId xmlns:p14="http://schemas.microsoft.com/office/powerpoint/2010/main" val="4122812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BD9A2B-8C41-4876-9D85-2BA8E281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MODEL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5A4F-E33A-4415-A3A2-CCF6BF5F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Matched encoders with a controlled residual branch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0DA7C-3AF9-4D09-9554-3AE6B5CF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architecture comparison stays fixed while the deterministic relationship and SNR vary.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F6B12-4A04-48A4-84F0-09BFDEB7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Contrastive encoder experiment | 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26D8A-54C3-450E-91F9-CFABBC61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Pure linear encoder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C7245-EB57-48D0-BAAD-52415E7E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C7DA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input u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128 dims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69582-79F8-4135-97AF-071069E2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57500"/>
            <a:ext cx="12573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linear map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801A5-88DC-4860-8401-FDE8CF8F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13525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BatchNorm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 affine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673A2-3C7B-4B3D-BDFD-FFC9E2D4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1866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embedding z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4 dims</a:t>
            </a:r>
          </a:p>
        </p:txBody>
      </p:sp>
      <p:cxnSp>
        <p:nvCxnSpPr>
          <p:cNvPr id="24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19300" y="31813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4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05250" y="31813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250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3314700" y="3505200"/>
            <a:ext cx="189547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81320-9F33-4BA2-9923-63D53F65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673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g(u) = Normalize(G u)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28149-16A4-4E6C-8462-CE41AC00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145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Residual nonlinear encoder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AF695-11FC-4742-95A8-EA419168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200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C7DA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input u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128 dims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D7BA7-DD1C-48E5-B2DE-3E8F776C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71900"/>
            <a:ext cx="1200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linear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2BF93-720E-418F-A263-F785C5B2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95550"/>
            <a:ext cx="1352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EAD8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A2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128 -&gt; 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ECD99-FE85-4B26-936C-6FE037FB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95550"/>
            <a:ext cx="1028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EAD8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GELU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08B13-FA0A-4F68-A316-27B82523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71900"/>
            <a:ext cx="1200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EAD8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A1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16 -&gt;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20EC7A-A92A-4868-94D9-84440FCB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76800"/>
            <a:ext cx="2628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sum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linear + alpha * nonlinear</a:t>
            </a:r>
          </a:p>
        </p:txBody>
      </p:sp>
      <p:cxnSp>
        <p:nvCxnSpPr>
          <p:cNvPr id="25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391400" y="3181350"/>
            <a:ext cx="495300" cy="895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6F9F"/>
            </a:solidFill>
            <a:prstDash val="solid"/>
            <a:tailEnd type="arrow" w="sm" len="sm"/>
          </a:ln>
        </p:spPr>
      </p:cxnSp>
      <p:cxnSp>
        <p:nvCxnSpPr>
          <p:cNvPr id="260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7391400" y="2800350"/>
            <a:ext cx="495300" cy="381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46C2C"/>
            </a:solidFill>
            <a:prstDash val="solid"/>
            <a:tailEnd type="arrow" w="sm" len="sm"/>
          </a:ln>
        </p:spPr>
      </p:cxnSp>
      <p:cxnSp>
        <p:nvCxnSpPr>
          <p:cNvPr id="261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239250" y="28003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6C2C"/>
            </a:solidFill>
            <a:prstDash val="solid"/>
            <a:tailEnd type="arrow" w="sm" len="sm"/>
          </a:ln>
        </p:spPr>
      </p:cxnSp>
      <p:cxnSp>
        <p:nvCxnSpPr>
          <p:cNvPr id="262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0287000" y="3105150"/>
            <a:ext cx="85725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46C2C"/>
            </a:solidFill>
            <a:prstDash val="solid"/>
            <a:tailEnd type="arrow" w="sm" len="sm"/>
          </a:ln>
        </p:spPr>
      </p:cxnSp>
      <p:cxnSp>
        <p:nvCxnSpPr>
          <p:cNvPr id="263" name=""/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486775" y="4381500"/>
            <a:ext cx="866775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F6F9F"/>
            </a:solidFill>
            <a:prstDash val="solid"/>
            <a:tailEnd type="arrow" w="sm" len="sm"/>
          </a:ln>
        </p:spPr>
      </p:cxnSp>
      <p:cxnSp>
        <p:nvCxnSpPr>
          <p:cNvPr id="264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9353550" y="4381500"/>
            <a:ext cx="1019175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46C2C"/>
            </a:solidFill>
            <a:prstDash val="soli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5906A9-FDF5-49B2-AFE4-AB8C2285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912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g(u) = Normalize(G u) + alpha * Normalize(A1 GELU(A2 u + b))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299C10-4BDA-4E41-BCB1-78BDC43F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4EE"/>
          </a:solidFill>
          <a:ln xmlns:a="http://schemas.openxmlformats.org/drawingml/2006/main" w="0">
            <a:solidFill>
              <a:srgbClr val="E8F4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8F6A"/>
                </a:solidFill>
                <a:latin typeface="Aptos"/>
                <a:ea typeface="Aptos"/>
                <a:cs typeface="Aptos"/>
              </a:rPr>
              <a:t>shared X/Y family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21B56B-C31E-42ED-B1E6-C58DBDA6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10250"/>
            <a:ext cx="1524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0F5"/>
          </a:solidFill>
          <a:ln xmlns:a="http://schemas.openxmlformats.org/drawingml/2006/main" w="0">
            <a:solidFill>
              <a:srgbClr val="E7F0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6F9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9F"/>
                </a:solidFill>
                <a:latin typeface="Aptos"/>
                <a:ea typeface="Aptos"/>
                <a:cs typeface="Aptos"/>
              </a:rPr>
              <a:t>embedding dim =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0E8106-50D2-4DCB-A3B1-194FDA19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8102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0">
            <a:solidFill>
              <a:srgbClr val="F5F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D46C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46C2C"/>
                </a:solidFill>
                <a:latin typeface="Aptos"/>
                <a:ea typeface="Aptos"/>
                <a:cs typeface="Aptos"/>
              </a:rPr>
              <a:t>hidden dim = 16</a:t>
            </a:r>
          </a:p>
        </p:txBody>
      </p:sp>
    </p:spTree>
    <p:extLst>
      <p:ext uri="{BB962C8B-B14F-4D97-AF65-F5344CB8AC3E}">
        <p14:creationId xmlns:p14="http://schemas.microsoft.com/office/powerpoint/2010/main" val="4765771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24A0B3-1BD4-48A3-9EF8-024641A3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9FB00-9FAA-4F2B-BE5C-1F95061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Same contrastive loss; evaluation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1A091-4A12-40DD-8C70-C7890821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All models train with the same paired contrastive objective, then deterministic diagnostics compare against the SNR-implied reference.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D0C2E-CB98-4DEF-B0AD-45B51B63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Contrastive encoder experiment | 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F0729-46E6-40A8-BCA9-D37A2833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8196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D60FD-57AE-44E2-AF9A-0AA712B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E"/>
          </a:solidFill>
          <a:ln xmlns:a="http://schemas.openxmlformats.org/drawingml/2006/main" w="0">
            <a:solidFill>
              <a:srgbClr val="2F6F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96DDA-C468-4600-9E63-A268FAA5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Training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E0A72-CEB1-43EE-BA56-85126060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441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For each batch, diagonal X/Y scores are rewarded and all cross-pair scores are penalized with the paper loss.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00C5A-6B8A-4753-9B86-1B328C93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maximize  L = sum_i s_ii - sum_i log sum_j exp(s_ij) - sum_j log sum_i exp(s_ij)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4A6B1-1536-4BC1-BB33-1AFFA6AC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training minimizes -L / n plus active regularization terms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DD6CB-8B4A-46B7-9DB2-C0DB68D3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793E2-3C54-442F-B7C1-4AFEED52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9284B-537C-4F13-A90B-3D603DA7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Test separation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5BA0A-FD61-4B45-8509-6B5E3FA3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00675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Held-out true-pair separation across SNR values.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A2FFF-A367-4A29-83B5-29B1E3E0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7680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AF9F5-4F0C-4170-8024-5857B26D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768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2A2A"/>
          </a:solidFill>
          <a:ln xmlns:a="http://schemas.openxmlformats.org/drawingml/2006/main" w="0">
            <a:solidFill>
              <a:srgbClr val="D12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078C2-F6BD-467F-A7DA-5004E7ED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482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Ideal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FBF88-627D-4A5D-A68F-B9756BF2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400675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Red PVE/cosine line implied by clean target plus noise.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DD728-8986-4618-A503-5CB1A7C6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76800"/>
            <a:ext cx="3143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2C1F3-B262-4B05-A31A-F05DD643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7680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2F8F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90CF3-F51B-433C-851B-542B9CD5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482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Overfitting gap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CB81C-F351-44D5-B1AE-C391E7EE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00675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max(train separation - ideal separation, 0).</a:t>
            </a:r>
          </a:p>
        </p:txBody>
      </p:sp>
    </p:spTree>
    <p:extLst>
      <p:ext uri="{BB962C8B-B14F-4D97-AF65-F5344CB8AC3E}">
        <p14:creationId xmlns:p14="http://schemas.microsoft.com/office/powerpoint/2010/main" val="12559146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216284-F8E4-44A5-8A4C-91E809B3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BD052-CCB7-4DB6-83BD-E14F617F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Noise-only: train vs held-out separation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CA62F-4D42-47A5-9957-23F74835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High train separation with low held-out separation indicates memorization rather than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CEED3-D0DC-4AD3-821D-D341680A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Contrastive encoder experiment | 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C5E57-1E00-44B5-995A-DAAE8A4C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72199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e5907e65542a8"/>
          <a:stretch xmlns:a="http://schemas.openxmlformats.org/drawingml/2006/main"/>
        </p:blipFill>
        <p:spPr>
          <a:xfrm xmlns:a="http://schemas.openxmlformats.org/drawingml/2006/main">
            <a:off x="628650" y="2318585"/>
            <a:ext cx="7067550" cy="353528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BD4D3-B737-498E-BAEF-108CF907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429000" cy="3619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80E7C-1505-4CFD-8300-A4927B75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666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E"/>
          </a:solidFill>
          <a:ln xmlns:a="http://schemas.openxmlformats.org/drawingml/2006/main" w="0">
            <a:solidFill>
              <a:srgbClr val="2F6F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4B060-6448-41DA-AE4F-CA0042E0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A271C-053E-4A52-A64F-A151DC5E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905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 noise-only data, X and Y have no real relationship. Training alignment can still grow because the model can memorize paired training samples.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CEC96-BB1E-494F-A559-B30FDB64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90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123C9-59F6-475F-BC0D-C4D38750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91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Key takeaway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D8997-C672-4532-B7B1-0B48BAB5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Held-out performance remains the sanity check: high training alignment alone is not evidence of real learning.</a:t>
            </a:r>
          </a:p>
        </p:txBody>
      </p:sp>
    </p:spTree>
    <p:extLst>
      <p:ext uri="{BB962C8B-B14F-4D97-AF65-F5344CB8AC3E}">
        <p14:creationId xmlns:p14="http://schemas.microsoft.com/office/powerpoint/2010/main" val="247804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2B5443-A010-4883-BAAB-1AFED808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RESULT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D94CF-B7A2-4815-A863-1D38AACD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Deterministic linear: train, held-out, and shuffled (low SNR, SNR=0.25)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7FF8E-DEB3-423A-894E-DA227130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Low-SNR snapshot with the ideal cosine reference 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4DF9D-BBC0-4FD4-8F9B-2DD336BD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9F9C7-C9FD-48E5-A810-47A161B2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666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c7b1433254ed0"/>
          <a:stretch xmlns:a="http://schemas.openxmlformats.org/drawingml/2006/main"/>
        </p:blipFill>
        <p:spPr>
          <a:xfrm xmlns:a="http://schemas.openxmlformats.org/drawingml/2006/main">
            <a:off x="2251519" y="2114550"/>
            <a:ext cx="7688963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27F46-4C43-49CC-851E-34764884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Inserted SNR detail 1/6 | linear, low SNR, SNR=0.25</a:t>
            </a:r>
          </a:p>
        </p:txBody>
      </p:sp>
    </p:spTree>
    <p:extLst>
      <p:ext uri="{BB962C8B-B14F-4D97-AF65-F5344CB8AC3E}">
        <p14:creationId xmlns:p14="http://schemas.microsoft.com/office/powerpoint/2010/main" val="6031373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EF85DD-F6EE-4739-8B67-F3D13BAE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RESULT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ACA2D-509F-40DF-A1F2-A93826A1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Deterministic linear: train, held-out, and shuffled (mid SNR, SNR=2)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F10D5-A018-4C36-98A9-4AE1858A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Mid-SNR snapshot with the ideal cosine reference 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EAB04-FF87-44C5-84CA-5F523369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70E4B-6152-440B-9D01-A7C3E9D0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666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59006e84344d2"/>
          <a:stretch xmlns:a="http://schemas.openxmlformats.org/drawingml/2006/main"/>
        </p:blipFill>
        <p:spPr>
          <a:xfrm xmlns:a="http://schemas.openxmlformats.org/drawingml/2006/main">
            <a:off x="2308474" y="2114550"/>
            <a:ext cx="7575052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A91CF-6A66-423F-94C2-2B6EBA19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Inserted SNR detail 2/6 | linear, mid SNR, SNR=2</a:t>
            </a:r>
          </a:p>
        </p:txBody>
      </p:sp>
    </p:spTree>
    <p:extLst>
      <p:ext uri="{BB962C8B-B14F-4D97-AF65-F5344CB8AC3E}">
        <p14:creationId xmlns:p14="http://schemas.microsoft.com/office/powerpoint/2010/main" val="20510328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A40738-6FD0-4C05-91FA-8D84EA1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RESULT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9B13D-3434-4C3B-ADD5-BC0E82E4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Deterministic linear: train, held-out, and shuffled (very high SNR, SNR=20)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BA471-21DC-457F-ACA7-D32AE0F9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Very-high-SNR snapshot with the ideal cosine reference 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31753-AF9E-44CC-9CEA-A714D7D7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B316B-BF31-4BA3-890A-61591DD9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666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54b6bf2094b5c"/>
          <a:stretch xmlns:a="http://schemas.openxmlformats.org/drawingml/2006/main"/>
        </p:blipFill>
        <p:spPr>
          <a:xfrm xmlns:a="http://schemas.openxmlformats.org/drawingml/2006/main">
            <a:off x="2173996" y="2114550"/>
            <a:ext cx="7844008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03B86-C666-4561-BEEA-853BB384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Inserted SNR detail 3/6 | linear, very high SNR, SNR=20</a:t>
            </a:r>
          </a:p>
        </p:txBody>
      </p:sp>
    </p:spTree>
    <p:extLst>
      <p:ext uri="{BB962C8B-B14F-4D97-AF65-F5344CB8AC3E}">
        <p14:creationId xmlns:p14="http://schemas.microsoft.com/office/powerpoint/2010/main" val="566755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2EC3CA-48B3-464A-9582-16BB707A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RESULT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36E73-13DF-4D0C-939C-3EBD543E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Deterministic cubic: train, held-out, and shuffled (low SNR, SNR=0.25)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090CF-ACE3-405F-98BE-795AEF16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Low-SNR snapshot with the ideal cosine reference 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7F639-8E58-4D3D-A98A-88C1E498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ACC16-5703-4898-A0CD-BD6C98B0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666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2F8F6A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a1bc72f34453e"/>
          <a:stretch xmlns:a="http://schemas.openxmlformats.org/drawingml/2006/main"/>
        </p:blipFill>
        <p:spPr>
          <a:xfrm xmlns:a="http://schemas.openxmlformats.org/drawingml/2006/main">
            <a:off x="2262593" y="2114550"/>
            <a:ext cx="7666814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E0C65-6091-4A27-9366-FD1449C1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Inserted SNR detail 4/6 | cubic, low SNR, SNR=0.25</a:t>
            </a:r>
          </a:p>
        </p:txBody>
      </p:sp>
    </p:spTree>
    <p:extLst>
      <p:ext uri="{BB962C8B-B14F-4D97-AF65-F5344CB8AC3E}">
        <p14:creationId xmlns:p14="http://schemas.microsoft.com/office/powerpoint/2010/main" val="20618242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D6C792-1F40-4963-8D15-902CB780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RESULT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E47DD-E12C-4479-AECB-5002BC97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Deterministic cubic: train, held-out, and shuffled (mid SNR, SNR=2)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04809-5D10-415B-BFEC-3F054074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Mid-SNR snapshot with the ideal cosine reference 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15FDF-680C-4177-A2B3-1E90E2C0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A94D0-FE7B-4290-9F13-AB711707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666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2F8F6A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6db09d5254e3a"/>
          <a:stretch xmlns:a="http://schemas.openxmlformats.org/drawingml/2006/main"/>
        </p:blipFill>
        <p:spPr>
          <a:xfrm xmlns:a="http://schemas.openxmlformats.org/drawingml/2006/main">
            <a:off x="2317966" y="2114550"/>
            <a:ext cx="7556067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FBBFF-2B1D-4B3C-861A-D5BC9CA7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Inserted SNR detail 5/6 | cubic, mid SNR, SNR=2</a:t>
            </a:r>
          </a:p>
        </p:txBody>
      </p:sp>
    </p:spTree>
    <p:extLst>
      <p:ext uri="{BB962C8B-B14F-4D97-AF65-F5344CB8AC3E}">
        <p14:creationId xmlns:p14="http://schemas.microsoft.com/office/powerpoint/2010/main" val="833538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6A560E-56EC-4D9C-8B99-C9C568B3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RESULT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D2C1F-0118-46CE-A1E6-F0A7AC8F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01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Deterministic cubic: train, held-out, and shuffled (very high SNR, SNR=20)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5B2A2-A69F-463E-AD90-7FCE7D4A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Very-high-SNR snapshot with the ideal cosine reference 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E3BDB-2FAA-4776-A005-B7BD3C9E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12014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CE24E-EC70-4C35-8B8E-BBD0D895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666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2F8F6A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2bc2319f74f38"/>
          <a:stretch xmlns:a="http://schemas.openxmlformats.org/drawingml/2006/main"/>
        </p:blipFill>
        <p:spPr>
          <a:xfrm xmlns:a="http://schemas.openxmlformats.org/drawingml/2006/main">
            <a:off x="2183489" y="2114550"/>
            <a:ext cx="7825023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03A9F-D5D2-46A7-A239-211DA399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Inserted SNR detail 6/6 | cubic, very high SNR, SNR=20</a:t>
            </a:r>
          </a:p>
        </p:txBody>
      </p:sp>
    </p:spTree>
    <p:extLst>
      <p:ext uri="{BB962C8B-B14F-4D97-AF65-F5344CB8AC3E}">
        <p14:creationId xmlns:p14="http://schemas.microsoft.com/office/powerpoint/2010/main" val="16661566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9E9C10-3E9A-4B48-A7B8-8CE02B65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2BF656-587B-42CF-8A13-A04B581E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Deterministic linear: test separation vs SNR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E26A1-03D6-4234-8718-8103F40F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many-point log-SNR sweep includes the red ideal PVE/cosine reference 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8748D-A9BA-4F4A-A275-F0D29FF7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Contrastive encoder experiment | 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89962-7D0C-48B7-A6F0-1E4D23F7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72199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c4bef2a3545fe"/>
          <a:stretch xmlns:a="http://schemas.openxmlformats.org/drawingml/2006/main"/>
        </p:blipFill>
        <p:spPr>
          <a:xfrm xmlns:a="http://schemas.openxmlformats.org/drawingml/2006/main">
            <a:off x="830676" y="2038350"/>
            <a:ext cx="6663497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D557F-356C-4120-AB21-C622003C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429000" cy="3619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42AE4-050D-48DA-867F-FB3FE3F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666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E"/>
          </a:solidFill>
          <a:ln xmlns:a="http://schemas.openxmlformats.org/drawingml/2006/main" w="0">
            <a:solidFill>
              <a:srgbClr val="2F6F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DCE5E-BEB1-49D9-AE1D-A3709DA1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to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479DD-F662-427D-B872-5D2D7301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905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Test separation improves as SNR rises, but all learned encoders remain well below the red ideal reference across the sweep.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BD990-25A1-4016-8B15-B24D83D1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90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E001B-411C-4584-97D4-1F6206A2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91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Key takeaway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DCA9E-D5A2-405A-852E-F41317C3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linear deterministic task is not solved just by increasing SNR; model-side recovery remains limited.</a:t>
            </a:r>
          </a:p>
        </p:txBody>
      </p:sp>
    </p:spTree>
    <p:extLst>
      <p:ext uri="{BB962C8B-B14F-4D97-AF65-F5344CB8AC3E}">
        <p14:creationId xmlns:p14="http://schemas.microsoft.com/office/powerpoint/2010/main" val="20284990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90874E-D620-426C-AD71-F82C90AD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4CA75-4EF5-41D9-AB2D-E61B7455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Deterministic cubic: test separation vs SNR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1F2A0-96D4-458A-9F64-88CAF704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cubic relationship is harder; the same red ideal reference provides a clean upper benchmark.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A0CC7-1478-4DDE-8E8E-56EB8DEA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Contrastive encoder experiment | 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59D22-2D91-4DF7-A4E1-9E2DBEAC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72199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8a66def234112"/>
          <a:stretch xmlns:a="http://schemas.openxmlformats.org/drawingml/2006/main"/>
        </p:blipFill>
        <p:spPr>
          <a:xfrm xmlns:a="http://schemas.openxmlformats.org/drawingml/2006/main">
            <a:off x="830676" y="2038350"/>
            <a:ext cx="6663497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70E8D-11FA-4318-9CE3-3183E146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429000" cy="3619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0E015-0306-4FAE-ADC0-7492F100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666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E"/>
          </a:solidFill>
          <a:ln xmlns:a="http://schemas.openxmlformats.org/drawingml/2006/main" w="0">
            <a:solidFill>
              <a:srgbClr val="2F6F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ED480-9111-4F54-A9DB-41671650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to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27A25-DBD0-4867-BD1C-34EAAE13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905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cubic test curves rise with SNR, but the gap to the ideal reference is larger than in the linear case.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A7155-C482-4337-A0E5-7E1F5BFA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90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9479A-C4E0-4617-9E9A-15C71A2A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91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Key takeaway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7B074-BF73-4A51-9903-03BD7E7B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Controlled nonlinear corrections help somewhat, but they do not close the deterministic recovery gap.</a:t>
            </a:r>
          </a:p>
        </p:txBody>
      </p:sp>
    </p:spTree>
    <p:extLst>
      <p:ext uri="{BB962C8B-B14F-4D97-AF65-F5344CB8AC3E}">
        <p14:creationId xmlns:p14="http://schemas.microsoft.com/office/powerpoint/2010/main" val="11394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5525AA-09EE-44BA-92E1-85B0CB83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2CF9D-CAC8-4C7C-9891-FF40BAD7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Linear overfitting: train score above the ideal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65177-EB66-4F10-8746-D856D29D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log-axis excess train-over-ideal plot quantifies train-side memorization beyond the PVE reference.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FD2DD-B5E7-42E5-B4AC-4F8F7B32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Contrastive encoder experiment | 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8EEF2-4E96-4825-AF82-EAFCAC0B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72199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908e8d12546c2"/>
          <a:stretch xmlns:a="http://schemas.openxmlformats.org/drawingml/2006/main"/>
        </p:blipFill>
        <p:spPr>
          <a:xfrm xmlns:a="http://schemas.openxmlformats.org/drawingml/2006/main">
            <a:off x="749885" y="2038350"/>
            <a:ext cx="6825079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EEBE2-8364-4A09-B85F-CAA9E076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429000" cy="3619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6A723-FE40-4FEF-9B2C-BCB24F0A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666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E"/>
          </a:solidFill>
          <a:ln xmlns:a="http://schemas.openxmlformats.org/drawingml/2006/main" w="0">
            <a:solidFill>
              <a:srgbClr val="2F6F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B7841-86A5-454D-A978-5BAAD22A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Overfitting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DAF7D-B048-43F5-A236-509DC99E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905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plot shows max(train separation - ideal separation, 0). Low SNR leaves room for models to fit training pairs beyond the clean/noisy reference.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7EAF7-FEB9-493D-A524-C9686CA3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90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0DD65-4AC1-4579-BCF0-83080073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91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Key takeaway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BA429-5967-45CF-B66F-D687BCA4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alpha=1 nonlinear model shows the largest excess, making it the clearest overfitting warning.</a:t>
            </a:r>
          </a:p>
        </p:txBody>
      </p:sp>
    </p:spTree>
    <p:extLst>
      <p:ext uri="{BB962C8B-B14F-4D97-AF65-F5344CB8AC3E}">
        <p14:creationId xmlns:p14="http://schemas.microsoft.com/office/powerpoint/2010/main" val="9444965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547E79-697F-4D4A-A899-00CF03BB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3F1CA-C8F5-4BD1-936E-C1D678B8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Cubic overfitting: train score above the ideal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F6750-DF87-4828-85E1-ECC9D906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same log-axis diagnostic shows how quickly excess train alignment disappears as SNR improves.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14F8B-694A-40C3-9084-A7FAEC01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Contrastive encoder experiment | 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92D9E-2A8A-4B1F-9F74-64A4FFC8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7219950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2eb73843f42b5"/>
          <a:stretch xmlns:a="http://schemas.openxmlformats.org/drawingml/2006/main"/>
        </p:blipFill>
        <p:spPr>
          <a:xfrm xmlns:a="http://schemas.openxmlformats.org/drawingml/2006/main">
            <a:off x="760423" y="2038350"/>
            <a:ext cx="6804003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2D6E3-3ADA-48AD-B67F-DF04ACB1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429000" cy="3619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4CA91-4565-47BE-97C9-F74936A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666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E"/>
          </a:solidFill>
          <a:ln xmlns:a="http://schemas.openxmlformats.org/drawingml/2006/main" w="0">
            <a:solidFill>
              <a:srgbClr val="2F6F7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B7693-AEF2-4453-859D-9D857A7E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Overfitting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FD517-8A76-4EAC-9A9C-A4B79BA0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29051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Cubic excess train-over-ideal is largest in the low-SNR regime and shrinks toward zero for most models as signal becomes easier.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DD36F-899A-481C-B5F8-7B77A967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90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E8234-89AD-4F71-87A0-19090843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91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Key takeaway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6E844-39D5-4250-8DA9-6A533159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Again, the alpha=1 nonlinear model stays suspicious longer than controlled or regularized settings.</a:t>
            </a:r>
          </a:p>
        </p:txBody>
      </p:sp>
    </p:spTree>
    <p:extLst>
      <p:ext uri="{BB962C8B-B14F-4D97-AF65-F5344CB8AC3E}">
        <p14:creationId xmlns:p14="http://schemas.microsoft.com/office/powerpoint/2010/main" val="2403129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C5EFA6-92E7-4633-9DAD-A5AFEFAC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PROBE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2F212-3FE6-42D7-A2D9-EF32F964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Pipeline for reading out learned nonlinear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3690F-8996-4A42-9AA7-123436F1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probe is fitted after training, so it measures what the frozen encoder made linearly readable.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7642B-2E0F-4A24-BEEB-69E142CA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Contrastive encoder experiment | 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E2FD2-FB26-47EF-A382-289C8A60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C7DA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Generate scalar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Y=f(X)+noise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1786F-2CC4-45FA-BF6A-A13593A2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7650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EAD8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Train residual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alpha =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1A2C3-DD02-4282-8740-54156F14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7650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2F7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Freeze X-side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encoder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5FFDC-D769-41A7-A4A4-D17B893D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Split branches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linear / nonlinear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ADCB0-8722-4062-92E8-ABD6B466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7650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9E8E8"/>
          </a:solidFill>
          <a:ln xmlns:a="http://schemas.openxmlformats.org/drawingml/2006/main" w="9525">
            <a:solidFill>
              <a:srgbClr val="EFC8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Fit ridge probes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to clean f(X)</a:t>
            </a:r>
          </a:p>
        </p:txBody>
      </p:sp>
      <p:cxnSp>
        <p:nvCxnSpPr>
          <p:cNvPr id="17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362200" y="2867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17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457700" y="2867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17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53200" y="2867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cxnSp>
        <p:nvCxnSpPr>
          <p:cNvPr id="17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820150" y="2867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604A4-109D-45B2-952B-E49CEDBB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7195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Sweep raw coordinate x_j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DB421-4265-4B71-9E53-628DC6F9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2724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Plot branch readout curves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against true target</a:t>
            </a:r>
          </a:p>
        </p:txBody>
      </p:sp>
      <p:cxnSp>
        <p:nvCxnSpPr>
          <p:cNvPr id="181" name=""/>
          <p:cNvCxnSpPr>
            <a:stCxn xmlns:a="http://schemas.openxmlformats.org/drawingml/2006/main" id="9" idx="2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9429750" y="3257550"/>
            <a:ext cx="762000" cy="1238250"/>
          </a:xfrm>
          <a:prstGeom xmlns:a="http://schemas.openxmlformats.org/drawingml/2006/main" prst="bentConnector5">
            <a:avLst>
              <a:gd name="adj1" fmla="val 0"/>
              <a:gd name="adj2" fmla="val 18462"/>
              <a:gd name="adj3" fmla="val 70000"/>
            </a:avLst>
          </a:prstGeom>
          <a:ln xmlns:a="http://schemas.openxmlformats.org/drawingml/2006/main" w="19050">
            <a:solidFill>
              <a:srgbClr val="D12A2A"/>
            </a:solidFill>
            <a:prstDash val="solid"/>
            <a:tailEnd type="arrow" w="sm" len="sm"/>
          </a:ln>
        </p:spPr>
      </p:cxnSp>
      <p:cxnSp>
        <p:nvCxnSpPr>
          <p:cNvPr id="182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524500" y="449580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1AEED-0A8B-4BCB-AF00-9DD95C5B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14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324B7-07B0-4251-8795-1E8A1532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E"/>
          </a:solidFill>
          <a:ln xmlns:a="http://schemas.openxmlformats.org/drawingml/2006/main" w="0">
            <a:solidFill>
              <a:srgbClr val="2F6F7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CB05D-F1EA-4C04-B02E-76ED0AE3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Targets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B9D93-A38C-4AA2-A1CA-74105169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43575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square: f(x)=x^2; cubic: x^3; exponential: exp(x).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67D0D-DB98-4111-8972-E50E693F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19700"/>
            <a:ext cx="314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65D91D-5847-45BF-B67E-3F01FA5C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197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C2C"/>
          </a:solidFill>
          <a:ln xmlns:a="http://schemas.openxmlformats.org/drawingml/2006/main" w="0">
            <a:solidFill>
              <a:srgbClr val="D46C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F66572-0DAD-48F0-83CB-3BCDCABB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391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Readouts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660C47-E6C7-4C31-B22D-CAC75F10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743575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linear branch only, nonlinear branch only, and combined embedding.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A38E8C-6DC5-48A2-B246-EC235C97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19700"/>
            <a:ext cx="3143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4653A3-5D8E-4C7F-9556-AC373222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197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2F8F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2FB6C1-C5D3-44A4-983B-43EB14A4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911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B7DFAA-2452-42FB-A2AF-713D6AA8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743575"/>
            <a:ext cx="274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Curvature readable from the nonlinear branch suggests the branch is carrying nonlinear structure.</a:t>
            </a:r>
          </a:p>
        </p:txBody>
      </p:sp>
    </p:spTree>
    <p:extLst>
      <p:ext uri="{BB962C8B-B14F-4D97-AF65-F5344CB8AC3E}">
        <p14:creationId xmlns:p14="http://schemas.microsoft.com/office/powerpoint/2010/main" val="1784505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E5CA74-B73C-43C2-8E5A-AF3CB30F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PROBE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D48FF-E561-4A8D-A621-E28E0971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Probe results across square, cubic, and exponential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BF57A-45DB-49A9-B093-AD510631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Branch-probe outputs show what is linearly readable from learned embeddings across nonlinear target functions.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663E9-CB0B-4564-961F-7EFFCCE8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Contrastive encoder experiment | 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9F36F-6D29-47C2-88A7-A1EF991F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35242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7FAB3-130B-4291-87CA-C343D085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66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9F"/>
          </a:solidFill>
          <a:ln xmlns:a="http://schemas.openxmlformats.org/drawingml/2006/main" w="0">
            <a:solidFill>
              <a:srgbClr val="2F6F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168B9-3D85-4BA6-A0F4-06D1A362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Square branch readout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7775eadcb445d"/>
          <a:stretch xmlns:a="http://schemas.openxmlformats.org/drawingml/2006/main"/>
        </p:blipFill>
        <p:spPr>
          <a:xfrm xmlns:a="http://schemas.openxmlformats.org/drawingml/2006/main" flipH="0" flipV="0">
            <a:off x="772031" y="2686050"/>
            <a:ext cx="3008888" cy="1676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D9C5D-876A-4559-98E1-A8B92979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For f(x)=x^2, the combined embedding closely follows the target curve; the nonlinear branch carries the curvature.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69208-83D8-449C-BEC3-60E4D265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0"/>
            <a:ext cx="35242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8109C-DD1F-4359-8C4D-1EC25ADC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0"/>
            <a:ext cx="666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2F8F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8DAC3-16A1-4B34-907B-655928F7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43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Cubic branch readout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0b77ef0ce4d3d"/>
          <a:stretch xmlns:a="http://schemas.openxmlformats.org/drawingml/2006/main"/>
        </p:blipFill>
        <p:spPr>
          <a:xfrm xmlns:a="http://schemas.openxmlformats.org/drawingml/2006/main">
            <a:off x="4620131" y="2686050"/>
            <a:ext cx="3008888" cy="1676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07EC9-4E61-459A-BE4D-FDC5C4E3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148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combined embedding follows the cubic shape better than either branch alone over part of the sweep.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C5FA9-B5E6-4E66-82D0-2ADF6FD3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5242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7A5E6-9264-4933-818E-A5F6A33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666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C2C"/>
          </a:solidFill>
          <a:ln xmlns:a="http://schemas.openxmlformats.org/drawingml/2006/main" w="0">
            <a:solidFill>
              <a:srgbClr val="D46C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2988E-325C-4792-A349-75E34AD3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Exponential branch readout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83b2510e94e9e"/>
          <a:stretch xmlns:a="http://schemas.openxmlformats.org/drawingml/2006/main"/>
        </p:blipFill>
        <p:spPr>
          <a:xfrm xmlns:a="http://schemas.openxmlformats.org/drawingml/2006/main">
            <a:off x="8468231" y="2686050"/>
            <a:ext cx="3008888" cy="16764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1D674-A07C-493D-A94F-0AC2A5C7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combined and nonlinear-branch readouts pick up rising curvature, but still under-shoot the exponential tail.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ADAF3-E1D1-4478-BE89-E4C68249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Note: the scalar branch-probe notebook saves square/quadratic, cubic, and exponential branch-story plots, so all three panels use the same alpha=1 scalar readout format.</a:t>
            </a:r>
          </a:p>
        </p:txBody>
      </p:sp>
    </p:spTree>
    <p:extLst>
      <p:ext uri="{BB962C8B-B14F-4D97-AF65-F5344CB8AC3E}">
        <p14:creationId xmlns:p14="http://schemas.microsoft.com/office/powerpoint/2010/main" val="2824356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0768FD-AE9A-47B6-A38C-DF5F5CC7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PROBE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E522A-43E0-421E-8C65-26941069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Probe finding: nonlinear branch recovers nonlinear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7F1EA-8700-484C-94F8-B92FECD0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branch probes suggest that curvature is made linearly readable by the learned nonlinear component.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64DE8-0B93-4312-83F7-59912772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C902F-C33F-44CC-8549-4FAF3466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F0F5"/>
          </a:solidFill>
          <a:ln xmlns:a="http://schemas.openxmlformats.org/drawingml/2006/main" w="9525">
            <a:solidFill>
              <a:srgbClr val="C7DA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D7CFA-C660-465D-B32D-4DB3F9E5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Linear branch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107F3-8CD8-468E-A228-5E8D4A31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0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mostly carries linear trend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46070-326D-4CDE-96CD-98608E95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717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5C6E2-9C84-468C-B44C-B4A7E7C3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AE349-D7A7-4793-9288-7C0F40DC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33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Nonlinear branch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33E60-3465-47D1-BB81-A0B38EF7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carries curvature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E37A8-FB6A-4CAB-B472-58C486DB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717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CB077-F895-400E-A465-8062156B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EAD8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CCAD5-C0C8-49FB-91D4-E574F21B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Combined embedding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99E16-9072-4B30-AD67-1002DA46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closest readout shape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6E406-CB12-4231-8E34-2BD26B06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A7FCF-08FD-4831-844B-4FA040E4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E"/>
          </a:solidFill>
          <a:ln xmlns:a="http://schemas.openxmlformats.org/drawingml/2006/main" w="0">
            <a:solidFill>
              <a:srgbClr val="2F6F7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E58C2-1FF6-4EB2-ADC3-08626FEE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What the plots show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D2D9E-D850-4828-8FD9-D0F48CB8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For square and cubic targets, the nonlinear branch and combined embedding follow the curved target better than the linear branch.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5F8E3-FE26-4A00-91B0-A925FB23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12313-D220-4723-9ED6-20F9F4A8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A"/>
          </a:solidFill>
          <a:ln xmlns:a="http://schemas.openxmlformats.org/drawingml/2006/main" w="0">
            <a:solidFill>
              <a:srgbClr val="2F8F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DD87F-E8FA-42DE-A78C-B95911D8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862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AF2F8-AAAE-4DCC-A812-3A5A4246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67200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residual branch is not just extra capacity: a ridge probe can read out nonlinear coordinate structure from the frozen embedding.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5BFC2-00A9-4EF9-9CC3-2DABF89E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3238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8121F-A339-42FC-A745-18133132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C2C"/>
          </a:solidFill>
          <a:ln xmlns:a="http://schemas.openxmlformats.org/drawingml/2006/main" w="0">
            <a:solidFill>
              <a:srgbClr val="D46C2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D557F-48DA-4D0D-9C9E-2549CC9F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862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Caution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C625E-7544-4080-B846-B09DC7D3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Recovery is partial. The exponential target still under-shoots in the tail, so the probe supports nonlinear recovery, not perfect recovery.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E8439F-36E6-4BAA-AECD-FF3E2252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CBE3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3F1BAF-F70D-4F23-B1AE-1FB7CCC1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Takeaway: the probe results give positive evidence that the nonlinear encoder is recovering the nonlinear part of the signal, while the SNR/PVE slides quantify how far that recovery remains from the ideal reference.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908929-7507-45F3-93DC-997DBE5A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Contrastive encoder experiment | probe findings</a:t>
            </a:r>
          </a:p>
        </p:txBody>
      </p:sp>
    </p:spTree>
    <p:extLst>
      <p:ext uri="{BB962C8B-B14F-4D97-AF65-F5344CB8AC3E}">
        <p14:creationId xmlns:p14="http://schemas.microsoft.com/office/powerpoint/2010/main" val="5149605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BD247D-879B-459B-96A5-6C0F8DC3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6F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7E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CAADE-239C-488A-A903-331297DB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Findings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54C2E-45FD-4F56-A6C0-6A6407A6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updated story focuses on deterministic recovery versus noise fitting.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E03FB-F1D3-41D0-8C7F-375DC256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A97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7A6"/>
                </a:solidFill>
                <a:latin typeface="Aptos"/>
                <a:ea typeface="Aptos"/>
                <a:cs typeface="Aptos"/>
              </a:rPr>
              <a:t>Contrastive encoder experiment | 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94254-4A35-4399-836E-8BC717D6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762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30A5A-16C7-4B92-B493-4846968E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E"/>
          </a:solidFill>
          <a:ln xmlns:a="http://schemas.openxmlformats.org/drawingml/2006/main" w="0">
            <a:solidFill>
              <a:srgbClr val="2F6F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08856-0027-47F9-9A15-C6CB9679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Findings to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2489A-F71E-4E51-B655-D44292E5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4362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Noise-only: high train alignment with held-out near zero remains the memorization sanity check.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Linear/cubic: test separation rises with SNR, but stays below the red ideal reference.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Overfitting: excess train-over-ideal shrinks as SNR increases, except alpha=1 remains suspicious longer.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35889-33D2-457B-A9D7-ED8718D8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762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E348F-8919-47EB-886F-CEC5CA02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2A2A"/>
          </a:solidFill>
          <a:ln xmlns:a="http://schemas.openxmlformats.org/drawingml/2006/main" w="0">
            <a:solidFill>
              <a:srgbClr val="D12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C3DEE-F966-4FDB-A34B-C5C3E4CB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Main caution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D8A79-B49F-4B46-BE87-7E75B7D3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19375"/>
            <a:ext cx="4362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PVE/reference line is an upper benchmark, not a model result. The gap between the red line and learned test separation is the key evidence that current encoders under-recover the deterministic signal.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EB532-FE61-442A-867A-02F77F36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53CA5-B99A-4D88-ABAA-BD8E40A4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952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Compare the square, cubic, and exponential probe-readout shapes directly against the SNR/PVE recovery curves.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the overfitting plots to choose alpha/regularization settings before adding more target functions.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Repeat strongest deterministic settings across more random seeds.</a:t>
            </a:r>
          </a:p>
        </p:txBody>
      </p:sp>
    </p:spTree>
    <p:extLst>
      <p:ext uri="{BB962C8B-B14F-4D97-AF65-F5344CB8AC3E}">
        <p14:creationId xmlns:p14="http://schemas.microsoft.com/office/powerpoint/2010/main" val="352769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2026-06-18T13:58:41.4870000Z</dcterms:created>
  <dcterms:modified xsi:type="dcterms:W3CDTF">2026-06-18T13:58:41.4870000Z</dcterms:modified>
</coreProperties>
</file>